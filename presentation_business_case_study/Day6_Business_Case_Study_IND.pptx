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Revenue Bulanan (USD)</c:v>
                </c:pt>
              </c:strCache>
            </c:strRef>
          </c:tx>
          <c:spPr>
            <a:solidFill>
              <a:srgbClr val="FF6B4A"/>
            </a:solidFill>
            <a:ln w="31750" cap="flat">
              <a:solidFill>
                <a:srgbClr val="FF6B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FF6B4A"/>
              </a:solidFill>
              <a:ln w="9525" cap="flat">
                <a:solidFill>
                  <a:srgbClr val="FF6B4A"/>
                </a:solidFill>
                <a:prstDash val="solid"/>
                <a:round/>
              </a:ln>
              <a:effectLst/>
            </c:spPr>
          </c:marker>
          <c:cat>
            <c:multiLvlStrRef>
              <c:f>Sheet1!$A$2:$A$25</c:f>
              <c:multiLvlStrCache>
                <c:ptCount val="24"/>
                <c:lvl>
                  <c:pt idx="0">
                    <c:v>Jan23</c:v>
                  </c:pt>
                  <c:pt idx="1">
                    <c:v>Feb23</c:v>
                  </c:pt>
                  <c:pt idx="2">
                    <c:v>Mar23</c:v>
                  </c:pt>
                  <c:pt idx="3">
                    <c:v>Apr23</c:v>
                  </c:pt>
                  <c:pt idx="4">
                    <c:v>May23</c:v>
                  </c:pt>
                  <c:pt idx="5">
                    <c:v>Jun23</c:v>
                  </c:pt>
                  <c:pt idx="6">
                    <c:v>Jul23</c:v>
                  </c:pt>
                  <c:pt idx="7">
                    <c:v>Aug23</c:v>
                  </c:pt>
                  <c:pt idx="8">
                    <c:v>Sep23</c:v>
                  </c:pt>
                  <c:pt idx="9">
                    <c:v>Oct23</c:v>
                  </c:pt>
                  <c:pt idx="10">
                    <c:v>Nov23</c:v>
                  </c:pt>
                  <c:pt idx="11">
                    <c:v>Dec23</c:v>
                  </c:pt>
                  <c:pt idx="12">
                    <c:v>Jan24</c:v>
                  </c:pt>
                  <c:pt idx="13">
                    <c:v>Feb24</c:v>
                  </c:pt>
                  <c:pt idx="14">
                    <c:v>Mar24</c:v>
                  </c:pt>
                  <c:pt idx="15">
                    <c:v>Apr24</c:v>
                  </c:pt>
                  <c:pt idx="16">
                    <c:v>May24</c:v>
                  </c:pt>
                  <c:pt idx="17">
                    <c:v>Jun24</c:v>
                  </c:pt>
                  <c:pt idx="18">
                    <c:v>Jul24</c:v>
                  </c:pt>
                  <c:pt idx="19">
                    <c:v>Aug24</c:v>
                  </c:pt>
                  <c:pt idx="20">
                    <c:v>Sep24</c:v>
                  </c:pt>
                  <c:pt idx="21">
                    <c:v>Oct24</c:v>
                  </c:pt>
                  <c:pt idx="22">
                    <c:v>Nov24</c:v>
                  </c:pt>
                  <c:pt idx="23">
                    <c:v>Dec24</c:v>
                  </c:pt>
                </c:lvl>
              </c:multiLvlStrCache>
            </c:multiLvlStrRef>
          </c:cat>
          <c:val>
            <c:numRef>
              <c:f>Sheet1!$B$2:$B$25</c:f>
              <c:numCache>
                <c:formatCode>General</c:formatCode>
                <c:ptCount val="24"/>
                <c:pt idx="0">
                  <c:v>10999.53</c:v>
                </c:pt>
                <c:pt idx="1">
                  <c:v>11485.76</c:v>
                </c:pt>
                <c:pt idx="2">
                  <c:v>13600.22</c:v>
                </c:pt>
                <c:pt idx="3">
                  <c:v>10068.15</c:v>
                </c:pt>
                <c:pt idx="4">
                  <c:v>12690.06</c:v>
                </c:pt>
                <c:pt idx="5">
                  <c:v>7248.67</c:v>
                </c:pt>
                <c:pt idx="6">
                  <c:v>11168.56</c:v>
                </c:pt>
                <c:pt idx="7">
                  <c:v>11470.69</c:v>
                </c:pt>
                <c:pt idx="8">
                  <c:v>12740.75</c:v>
                </c:pt>
                <c:pt idx="9">
                  <c:v>11436.65</c:v>
                </c:pt>
                <c:pt idx="10">
                  <c:v>9873.17</c:v>
                </c:pt>
                <c:pt idx="11">
                  <c:v>7075.01</c:v>
                </c:pt>
                <c:pt idx="12">
                  <c:v>9416.06</c:v>
                </c:pt>
                <c:pt idx="13">
                  <c:v>8862.26</c:v>
                </c:pt>
                <c:pt idx="14">
                  <c:v>10659.45</c:v>
                </c:pt>
                <c:pt idx="15">
                  <c:v>9007.92</c:v>
                </c:pt>
                <c:pt idx="16">
                  <c:v>12166.04</c:v>
                </c:pt>
                <c:pt idx="17">
                  <c:v>8924.9</c:v>
                </c:pt>
                <c:pt idx="18">
                  <c:v>9983.49</c:v>
                </c:pt>
                <c:pt idx="19">
                  <c:v>10466.35</c:v>
                </c:pt>
                <c:pt idx="20">
                  <c:v>8546.15</c:v>
                </c:pt>
                <c:pt idx="21">
                  <c:v>11485.51</c:v>
                </c:pt>
                <c:pt idx="22">
                  <c:v>11660.19</c:v>
                </c:pt>
                <c:pt idx="23">
                  <c:v>11192.17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2700000"/>
          <a:lstStyle/>
          <a:p>
            <a:pPr>
              <a:defRPr sz="800" b="0" i="0" u="none" strike="noStrike">
                <a:solidFill>
                  <a:srgbClr val="5B6B85"/>
                </a:solidFill>
                <a:latin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12700" cap="flat">
              <a:solidFill>
                <a:srgbClr val="D7E0EE"/>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B85"/>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Revenue (USD, Completed)</c:v>
                </c:pt>
              </c:strCache>
            </c:strRef>
          </c:tx>
          <c:spPr>
            <a:solidFill>
              <a:srgbClr val="1B2A4A"/>
            </a:solidFill>
            <a:effectLst/>
          </c:spPr>
          <c:invertIfNegative val="0"/>
          <c:dLbls>
            <c:numFmt formatCode="$#,##0" sourceLinked="0"/>
            <c:txPr>
              <a:bodyPr/>
              <a:lstStyle/>
              <a:p>
                <a:pPr>
                  <a:defRPr b="0" i="0" strike="noStrike" sz="900" u="none">
                    <a:solidFill>
                      <a:srgbClr val="1B2A4A"/>
                    </a:solidFill>
                    <a:latin typeface="Arial"/>
                  </a:defRPr>
                </a:pPr>
              </a:p>
            </c:txPr>
            <c:showLegendKey val="0"/>
            <c:showVal val="1"/>
            <c:showCatName val="0"/>
            <c:showSerName val="0"/>
            <c:showPercent val="0"/>
            <c:showBubbleSize val="0"/>
            <c:showLeaderLines val="0"/>
          </c:dLbls>
          <c:cat>
            <c:multiLvlStrRef>
              <c:f>Sheet1!$A$2:$A$8</c:f>
              <c:multiLvlStrCache>
                <c:ptCount val="7"/>
                <c:lvl>
                  <c:pt idx="0">
                    <c:v>Electronics</c:v>
                  </c:pt>
                  <c:pt idx="1">
                    <c:v>Home &amp; Kitchen</c:v>
                  </c:pt>
                  <c:pt idx="2">
                    <c:v>Sports &amp; Outdoors</c:v>
                  </c:pt>
                  <c:pt idx="3">
                    <c:v>Clothing</c:v>
                  </c:pt>
                  <c:pt idx="4">
                    <c:v>Toys</c:v>
                  </c:pt>
                  <c:pt idx="5">
                    <c:v>Beauty</c:v>
                  </c:pt>
                  <c:pt idx="6">
                    <c:v>Books</c:v>
                  </c:pt>
                </c:lvl>
              </c:multiLvlStrCache>
            </c:multiLvlStrRef>
          </c:cat>
          <c:val>
            <c:numRef>
              <c:f>Sheet1!$B$2:$B$8</c:f>
              <c:numCache>
                <c:formatCode>General</c:formatCode>
                <c:ptCount val="7"/>
                <c:pt idx="0">
                  <c:v>63888.07</c:v>
                </c:pt>
                <c:pt idx="1">
                  <c:v>51020.37</c:v>
                </c:pt>
                <c:pt idx="2">
                  <c:v>39105.1</c:v>
                </c:pt>
                <c:pt idx="3">
                  <c:v>36403.65</c:v>
                </c:pt>
                <c:pt idx="4">
                  <c:v>25918.9</c:v>
                </c:pt>
                <c:pt idx="5">
                  <c:v>20153.94</c:v>
                </c:pt>
                <c:pt idx="6">
                  <c:v>15737.68</c:v>
                </c:pt>
              </c:numCache>
            </c:numRef>
          </c:val>
        </c:ser>
        <c:dLbls>
          <c:numFmt formatCode="$#,##0" sourceLinked="0"/>
          <c:txPr>
            <a:bodyPr/>
            <a:lstStyle/>
            <a:p>
              <a:pPr>
                <a:defRPr b="0" i="0" strike="noStrike" sz="900" u="none">
                  <a:solidFill>
                    <a:srgbClr val="1B2A4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1B2A4A"/>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D7E0EE"/>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900" b="0" i="0" u="none" strike="noStrike">
                <a:solidFill>
                  <a:srgbClr val="5B6B85"/>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Revenue by Region (USD)</c:v>
                </c:pt>
              </c:strCache>
            </c:strRef>
          </c:tx>
          <c:spPr>
            <a:solidFill>
              <a:srgbClr val="FF6B4A"/>
            </a:solidFill>
            <a:effectLst/>
          </c:spPr>
          <c:invertIfNegative val="0"/>
          <c:dLbls>
            <c:numFmt formatCode="$#,##0" sourceLinked="0"/>
            <c:txPr>
              <a:bodyPr/>
              <a:lstStyle/>
              <a:p>
                <a:pPr>
                  <a:defRPr b="0" i="0" strike="noStrike" sz="900" u="none">
                    <a:solidFill>
                      <a:srgbClr val="1B2A4A"/>
                    </a:solidFill>
                    <a:latin typeface="Arial"/>
                  </a:defRPr>
                </a:pPr>
              </a:p>
            </c:txPr>
            <c:showLegendKey val="0"/>
            <c:showVal val="1"/>
            <c:showCatName val="0"/>
            <c:showSerName val="0"/>
            <c:showPercent val="0"/>
            <c:showBubbleSize val="0"/>
            <c:showLeaderLines val="0"/>
          </c:dLbls>
          <c:cat>
            <c:multiLvlStrRef>
              <c:f>Sheet1!$A$2:$A$5</c:f>
              <c:multiLvlStrCache>
                <c:ptCount val="4"/>
                <c:lvl>
                  <c:pt idx="0">
                    <c:v>East</c:v>
                  </c:pt>
                  <c:pt idx="1">
                    <c:v>Midwest</c:v>
                  </c:pt>
                  <c:pt idx="2">
                    <c:v>South</c:v>
                  </c:pt>
                  <c:pt idx="3">
                    <c:v>West</c:v>
                  </c:pt>
                </c:lvl>
              </c:multiLvlStrCache>
            </c:multiLvlStrRef>
          </c:cat>
          <c:val>
            <c:numRef>
              <c:f>Sheet1!$B$2:$B$5</c:f>
              <c:numCache>
                <c:formatCode>General</c:formatCode>
                <c:ptCount val="4"/>
                <c:pt idx="0">
                  <c:v>187615.92</c:v>
                </c:pt>
                <c:pt idx="1">
                  <c:v>50852.19</c:v>
                </c:pt>
                <c:pt idx="2">
                  <c:v>10903.92</c:v>
                </c:pt>
                <c:pt idx="3">
                  <c:v>2855.68</c:v>
                </c:pt>
              </c:numCache>
            </c:numRef>
          </c:val>
        </c:ser>
        <c:dLbls>
          <c:numFmt formatCode="$#,##0" sourceLinked="0"/>
          <c:txPr>
            <a:bodyPr/>
            <a:lstStyle/>
            <a:p>
              <a:pPr>
                <a:defRPr b="0" i="0" strike="noStrike" sz="900" u="none">
                  <a:solidFill>
                    <a:srgbClr val="1B2A4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B2A4A"/>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D7E0EE"/>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900" b="0" i="0" u="none" strike="noStrike">
                <a:solidFill>
                  <a:srgbClr val="5B6B85"/>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9966960" y="-1463040"/>
            <a:ext cx="4206240" cy="4206240"/>
          </a:xfrm>
          <a:prstGeom prst="ellipse">
            <a:avLst/>
          </a:prstGeom>
          <a:solidFill>
            <a:srgbClr val="24365E"/>
          </a:solidFill>
          <a:ln/>
        </p:spPr>
      </p:sp>
      <p:sp>
        <p:nvSpPr>
          <p:cNvPr id="3" name="Shape 1"/>
          <p:cNvSpPr/>
          <p:nvPr/>
        </p:nvSpPr>
        <p:spPr>
          <a:xfrm>
            <a:off x="11064240" y="4846320"/>
            <a:ext cx="2743200" cy="2743200"/>
          </a:xfrm>
          <a:prstGeom prst="ellipse">
            <a:avLst/>
          </a:prstGeom>
          <a:solidFill>
            <a:srgbClr val="24365E"/>
          </a:solidFill>
          <a:ln/>
        </p:spPr>
      </p:sp>
      <p:sp>
        <p:nvSpPr>
          <p:cNvPr id="4" name="Text 2"/>
          <p:cNvSpPr txBox="1"/>
          <p:nvPr/>
        </p:nvSpPr>
        <p:spPr>
          <a:xfrm>
            <a:off x="822960" y="1417320"/>
            <a:ext cx="9144000" cy="365760"/>
          </a:xfrm>
          <a:prstGeom prst="rect">
            <a:avLst/>
          </a:prstGeom>
          <a:noFill/>
          <a:ln/>
        </p:spPr>
        <p:txBody>
          <a:bodyPr wrap="square" lIns="0" tIns="0" rIns="0" bIns="0" rtlCol="0" anchor="ctr"/>
          <a:lstStyle/>
          <a:p>
            <a:pPr indent="0" marL="0">
              <a:buNone/>
            </a:pPr>
            <a:r>
              <a:rPr lang="en-US" sz="1300" b="1" spc="200" kern="0" dirty="0">
                <a:solidFill>
                  <a:srgbClr val="FF6B4A"/>
                </a:solidFill>
                <a:latin typeface="Calibri" pitchFamily="34" charset="0"/>
                <a:ea typeface="Calibri" pitchFamily="34" charset="-122"/>
                <a:cs typeface="Calibri" pitchFamily="34" charset="-120"/>
              </a:rPr>
              <a:t>DAY 6 — PORTFOLIO DATA ANALYST 7 HARI</a:t>
            </a:r>
            <a:endParaRPr lang="en-US" sz="1300" dirty="0"/>
          </a:p>
        </p:txBody>
      </p:sp>
      <p:sp>
        <p:nvSpPr>
          <p:cNvPr id="5" name="Text 3"/>
          <p:cNvSpPr txBox="1"/>
          <p:nvPr/>
        </p:nvSpPr>
        <p:spPr>
          <a:xfrm>
            <a:off x="777240" y="1874520"/>
            <a:ext cx="10058400" cy="118872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Studi Kasus Bisnis</a:t>
            </a:r>
            <a:endParaRPr lang="en-US" sz="4800" dirty="0"/>
          </a:p>
        </p:txBody>
      </p:sp>
      <p:sp>
        <p:nvSpPr>
          <p:cNvPr id="6" name="Text 4"/>
          <p:cNvSpPr txBox="1"/>
          <p:nvPr/>
        </p:nvSpPr>
        <p:spPr>
          <a:xfrm>
            <a:off x="822960" y="2971800"/>
            <a:ext cx="9509760" cy="914400"/>
          </a:xfrm>
          <a:prstGeom prst="rect">
            <a:avLst/>
          </a:prstGeom>
          <a:noFill/>
          <a:ln/>
        </p:spPr>
        <p:txBody>
          <a:bodyPr wrap="square" lIns="0" tIns="0" rIns="0" bIns="0" rtlCol="0" anchor="ctr"/>
          <a:lstStyle/>
          <a:p>
            <a:pPr indent="0" marL="0">
              <a:lnSpc>
                <a:spcPct val="120000"/>
              </a:lnSpc>
              <a:buNone/>
            </a:pPr>
            <a:r>
              <a:rPr lang="en-US" sz="1700" i="1" dirty="0">
                <a:solidFill>
                  <a:srgbClr val="C9D6EC"/>
                </a:solidFill>
                <a:latin typeface="Calibri" pitchFamily="34" charset="0"/>
                <a:ea typeface="Calibri" pitchFamily="34" charset="-122"/>
                <a:cs typeface="Calibri" pitchFamily="34" charset="-120"/>
              </a:rPr>
              <a:t>Performa Penjualan E-Commerce: Mendiagnosis Konsentrasi Revenue</a:t>
            </a:r>
            <a:endParaRPr lang="en-US" sz="1700" dirty="0"/>
          </a:p>
          <a:p>
            <a:pPr indent="0" marL="0">
              <a:lnSpc>
                <a:spcPct val="120000"/>
              </a:lnSpc>
              <a:buNone/>
            </a:pPr>
            <a:r>
              <a:rPr lang="en-US" sz="1700" i="1" dirty="0">
                <a:solidFill>
                  <a:srgbClr val="C9D6EC"/>
                </a:solidFill>
                <a:latin typeface="Calibri" pitchFamily="34" charset="0"/>
                <a:ea typeface="Calibri" pitchFamily="34" charset="-122"/>
                <a:cs typeface="Calibri" pitchFamily="34" charset="-120"/>
              </a:rPr>
              <a:t>dan Risiko Nilai Order dari Dua Tahun Data Transaksi</a:t>
            </a:r>
            <a:endParaRPr lang="en-US" sz="1700" dirty="0"/>
          </a:p>
        </p:txBody>
      </p:sp>
      <p:sp>
        <p:nvSpPr>
          <p:cNvPr id="7" name="Shape 5"/>
          <p:cNvSpPr/>
          <p:nvPr/>
        </p:nvSpPr>
        <p:spPr>
          <a:xfrm>
            <a:off x="822960" y="4160520"/>
            <a:ext cx="2011680" cy="0"/>
          </a:xfrm>
          <a:prstGeom prst="line">
            <a:avLst/>
          </a:prstGeom>
          <a:noFill/>
          <a:ln w="31750">
            <a:solidFill>
              <a:srgbClr val="FF6B4A"/>
            </a:solidFill>
            <a:prstDash val="solid"/>
          </a:ln>
        </p:spPr>
      </p:sp>
      <p:sp>
        <p:nvSpPr>
          <p:cNvPr id="8" name="Text 6"/>
          <p:cNvSpPr txBox="1"/>
          <p:nvPr/>
        </p:nvSpPr>
        <p:spPr>
          <a:xfrm>
            <a:off x="822960" y="4434840"/>
            <a:ext cx="9144000" cy="365760"/>
          </a:xfrm>
          <a:prstGeom prst="rect">
            <a:avLst/>
          </a:prstGeom>
          <a:noFill/>
          <a:ln/>
        </p:spPr>
        <p:txBody>
          <a:bodyPr wrap="square" lIns="0" tIns="0" rIns="0" bIns="0" rtlCol="0" anchor="ctr"/>
          <a:lstStyle/>
          <a:p>
            <a:pPr indent="0" marL="0">
              <a:buNone/>
            </a:pPr>
            <a:r>
              <a:rPr lang="en-US" sz="1400" b="1" dirty="0">
                <a:solidFill>
                  <a:srgbClr val="FF6B4A"/>
                </a:solidFill>
                <a:latin typeface="Calibri" pitchFamily="34" charset="0"/>
                <a:ea typeface="Calibri" pitchFamily="34" charset="-122"/>
                <a:cs typeface="Calibri" pitchFamily="34" charset="-120"/>
              </a:rPr>
              <a:t>Rumusan Masalah Bisnis</a:t>
            </a:r>
            <a:endParaRPr lang="en-US" sz="1400" dirty="0"/>
          </a:p>
        </p:txBody>
      </p:sp>
      <p:sp>
        <p:nvSpPr>
          <p:cNvPr id="9" name="Text 7"/>
          <p:cNvSpPr txBox="1"/>
          <p:nvPr/>
        </p:nvSpPr>
        <p:spPr>
          <a:xfrm>
            <a:off x="822960" y="4800600"/>
            <a:ext cx="9692640" cy="1005840"/>
          </a:xfrm>
          <a:prstGeom prst="rect">
            <a:avLst/>
          </a:prstGeom>
          <a:noFill/>
          <a:ln/>
        </p:spPr>
        <p:txBody>
          <a:bodyPr wrap="square" lIns="0" tIns="0" rIns="0" bIns="0" rtlCol="0" anchor="ctr"/>
          <a:lstStyle/>
          <a:p>
            <a:pPr indent="0" marL="0">
              <a:lnSpc>
                <a:spcPct val="125000"/>
              </a:lnSpc>
              <a:buNone/>
            </a:pPr>
            <a:r>
              <a:rPr lang="en-US" sz="1500" dirty="0">
                <a:solidFill>
                  <a:srgbClr val="E7ECF6"/>
                </a:solidFill>
                <a:latin typeface="Calibri" pitchFamily="34" charset="0"/>
                <a:ea typeface="Calibri" pitchFamily="34" charset="-122"/>
                <a:cs typeface="Calibri" pitchFamily="34" charset="-120"/>
              </a:rPr>
              <a:t>Manajemen perlu tahu apakah performa penjualan saat ini sehat dan berkelanjutan, atau justru terkonsentrasi diam-diam di satu region dan satu pola transaksi bernilai rendah yang berisiko menghambat pertumbuhan ke depan.</a:t>
            </a:r>
            <a:endParaRPr lang="en-US" sz="1500" dirty="0"/>
          </a:p>
        </p:txBody>
      </p:sp>
      <p:sp>
        <p:nvSpPr>
          <p:cNvPr id="10" name="Text 8"/>
          <p:cNvSpPr txBox="1"/>
          <p:nvPr/>
        </p:nvSpPr>
        <p:spPr>
          <a:xfrm>
            <a:off x="822960" y="6172200"/>
            <a:ext cx="9692640" cy="320040"/>
          </a:xfrm>
          <a:prstGeom prst="rect">
            <a:avLst/>
          </a:prstGeom>
          <a:noFill/>
          <a:ln/>
        </p:spPr>
        <p:txBody>
          <a:bodyPr wrap="square" lIns="0" tIns="0" rIns="0" bIns="0" rtlCol="0" anchor="ctr"/>
          <a:lstStyle/>
          <a:p>
            <a:pPr indent="0" marL="0">
              <a:buNone/>
            </a:pPr>
            <a:r>
              <a:rPr lang="en-US" sz="1100" dirty="0">
                <a:solidFill>
                  <a:srgbClr val="94A6C4"/>
                </a:solidFill>
                <a:latin typeface="Calibri" pitchFamily="34" charset="0"/>
                <a:ea typeface="Calibri" pitchFamily="34" charset="-122"/>
                <a:cs typeface="Calibri" pitchFamily="34" charset="-120"/>
              </a:rPr>
              <a:t>Oleh Alya Shandy   |   Dataset: cleaned_sales_data.csv (3.933 order, Jan 2023 – Des 2024)</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AF1FB"/>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FF6B4A"/>
                </a:solidFill>
                <a:latin typeface="Calibri" pitchFamily="34" charset="0"/>
                <a:ea typeface="Calibri" pitchFamily="34" charset="-122"/>
                <a:cs typeface="Calibri" pitchFamily="34" charset="-120"/>
              </a:rPr>
              <a:t>TENTANG DATASET</a:t>
            </a:r>
            <a:endParaRPr lang="en-US" sz="1300" dirty="0"/>
          </a:p>
        </p:txBody>
      </p:sp>
      <p:sp>
        <p:nvSpPr>
          <p:cNvPr id="3" name="Text 1"/>
          <p:cNvSpPr txBox="1"/>
          <p:nvPr/>
        </p:nvSpPr>
        <p:spPr>
          <a:xfrm>
            <a:off x="548640" y="658368"/>
            <a:ext cx="10515600" cy="73152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Dua Tahun Transaksi E-Commerce</a:t>
            </a:r>
            <a:endParaRPr lang="en-US" sz="3000" dirty="0"/>
          </a:p>
        </p:txBody>
      </p:sp>
      <p:sp>
        <p:nvSpPr>
          <p:cNvPr id="4" name="Text 2"/>
          <p:cNvSpPr txBox="1"/>
          <p:nvPr/>
        </p:nvSpPr>
        <p:spPr>
          <a:xfrm>
            <a:off x="548640" y="1417320"/>
            <a:ext cx="10607040" cy="548640"/>
          </a:xfrm>
          <a:prstGeom prst="rect">
            <a:avLst/>
          </a:prstGeom>
          <a:noFill/>
          <a:ln/>
        </p:spPr>
        <p:txBody>
          <a:bodyPr wrap="square" lIns="0" tIns="0" rIns="0" bIns="0" rtlCol="0" anchor="ctr"/>
          <a:lstStyle/>
          <a:p>
            <a:pPr indent="0" marL="0">
              <a:lnSpc>
                <a:spcPct val="120000"/>
              </a:lnSpc>
              <a:buNone/>
            </a:pPr>
            <a:r>
              <a:rPr lang="en-US" sz="1400" dirty="0">
                <a:solidFill>
                  <a:srgbClr val="5B6B85"/>
                </a:solidFill>
                <a:latin typeface="Calibri" pitchFamily="34" charset="0"/>
                <a:ea typeface="Calibri" pitchFamily="34" charset="-122"/>
                <a:cs typeface="Calibri" pitchFamily="34" charset="-120"/>
              </a:rPr>
              <a:t>Setiap rekomendasi di studi kasus ini berpijak pada satu dataset transaksi yang sudah diverifikasi, mencakup dua tahun penuh — cukup panjang untuk memisahkan tren nyata dari fluktuasi bulanan biasa.</a:t>
            </a:r>
            <a:endParaRPr lang="en-US" sz="1400" dirty="0"/>
          </a:p>
        </p:txBody>
      </p:sp>
      <p:sp>
        <p:nvSpPr>
          <p:cNvPr id="5" name="Shape 3"/>
          <p:cNvSpPr/>
          <p:nvPr/>
        </p:nvSpPr>
        <p:spPr>
          <a:xfrm>
            <a:off x="548640" y="2286000"/>
            <a:ext cx="2468880" cy="1508760"/>
          </a:xfrm>
          <a:prstGeom prst="roundRect">
            <a:avLst>
              <a:gd name="adj" fmla="val 4848"/>
            </a:avLst>
          </a:prstGeom>
          <a:solidFill>
            <a:srgbClr val="FFFFFF"/>
          </a:solidFill>
          <a:ln/>
          <a:effectLst>
            <a:outerShdw sx="100000" sy="100000" kx="0" ky="0" algn="bl" rotWithShape="0" blurRad="101600" dist="38100" dir="5400000">
              <a:srgbClr val="1B2A4A">
                <a:alpha val="12000"/>
              </a:srgbClr>
            </a:outerShdw>
          </a:effectLst>
        </p:spPr>
      </p:sp>
      <p:sp>
        <p:nvSpPr>
          <p:cNvPr id="6" name="Text 4"/>
          <p:cNvSpPr txBox="1"/>
          <p:nvPr/>
        </p:nvSpPr>
        <p:spPr>
          <a:xfrm>
            <a:off x="548640" y="2487168"/>
            <a:ext cx="2468880" cy="640080"/>
          </a:xfrm>
          <a:prstGeom prst="rect">
            <a:avLst/>
          </a:prstGeom>
          <a:noFill/>
          <a:ln/>
        </p:spPr>
        <p:txBody>
          <a:bodyPr wrap="square" lIns="0" tIns="0" rIns="0" bIns="0" rtlCol="0" anchor="ctr"/>
          <a:lstStyle/>
          <a:p>
            <a:pPr algn="ctr" indent="0" marL="0">
              <a:buNone/>
            </a:pPr>
            <a:r>
              <a:rPr lang="en-US" sz="3400" b="1" dirty="0">
                <a:solidFill>
                  <a:srgbClr val="1B2A4A"/>
                </a:solidFill>
                <a:latin typeface="Cambria" pitchFamily="34" charset="0"/>
                <a:ea typeface="Cambria" pitchFamily="34" charset="-122"/>
                <a:cs typeface="Cambria" pitchFamily="34" charset="-120"/>
              </a:rPr>
              <a:t>3.933</a:t>
            </a:r>
            <a:endParaRPr lang="en-US" sz="3400" dirty="0"/>
          </a:p>
        </p:txBody>
      </p:sp>
      <p:sp>
        <p:nvSpPr>
          <p:cNvPr id="7" name="Text 5"/>
          <p:cNvSpPr txBox="1"/>
          <p:nvPr/>
        </p:nvSpPr>
        <p:spPr>
          <a:xfrm>
            <a:off x="685800" y="3200400"/>
            <a:ext cx="2194560" cy="457200"/>
          </a:xfrm>
          <a:prstGeom prst="rect">
            <a:avLst/>
          </a:prstGeom>
          <a:noFill/>
          <a:ln/>
        </p:spPr>
        <p:txBody>
          <a:bodyPr wrap="square" lIns="0" tIns="0" rIns="0" bIns="0" rtlCol="0" anchor="ctr"/>
          <a:lstStyle/>
          <a:p>
            <a:pPr algn="ctr" indent="0" marL="0">
              <a:buNone/>
            </a:pPr>
            <a:r>
              <a:rPr lang="en-US" sz="1200" dirty="0">
                <a:solidFill>
                  <a:srgbClr val="5B6B85"/>
                </a:solidFill>
                <a:latin typeface="Calibri" pitchFamily="34" charset="0"/>
                <a:ea typeface="Calibri" pitchFamily="34" charset="-122"/>
                <a:cs typeface="Calibri" pitchFamily="34" charset="-120"/>
              </a:rPr>
              <a:t>Order</a:t>
            </a:r>
            <a:endParaRPr lang="en-US" sz="1200" dirty="0"/>
          </a:p>
        </p:txBody>
      </p:sp>
      <p:sp>
        <p:nvSpPr>
          <p:cNvPr id="8" name="Shape 6"/>
          <p:cNvSpPr/>
          <p:nvPr/>
        </p:nvSpPr>
        <p:spPr>
          <a:xfrm>
            <a:off x="3273552" y="2286000"/>
            <a:ext cx="2468880" cy="1508760"/>
          </a:xfrm>
          <a:prstGeom prst="roundRect">
            <a:avLst>
              <a:gd name="adj" fmla="val 4848"/>
            </a:avLst>
          </a:prstGeom>
          <a:solidFill>
            <a:srgbClr val="FFFFFF"/>
          </a:solidFill>
          <a:ln/>
          <a:effectLst>
            <a:outerShdw sx="100000" sy="100000" kx="0" ky="0" algn="bl" rotWithShape="0" blurRad="101600" dist="38100" dir="5400000">
              <a:srgbClr val="1B2A4A">
                <a:alpha val="12000"/>
              </a:srgbClr>
            </a:outerShdw>
          </a:effectLst>
        </p:spPr>
      </p:sp>
      <p:sp>
        <p:nvSpPr>
          <p:cNvPr id="9" name="Text 7"/>
          <p:cNvSpPr txBox="1"/>
          <p:nvPr/>
        </p:nvSpPr>
        <p:spPr>
          <a:xfrm>
            <a:off x="3273552" y="2487168"/>
            <a:ext cx="2468880" cy="640080"/>
          </a:xfrm>
          <a:prstGeom prst="rect">
            <a:avLst/>
          </a:prstGeom>
          <a:noFill/>
          <a:ln/>
        </p:spPr>
        <p:txBody>
          <a:bodyPr wrap="square" lIns="0" tIns="0" rIns="0" bIns="0" rtlCol="0" anchor="ctr"/>
          <a:lstStyle/>
          <a:p>
            <a:pPr algn="ctr" indent="0" marL="0">
              <a:buNone/>
            </a:pPr>
            <a:r>
              <a:rPr lang="en-US" sz="3400" b="1" dirty="0">
                <a:solidFill>
                  <a:srgbClr val="1B2A4A"/>
                </a:solidFill>
                <a:latin typeface="Cambria" pitchFamily="34" charset="0"/>
                <a:ea typeface="Cambria" pitchFamily="34" charset="-122"/>
                <a:cs typeface="Cambria" pitchFamily="34" charset="-120"/>
              </a:rPr>
              <a:t>889</a:t>
            </a:r>
            <a:endParaRPr lang="en-US" sz="3400" dirty="0"/>
          </a:p>
        </p:txBody>
      </p:sp>
      <p:sp>
        <p:nvSpPr>
          <p:cNvPr id="10" name="Text 8"/>
          <p:cNvSpPr txBox="1"/>
          <p:nvPr/>
        </p:nvSpPr>
        <p:spPr>
          <a:xfrm>
            <a:off x="3410712" y="3200400"/>
            <a:ext cx="2194560" cy="457200"/>
          </a:xfrm>
          <a:prstGeom prst="rect">
            <a:avLst/>
          </a:prstGeom>
          <a:noFill/>
          <a:ln/>
        </p:spPr>
        <p:txBody>
          <a:bodyPr wrap="square" lIns="0" tIns="0" rIns="0" bIns="0" rtlCol="0" anchor="ctr"/>
          <a:lstStyle/>
          <a:p>
            <a:pPr algn="ctr" indent="0" marL="0">
              <a:buNone/>
            </a:pPr>
            <a:r>
              <a:rPr lang="en-US" sz="1200" dirty="0">
                <a:solidFill>
                  <a:srgbClr val="5B6B85"/>
                </a:solidFill>
                <a:latin typeface="Calibri" pitchFamily="34" charset="0"/>
                <a:ea typeface="Calibri" pitchFamily="34" charset="-122"/>
                <a:cs typeface="Calibri" pitchFamily="34" charset="-120"/>
              </a:rPr>
              <a:t>Customer Unik</a:t>
            </a:r>
            <a:endParaRPr lang="en-US" sz="1200" dirty="0"/>
          </a:p>
        </p:txBody>
      </p:sp>
      <p:sp>
        <p:nvSpPr>
          <p:cNvPr id="11" name="Shape 9"/>
          <p:cNvSpPr/>
          <p:nvPr/>
        </p:nvSpPr>
        <p:spPr>
          <a:xfrm>
            <a:off x="5998464" y="2286000"/>
            <a:ext cx="2468880" cy="1508760"/>
          </a:xfrm>
          <a:prstGeom prst="roundRect">
            <a:avLst>
              <a:gd name="adj" fmla="val 4848"/>
            </a:avLst>
          </a:prstGeom>
          <a:solidFill>
            <a:srgbClr val="FFFFFF"/>
          </a:solidFill>
          <a:ln/>
          <a:effectLst>
            <a:outerShdw sx="100000" sy="100000" kx="0" ky="0" algn="bl" rotWithShape="0" blurRad="101600" dist="38100" dir="5400000">
              <a:srgbClr val="1B2A4A">
                <a:alpha val="12000"/>
              </a:srgbClr>
            </a:outerShdw>
          </a:effectLst>
        </p:spPr>
      </p:sp>
      <p:sp>
        <p:nvSpPr>
          <p:cNvPr id="12" name="Text 10"/>
          <p:cNvSpPr txBox="1"/>
          <p:nvPr/>
        </p:nvSpPr>
        <p:spPr>
          <a:xfrm>
            <a:off x="5998464" y="2487168"/>
            <a:ext cx="2468880" cy="640080"/>
          </a:xfrm>
          <a:prstGeom prst="rect">
            <a:avLst/>
          </a:prstGeom>
          <a:noFill/>
          <a:ln/>
        </p:spPr>
        <p:txBody>
          <a:bodyPr wrap="square" lIns="0" tIns="0" rIns="0" bIns="0" rtlCol="0" anchor="ctr"/>
          <a:lstStyle/>
          <a:p>
            <a:pPr algn="ctr" indent="0" marL="0">
              <a:buNone/>
            </a:pPr>
            <a:r>
              <a:rPr lang="en-US" sz="3400" b="1" dirty="0">
                <a:solidFill>
                  <a:srgbClr val="1B2A4A"/>
                </a:solidFill>
                <a:latin typeface="Cambria" pitchFamily="34" charset="0"/>
                <a:ea typeface="Cambria" pitchFamily="34" charset="-122"/>
                <a:cs typeface="Cambria" pitchFamily="34" charset="-120"/>
              </a:rPr>
              <a:t>24</a:t>
            </a:r>
            <a:endParaRPr lang="en-US" sz="3400" dirty="0"/>
          </a:p>
        </p:txBody>
      </p:sp>
      <p:sp>
        <p:nvSpPr>
          <p:cNvPr id="13" name="Text 11"/>
          <p:cNvSpPr txBox="1"/>
          <p:nvPr/>
        </p:nvSpPr>
        <p:spPr>
          <a:xfrm>
            <a:off x="6135624" y="3200400"/>
            <a:ext cx="2194560" cy="457200"/>
          </a:xfrm>
          <a:prstGeom prst="rect">
            <a:avLst/>
          </a:prstGeom>
          <a:noFill/>
          <a:ln/>
        </p:spPr>
        <p:txBody>
          <a:bodyPr wrap="square" lIns="0" tIns="0" rIns="0" bIns="0" rtlCol="0" anchor="ctr"/>
          <a:lstStyle/>
          <a:p>
            <a:pPr algn="ctr" indent="0" marL="0">
              <a:buNone/>
            </a:pPr>
            <a:r>
              <a:rPr lang="en-US" sz="1200" dirty="0">
                <a:solidFill>
                  <a:srgbClr val="5B6B85"/>
                </a:solidFill>
                <a:latin typeface="Calibri" pitchFamily="34" charset="0"/>
                <a:ea typeface="Calibri" pitchFamily="34" charset="-122"/>
                <a:cs typeface="Calibri" pitchFamily="34" charset="-120"/>
              </a:rPr>
              <a:t>Bulan (Jan 2023–Des 2024)</a:t>
            </a:r>
            <a:endParaRPr lang="en-US" sz="1200" dirty="0"/>
          </a:p>
        </p:txBody>
      </p:sp>
      <p:sp>
        <p:nvSpPr>
          <p:cNvPr id="14" name="Shape 12"/>
          <p:cNvSpPr/>
          <p:nvPr/>
        </p:nvSpPr>
        <p:spPr>
          <a:xfrm>
            <a:off x="8723376" y="2286000"/>
            <a:ext cx="2468880" cy="1508760"/>
          </a:xfrm>
          <a:prstGeom prst="roundRect">
            <a:avLst>
              <a:gd name="adj" fmla="val 4848"/>
            </a:avLst>
          </a:prstGeom>
          <a:solidFill>
            <a:srgbClr val="FFFFFF"/>
          </a:solidFill>
          <a:ln/>
          <a:effectLst>
            <a:outerShdw sx="100000" sy="100000" kx="0" ky="0" algn="bl" rotWithShape="0" blurRad="101600" dist="38100" dir="5400000">
              <a:srgbClr val="1B2A4A">
                <a:alpha val="12000"/>
              </a:srgbClr>
            </a:outerShdw>
          </a:effectLst>
        </p:spPr>
      </p:sp>
      <p:sp>
        <p:nvSpPr>
          <p:cNvPr id="15" name="Text 13"/>
          <p:cNvSpPr txBox="1"/>
          <p:nvPr/>
        </p:nvSpPr>
        <p:spPr>
          <a:xfrm>
            <a:off x="8723376" y="2487168"/>
            <a:ext cx="2468880" cy="640080"/>
          </a:xfrm>
          <a:prstGeom prst="rect">
            <a:avLst/>
          </a:prstGeom>
          <a:noFill/>
          <a:ln/>
        </p:spPr>
        <p:txBody>
          <a:bodyPr wrap="square" lIns="0" tIns="0" rIns="0" bIns="0" rtlCol="0" anchor="ctr"/>
          <a:lstStyle/>
          <a:p>
            <a:pPr algn="ctr" indent="0" marL="0">
              <a:buNone/>
            </a:pPr>
            <a:r>
              <a:rPr lang="en-US" sz="3400" b="1" dirty="0">
                <a:solidFill>
                  <a:srgbClr val="1B2A4A"/>
                </a:solidFill>
                <a:latin typeface="Cambria" pitchFamily="34" charset="0"/>
                <a:ea typeface="Cambria" pitchFamily="34" charset="-122"/>
                <a:cs typeface="Cambria" pitchFamily="34" charset="-120"/>
              </a:rPr>
              <a:t>12</a:t>
            </a:r>
            <a:endParaRPr lang="en-US" sz="3400" dirty="0"/>
          </a:p>
        </p:txBody>
      </p:sp>
      <p:sp>
        <p:nvSpPr>
          <p:cNvPr id="16" name="Text 14"/>
          <p:cNvSpPr txBox="1"/>
          <p:nvPr/>
        </p:nvSpPr>
        <p:spPr>
          <a:xfrm>
            <a:off x="8860536" y="3200400"/>
            <a:ext cx="2194560" cy="457200"/>
          </a:xfrm>
          <a:prstGeom prst="rect">
            <a:avLst/>
          </a:prstGeom>
          <a:noFill/>
          <a:ln/>
        </p:spPr>
        <p:txBody>
          <a:bodyPr wrap="square" lIns="0" tIns="0" rIns="0" bIns="0" rtlCol="0" anchor="ctr"/>
          <a:lstStyle/>
          <a:p>
            <a:pPr algn="ctr" indent="0" marL="0">
              <a:buNone/>
            </a:pPr>
            <a:r>
              <a:rPr lang="en-US" sz="1200" dirty="0">
                <a:solidFill>
                  <a:srgbClr val="5B6B85"/>
                </a:solidFill>
                <a:latin typeface="Calibri" pitchFamily="34" charset="0"/>
                <a:ea typeface="Calibri" pitchFamily="34" charset="-122"/>
                <a:cs typeface="Calibri" pitchFamily="34" charset="-120"/>
              </a:rPr>
              <a:t>Kolom Data</a:t>
            </a:r>
            <a:endParaRPr lang="en-US" sz="1200" dirty="0"/>
          </a:p>
        </p:txBody>
      </p:sp>
      <p:sp>
        <p:nvSpPr>
          <p:cNvPr id="17" name="Shape 15"/>
          <p:cNvSpPr/>
          <p:nvPr/>
        </p:nvSpPr>
        <p:spPr>
          <a:xfrm>
            <a:off x="548640" y="3977640"/>
            <a:ext cx="10881360" cy="2331720"/>
          </a:xfrm>
          <a:prstGeom prst="roundRect">
            <a:avLst>
              <a:gd name="adj" fmla="val 3137"/>
            </a:avLst>
          </a:prstGeom>
          <a:solidFill>
            <a:srgbClr val="FFFFFF"/>
          </a:solidFill>
          <a:ln/>
          <a:effectLst>
            <a:outerShdw sx="100000" sy="100000" kx="0" ky="0" algn="bl" rotWithShape="0" blurRad="101600" dist="38100" dir="5400000">
              <a:srgbClr val="1B2A4A">
                <a:alpha val="10000"/>
              </a:srgbClr>
            </a:outerShdw>
          </a:effectLst>
        </p:spPr>
      </p:sp>
      <p:sp>
        <p:nvSpPr>
          <p:cNvPr id="18" name="Text 16"/>
          <p:cNvSpPr txBox="1"/>
          <p:nvPr/>
        </p:nvSpPr>
        <p:spPr>
          <a:xfrm>
            <a:off x="868680" y="4178808"/>
            <a:ext cx="5486400" cy="32004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Kolom Data per Order</a:t>
            </a:r>
            <a:endParaRPr lang="en-US" sz="1300" dirty="0"/>
          </a:p>
        </p:txBody>
      </p:sp>
      <p:sp>
        <p:nvSpPr>
          <p:cNvPr id="19" name="Text 17"/>
          <p:cNvSpPr txBox="1"/>
          <p:nvPr/>
        </p:nvSpPr>
        <p:spPr>
          <a:xfrm>
            <a:off x="868680" y="4599432"/>
            <a:ext cx="5120640" cy="1554480"/>
          </a:xfrm>
          <a:prstGeom prst="rect">
            <a:avLst/>
          </a:prstGeom>
          <a:noFill/>
          <a:ln/>
        </p:spPr>
        <p:txBody>
          <a:bodyPr wrap="square" lIns="0" tIns="0" rIns="0" bIns="0" rtlCol="0" anchor="t"/>
          <a:lstStyle/>
          <a:p>
            <a:pPr marL="177800" indent="-177800">
              <a:lnSpc>
                <a:spcPct val="135000"/>
              </a:lnSpc>
              <a:buSzPct val="100000"/>
              <a:buChar char="●"/>
            </a:pPr>
            <a:r>
              <a:rPr lang="en-US" sz="1250" dirty="0">
                <a:solidFill>
                  <a:srgbClr val="1B2A4A"/>
                </a:solidFill>
                <a:latin typeface="Calibri" pitchFamily="34" charset="0"/>
                <a:ea typeface="Calibri" pitchFamily="34" charset="-122"/>
                <a:cs typeface="Calibri" pitchFamily="34" charset="-120"/>
              </a:rPr>
              <a:t>Order ID</a:t>
            </a:r>
            <a:endParaRPr lang="en-US" sz="1250" dirty="0"/>
          </a:p>
          <a:p>
            <a:pPr marL="177800" indent="-177800">
              <a:lnSpc>
                <a:spcPct val="135000"/>
              </a:lnSpc>
              <a:buSzPct val="100000"/>
              <a:buChar char="●"/>
            </a:pPr>
            <a:r>
              <a:rPr lang="en-US" sz="1250" dirty="0">
                <a:solidFill>
                  <a:srgbClr val="1B2A4A"/>
                </a:solidFill>
                <a:latin typeface="Calibri" pitchFamily="34" charset="0"/>
                <a:ea typeface="Calibri" pitchFamily="34" charset="-122"/>
                <a:cs typeface="Calibri" pitchFamily="34" charset="-120"/>
              </a:rPr>
              <a:t>Tanggal Order</a:t>
            </a:r>
            <a:endParaRPr lang="en-US" sz="1250" dirty="0"/>
          </a:p>
          <a:p>
            <a:pPr marL="177800" indent="-177800">
              <a:lnSpc>
                <a:spcPct val="135000"/>
              </a:lnSpc>
              <a:buSzPct val="100000"/>
              <a:buChar char="●"/>
            </a:pPr>
            <a:r>
              <a:rPr lang="en-US" sz="1250" dirty="0">
                <a:solidFill>
                  <a:srgbClr val="1B2A4A"/>
                </a:solidFill>
                <a:latin typeface="Calibri" pitchFamily="34" charset="0"/>
                <a:ea typeface="Calibri" pitchFamily="34" charset="-122"/>
                <a:cs typeface="Calibri" pitchFamily="34" charset="-120"/>
              </a:rPr>
              <a:t>Customer ID / Nama</a:t>
            </a:r>
            <a:endParaRPr lang="en-US" sz="1250" dirty="0"/>
          </a:p>
          <a:p>
            <a:pPr marL="177800" indent="-177800">
              <a:lnSpc>
                <a:spcPct val="135000"/>
              </a:lnSpc>
              <a:buSzPct val="100000"/>
              <a:buChar char="●"/>
            </a:pPr>
            <a:r>
              <a:rPr lang="en-US" sz="1250" dirty="0">
                <a:solidFill>
                  <a:srgbClr val="1B2A4A"/>
                </a:solidFill>
                <a:latin typeface="Calibri" pitchFamily="34" charset="0"/>
                <a:ea typeface="Calibri" pitchFamily="34" charset="-122"/>
                <a:cs typeface="Calibri" pitchFamily="34" charset="-120"/>
              </a:rPr>
              <a:t>Region</a:t>
            </a:r>
            <a:endParaRPr lang="en-US" sz="1250" dirty="0"/>
          </a:p>
          <a:p>
            <a:pPr marL="177800" indent="-177800">
              <a:lnSpc>
                <a:spcPct val="135000"/>
              </a:lnSpc>
              <a:buSzPct val="100000"/>
              <a:buChar char="●"/>
            </a:pPr>
            <a:r>
              <a:rPr lang="en-US" sz="1250" dirty="0">
                <a:solidFill>
                  <a:srgbClr val="1B2A4A"/>
                </a:solidFill>
                <a:latin typeface="Calibri" pitchFamily="34" charset="0"/>
                <a:ea typeface="Calibri" pitchFamily="34" charset="-122"/>
                <a:cs typeface="Calibri" pitchFamily="34" charset="-120"/>
              </a:rPr>
              <a:t>Kategori</a:t>
            </a:r>
            <a:endParaRPr lang="en-US" sz="1250" dirty="0"/>
          </a:p>
          <a:p>
            <a:pPr marL="177800" indent="-177800">
              <a:lnSpc>
                <a:spcPct val="135000"/>
              </a:lnSpc>
              <a:buSzPct val="100000"/>
              <a:buChar char="●"/>
            </a:pPr>
            <a:r>
              <a:rPr lang="en-US" sz="1250" dirty="0">
                <a:solidFill>
                  <a:srgbClr val="1B2A4A"/>
                </a:solidFill>
                <a:latin typeface="Calibri" pitchFamily="34" charset="0"/>
                <a:ea typeface="Calibri" pitchFamily="34" charset="-122"/>
                <a:cs typeface="Calibri" pitchFamily="34" charset="-120"/>
              </a:rPr>
              <a:t>Nama Produk</a:t>
            </a:r>
            <a:endParaRPr lang="en-US" sz="1250" dirty="0"/>
          </a:p>
        </p:txBody>
      </p:sp>
      <p:sp>
        <p:nvSpPr>
          <p:cNvPr id="20" name="Text 18"/>
          <p:cNvSpPr txBox="1"/>
          <p:nvPr/>
        </p:nvSpPr>
        <p:spPr>
          <a:xfrm>
            <a:off x="6126480" y="4599432"/>
            <a:ext cx="5120640" cy="1554480"/>
          </a:xfrm>
          <a:prstGeom prst="rect">
            <a:avLst/>
          </a:prstGeom>
          <a:noFill/>
          <a:ln/>
        </p:spPr>
        <p:txBody>
          <a:bodyPr wrap="square" lIns="0" tIns="0" rIns="0" bIns="0" rtlCol="0" anchor="t"/>
          <a:lstStyle/>
          <a:p>
            <a:pPr marL="177800" indent="-177800">
              <a:lnSpc>
                <a:spcPct val="135000"/>
              </a:lnSpc>
              <a:buSzPct val="100000"/>
              <a:buChar char="●"/>
            </a:pPr>
            <a:r>
              <a:rPr lang="en-US" sz="1250" dirty="0">
                <a:solidFill>
                  <a:srgbClr val="1B2A4A"/>
                </a:solidFill>
                <a:latin typeface="Calibri" pitchFamily="34" charset="0"/>
                <a:ea typeface="Calibri" pitchFamily="34" charset="-122"/>
                <a:cs typeface="Calibri" pitchFamily="34" charset="-120"/>
              </a:rPr>
              <a:t>Quantity</a:t>
            </a:r>
            <a:endParaRPr lang="en-US" sz="1250" dirty="0"/>
          </a:p>
          <a:p>
            <a:pPr marL="177800" indent="-177800">
              <a:lnSpc>
                <a:spcPct val="135000"/>
              </a:lnSpc>
              <a:buSzPct val="100000"/>
              <a:buChar char="●"/>
            </a:pPr>
            <a:r>
              <a:rPr lang="en-US" sz="1250" dirty="0">
                <a:solidFill>
                  <a:srgbClr val="1B2A4A"/>
                </a:solidFill>
                <a:latin typeface="Calibri" pitchFamily="34" charset="0"/>
                <a:ea typeface="Calibri" pitchFamily="34" charset="-122"/>
                <a:cs typeface="Calibri" pitchFamily="34" charset="-120"/>
              </a:rPr>
              <a:t>Harga Satuan</a:t>
            </a:r>
            <a:endParaRPr lang="en-US" sz="1250" dirty="0"/>
          </a:p>
          <a:p>
            <a:pPr marL="177800" indent="-177800">
              <a:lnSpc>
                <a:spcPct val="135000"/>
              </a:lnSpc>
              <a:buSzPct val="100000"/>
              <a:buChar char="●"/>
            </a:pPr>
            <a:r>
              <a:rPr lang="en-US" sz="1250" dirty="0">
                <a:solidFill>
                  <a:srgbClr val="1B2A4A"/>
                </a:solidFill>
                <a:latin typeface="Calibri" pitchFamily="34" charset="0"/>
                <a:ea typeface="Calibri" pitchFamily="34" charset="-122"/>
                <a:cs typeface="Calibri" pitchFamily="34" charset="-120"/>
              </a:rPr>
              <a:t>Status Order</a:t>
            </a:r>
            <a:endParaRPr lang="en-US" sz="1250" dirty="0"/>
          </a:p>
          <a:p>
            <a:pPr marL="177800" indent="-177800">
              <a:lnSpc>
                <a:spcPct val="135000"/>
              </a:lnSpc>
              <a:buSzPct val="100000"/>
              <a:buChar char="●"/>
            </a:pPr>
            <a:r>
              <a:rPr lang="en-US" sz="1250" dirty="0">
                <a:solidFill>
                  <a:srgbClr val="1B2A4A"/>
                </a:solidFill>
                <a:latin typeface="Calibri" pitchFamily="34" charset="0"/>
                <a:ea typeface="Calibri" pitchFamily="34" charset="-122"/>
                <a:cs typeface="Calibri" pitchFamily="34" charset="-120"/>
              </a:rPr>
              <a:t>Metode Pembayaran</a:t>
            </a:r>
            <a:endParaRPr lang="en-US" sz="1250" dirty="0"/>
          </a:p>
          <a:p>
            <a:pPr marL="177800" indent="-177800">
              <a:lnSpc>
                <a:spcPct val="135000"/>
              </a:lnSpc>
              <a:buSzPct val="100000"/>
              <a:buChar char="●"/>
            </a:pPr>
            <a:r>
              <a:rPr lang="en-US" sz="1250" dirty="0">
                <a:solidFill>
                  <a:srgbClr val="1B2A4A"/>
                </a:solidFill>
                <a:latin typeface="Calibri" pitchFamily="34" charset="0"/>
                <a:ea typeface="Calibri" pitchFamily="34" charset="-122"/>
                <a:cs typeface="Calibri" pitchFamily="34" charset="-120"/>
              </a:rPr>
              <a:t>Revenue</a:t>
            </a:r>
            <a:endParaRPr lang="en-US" sz="1250" dirty="0"/>
          </a:p>
        </p:txBody>
      </p:sp>
      <p:sp>
        <p:nvSpPr>
          <p:cNvPr id="21" name="Text 19"/>
          <p:cNvSpPr txBox="1"/>
          <p:nvPr/>
        </p:nvSpPr>
        <p:spPr>
          <a:xfrm>
            <a:off x="457200" y="6537960"/>
            <a:ext cx="7315200" cy="274320"/>
          </a:xfrm>
          <a:prstGeom prst="rect">
            <a:avLst/>
          </a:prstGeom>
          <a:noFill/>
          <a:ln/>
        </p:spPr>
        <p:txBody>
          <a:bodyPr wrap="square" lIns="0" tIns="0" rIns="0" bIns="0" rtlCol="0" anchor="ctr"/>
          <a:lstStyle/>
          <a:p>
            <a:pPr indent="0" marL="0">
              <a:buNone/>
            </a:pPr>
            <a:r>
              <a:rPr lang="en-US" sz="900" dirty="0">
                <a:solidFill>
                  <a:srgbClr val="5B6B85"/>
                </a:solidFill>
                <a:latin typeface="Calibri" pitchFamily="34" charset="0"/>
                <a:ea typeface="Calibri" pitchFamily="34" charset="-122"/>
                <a:cs typeface="Calibri" pitchFamily="34" charset="-120"/>
              </a:rPr>
              <a:t>Analisis Penjualan E-Commerce — Studi Kasus Bisnis</a:t>
            </a:r>
            <a:endParaRPr lang="en-US" sz="900" dirty="0"/>
          </a:p>
        </p:txBody>
      </p:sp>
      <p:sp>
        <p:nvSpPr>
          <p:cNvPr id="22" name="Text 20"/>
          <p:cNvSpPr txBox="1"/>
          <p:nvPr/>
        </p:nvSpPr>
        <p:spPr>
          <a:xfrm>
            <a:off x="11274552" y="6537960"/>
            <a:ext cx="457200" cy="274320"/>
          </a:xfrm>
          <a:prstGeom prst="rect">
            <a:avLst/>
          </a:prstGeom>
          <a:noFill/>
          <a:ln/>
        </p:spPr>
        <p:txBody>
          <a:bodyPr wrap="square" lIns="0" tIns="0" rIns="0" bIns="0" rtlCol="0" anchor="ctr"/>
          <a:lstStyle/>
          <a:p>
            <a:pPr algn="r" indent="0" marL="0">
              <a:buNone/>
            </a:pPr>
            <a:r>
              <a:rPr lang="en-US" sz="900" dirty="0">
                <a:solidFill>
                  <a:srgbClr val="5B6B85"/>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AF1FB"/>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FF6B4A"/>
                </a:solidFill>
                <a:latin typeface="Calibri" pitchFamily="34" charset="0"/>
                <a:ea typeface="Calibri" pitchFamily="34" charset="-122"/>
                <a:cs typeface="Calibri" pitchFamily="34" charset="-120"/>
              </a:rPr>
              <a:t>KUALITAS DATA</a:t>
            </a:r>
            <a:endParaRPr lang="en-US" sz="1300" dirty="0"/>
          </a:p>
        </p:txBody>
      </p:sp>
      <p:sp>
        <p:nvSpPr>
          <p:cNvPr id="3" name="Text 1"/>
          <p:cNvSpPr txBox="1"/>
          <p:nvPr/>
        </p:nvSpPr>
        <p:spPr>
          <a:xfrm>
            <a:off x="548640" y="658368"/>
            <a:ext cx="10515600" cy="73152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Dari Data Mentah Menjadi Analysis-Ready</a:t>
            </a:r>
            <a:endParaRPr lang="en-US" sz="3000" dirty="0"/>
          </a:p>
        </p:txBody>
      </p:sp>
      <p:sp>
        <p:nvSpPr>
          <p:cNvPr id="4" name="Text 2"/>
          <p:cNvSpPr txBox="1"/>
          <p:nvPr/>
        </p:nvSpPr>
        <p:spPr>
          <a:xfrm>
            <a:off x="548640" y="1417320"/>
            <a:ext cx="10607040" cy="548640"/>
          </a:xfrm>
          <a:prstGeom prst="rect">
            <a:avLst/>
          </a:prstGeom>
          <a:noFill/>
          <a:ln/>
        </p:spPr>
        <p:txBody>
          <a:bodyPr wrap="square" lIns="0" tIns="0" rIns="0" bIns="0" rtlCol="0" anchor="ctr"/>
          <a:lstStyle/>
          <a:p>
            <a:pPr indent="0" marL="0">
              <a:lnSpc>
                <a:spcPct val="120000"/>
              </a:lnSpc>
              <a:buNone/>
            </a:pPr>
            <a:r>
              <a:rPr lang="en-US" sz="1400" dirty="0">
                <a:solidFill>
                  <a:srgbClr val="5B6B85"/>
                </a:solidFill>
                <a:latin typeface="Calibri" pitchFamily="34" charset="0"/>
                <a:ea typeface="Calibri" pitchFamily="34" charset="-122"/>
                <a:cs typeface="Calibri" pitchFamily="34" charset="-120"/>
              </a:rPr>
              <a:t>Data hasil export mentah butuh proses pembersihan nyata sebelum satu angka pun di laporan ini bisa dipercaya. Pekerjaan itu dilakukan di Day 1 dan menjadi dasar untuk semua tahap berikutnya.</a:t>
            </a:r>
            <a:endParaRPr lang="en-US" sz="1400" dirty="0"/>
          </a:p>
        </p:txBody>
      </p:sp>
      <p:sp>
        <p:nvSpPr>
          <p:cNvPr id="5" name="Shape 3"/>
          <p:cNvSpPr/>
          <p:nvPr/>
        </p:nvSpPr>
        <p:spPr>
          <a:xfrm>
            <a:off x="548640" y="2286000"/>
            <a:ext cx="5120640" cy="3566160"/>
          </a:xfrm>
          <a:prstGeom prst="roundRect">
            <a:avLst>
              <a:gd name="adj" fmla="val 2051"/>
            </a:avLst>
          </a:prstGeom>
          <a:solidFill>
            <a:srgbClr val="FDECE8"/>
          </a:solidFill>
          <a:ln/>
        </p:spPr>
      </p:sp>
      <p:sp>
        <p:nvSpPr>
          <p:cNvPr id="6" name="Text 4"/>
          <p:cNvSpPr txBox="1"/>
          <p:nvPr/>
        </p:nvSpPr>
        <p:spPr>
          <a:xfrm>
            <a:off x="868680" y="2514600"/>
            <a:ext cx="4480560" cy="320040"/>
          </a:xfrm>
          <a:prstGeom prst="rect">
            <a:avLst/>
          </a:prstGeom>
          <a:noFill/>
          <a:ln/>
        </p:spPr>
        <p:txBody>
          <a:bodyPr wrap="square" lIns="0" tIns="0" rIns="0" bIns="0" rtlCol="0" anchor="ctr"/>
          <a:lstStyle/>
          <a:p>
            <a:pPr indent="0" marL="0">
              <a:buNone/>
            </a:pPr>
            <a:r>
              <a:rPr lang="en-US" sz="1300" b="1" dirty="0">
                <a:solidFill>
                  <a:srgbClr val="C2452B"/>
                </a:solidFill>
                <a:latin typeface="Calibri" pitchFamily="34" charset="0"/>
                <a:ea typeface="Calibri" pitchFamily="34" charset="-122"/>
                <a:cs typeface="Calibri" pitchFamily="34" charset="-120"/>
              </a:rPr>
              <a:t>SEBELUM — Data Mentah</a:t>
            </a:r>
            <a:endParaRPr lang="en-US" sz="1300" dirty="0"/>
          </a:p>
        </p:txBody>
      </p:sp>
      <p:sp>
        <p:nvSpPr>
          <p:cNvPr id="7" name="Text 5"/>
          <p:cNvSpPr txBox="1"/>
          <p:nvPr/>
        </p:nvSpPr>
        <p:spPr>
          <a:xfrm>
            <a:off x="868680" y="2880360"/>
            <a:ext cx="4480560" cy="777240"/>
          </a:xfrm>
          <a:prstGeom prst="rect">
            <a:avLst/>
          </a:prstGeom>
          <a:noFill/>
          <a:ln/>
        </p:spPr>
        <p:txBody>
          <a:bodyPr wrap="square" lIns="0" tIns="0" rIns="0" bIns="0" rtlCol="0" anchor="ctr"/>
          <a:lstStyle/>
          <a:p>
            <a:pPr indent="0" marL="0">
              <a:buNone/>
            </a:pPr>
            <a:r>
              <a:rPr lang="en-US" sz="4600" b="1" dirty="0">
                <a:solidFill>
                  <a:srgbClr val="C2452B"/>
                </a:solidFill>
                <a:latin typeface="Cambria" pitchFamily="34" charset="0"/>
                <a:ea typeface="Cambria" pitchFamily="34" charset="-122"/>
                <a:cs typeface="Cambria" pitchFamily="34" charset="-120"/>
              </a:rPr>
              <a:t>4.100</a:t>
            </a:r>
            <a:endParaRPr lang="en-US" sz="4600" dirty="0"/>
          </a:p>
        </p:txBody>
      </p:sp>
      <p:sp>
        <p:nvSpPr>
          <p:cNvPr id="8" name="Text 6"/>
          <p:cNvSpPr txBox="1"/>
          <p:nvPr/>
        </p:nvSpPr>
        <p:spPr>
          <a:xfrm>
            <a:off x="868680" y="3657600"/>
            <a:ext cx="4480560" cy="274320"/>
          </a:xfrm>
          <a:prstGeom prst="rect">
            <a:avLst/>
          </a:prstGeom>
          <a:noFill/>
          <a:ln/>
        </p:spPr>
        <p:txBody>
          <a:bodyPr wrap="square" lIns="0" tIns="0" rIns="0" bIns="0" rtlCol="0" anchor="ctr"/>
          <a:lstStyle/>
          <a:p>
            <a:pPr indent="0" marL="0">
              <a:buNone/>
            </a:pPr>
            <a:r>
              <a:rPr lang="en-US" sz="1200" dirty="0">
                <a:solidFill>
                  <a:srgbClr val="8A3320"/>
                </a:solidFill>
                <a:latin typeface="Calibri" pitchFamily="34" charset="0"/>
                <a:ea typeface="Calibri" pitchFamily="34" charset="-122"/>
                <a:cs typeface="Calibri" pitchFamily="34" charset="-120"/>
              </a:rPr>
              <a:t>baris, dengan masalah:</a:t>
            </a:r>
            <a:endParaRPr lang="en-US" sz="1200" dirty="0"/>
          </a:p>
        </p:txBody>
      </p:sp>
      <p:sp>
        <p:nvSpPr>
          <p:cNvPr id="9" name="Text 7"/>
          <p:cNvSpPr txBox="1"/>
          <p:nvPr/>
        </p:nvSpPr>
        <p:spPr>
          <a:xfrm>
            <a:off x="868680" y="4023360"/>
            <a:ext cx="4480560" cy="1554480"/>
          </a:xfrm>
          <a:prstGeom prst="rect">
            <a:avLst/>
          </a:prstGeom>
          <a:noFill/>
          <a:ln/>
        </p:spPr>
        <p:txBody>
          <a:bodyPr wrap="square" lIns="0" tIns="0" rIns="0" bIns="0" rtlCol="0" anchor="t"/>
          <a:lstStyle/>
          <a:p>
            <a:pPr marL="177800" indent="-177800">
              <a:buSzPct val="100000"/>
              <a:buChar char="✖"/>
            </a:pPr>
            <a:r>
              <a:rPr lang="en-US" sz="1250" dirty="0">
                <a:solidFill>
                  <a:srgbClr val="8A3320"/>
                </a:solidFill>
                <a:latin typeface="Calibri" pitchFamily="34" charset="0"/>
                <a:ea typeface="Calibri" pitchFamily="34" charset="-122"/>
                <a:cs typeface="Calibri" pitchFamily="34" charset="-120"/>
              </a:rPr>
              <a:t>Data order duplikat</a:t>
            </a:r>
            <a:endParaRPr lang="en-US" sz="1250" dirty="0"/>
          </a:p>
          <a:p>
            <a:pPr marL="177800" indent="-177800">
              <a:buSzPct val="100000"/>
              <a:buChar char="✖"/>
            </a:pPr>
            <a:r>
              <a:rPr lang="en-US" sz="1250" dirty="0">
                <a:solidFill>
                  <a:srgbClr val="8A3320"/>
                </a:solidFill>
                <a:latin typeface="Calibri" pitchFamily="34" charset="0"/>
                <a:ea typeface="Calibri" pitchFamily="34" charset="-122"/>
                <a:cs typeface="Calibri" pitchFamily="34" charset="-120"/>
              </a:rPr>
              <a:t>Nilai kosong di kolom penting</a:t>
            </a:r>
            <a:endParaRPr lang="en-US" sz="1250" dirty="0"/>
          </a:p>
          <a:p>
            <a:pPr marL="177800" indent="-177800">
              <a:buSzPct val="100000"/>
              <a:buChar char="✖"/>
            </a:pPr>
            <a:r>
              <a:rPr lang="en-US" sz="1250" dirty="0">
                <a:solidFill>
                  <a:srgbClr val="8A3320"/>
                </a:solidFill>
                <a:latin typeface="Calibri" pitchFamily="34" charset="0"/>
                <a:ea typeface="Calibri" pitchFamily="34" charset="-122"/>
                <a:cs typeface="Calibri" pitchFamily="34" charset="-120"/>
              </a:rPr>
              <a:t>Outlier revenue akibat kesalahan input</a:t>
            </a:r>
            <a:endParaRPr lang="en-US" sz="1250" dirty="0"/>
          </a:p>
          <a:p>
            <a:pPr marL="177800" indent="-177800">
              <a:buSzPct val="100000"/>
              <a:buChar char="✖"/>
            </a:pPr>
            <a:r>
              <a:rPr lang="en-US" sz="1250" dirty="0">
                <a:solidFill>
                  <a:srgbClr val="8A3320"/>
                </a:solidFill>
                <a:latin typeface="Calibri" pitchFamily="34" charset="0"/>
                <a:ea typeface="Calibri" pitchFamily="34" charset="-122"/>
                <a:cs typeface="Calibri" pitchFamily="34" charset="-120"/>
              </a:rPr>
              <a:t>Format tanggal &amp; kategori tidak konsisten</a:t>
            </a:r>
            <a:endParaRPr lang="en-US" sz="1250" dirty="0"/>
          </a:p>
        </p:txBody>
      </p:sp>
      <p:sp>
        <p:nvSpPr>
          <p:cNvPr id="10" name="Shape 8"/>
          <p:cNvSpPr/>
          <p:nvPr/>
        </p:nvSpPr>
        <p:spPr>
          <a:xfrm>
            <a:off x="6126480" y="2286000"/>
            <a:ext cx="5120640" cy="3566160"/>
          </a:xfrm>
          <a:prstGeom prst="roundRect">
            <a:avLst>
              <a:gd name="adj" fmla="val 2051"/>
            </a:avLst>
          </a:prstGeom>
          <a:solidFill>
            <a:srgbClr val="E7F5EE"/>
          </a:solidFill>
          <a:ln/>
        </p:spPr>
      </p:sp>
      <p:sp>
        <p:nvSpPr>
          <p:cNvPr id="11" name="Text 9"/>
          <p:cNvSpPr txBox="1"/>
          <p:nvPr/>
        </p:nvSpPr>
        <p:spPr>
          <a:xfrm>
            <a:off x="6446520" y="2514600"/>
            <a:ext cx="4480560" cy="320040"/>
          </a:xfrm>
          <a:prstGeom prst="rect">
            <a:avLst/>
          </a:prstGeom>
          <a:noFill/>
          <a:ln/>
        </p:spPr>
        <p:txBody>
          <a:bodyPr wrap="square" lIns="0" tIns="0" rIns="0" bIns="0" rtlCol="0" anchor="ctr"/>
          <a:lstStyle/>
          <a:p>
            <a:pPr indent="0" marL="0">
              <a:buNone/>
            </a:pPr>
            <a:r>
              <a:rPr lang="en-US" sz="1300" b="1" dirty="0">
                <a:solidFill>
                  <a:srgbClr val="1E7A4C"/>
                </a:solidFill>
                <a:latin typeface="Calibri" pitchFamily="34" charset="0"/>
                <a:ea typeface="Calibri" pitchFamily="34" charset="-122"/>
                <a:cs typeface="Calibri" pitchFamily="34" charset="-120"/>
              </a:rPr>
              <a:t>SESUDAH — Analysis-Ready</a:t>
            </a:r>
            <a:endParaRPr lang="en-US" sz="1300" dirty="0"/>
          </a:p>
        </p:txBody>
      </p:sp>
      <p:sp>
        <p:nvSpPr>
          <p:cNvPr id="12" name="Text 10"/>
          <p:cNvSpPr txBox="1"/>
          <p:nvPr/>
        </p:nvSpPr>
        <p:spPr>
          <a:xfrm>
            <a:off x="6446520" y="2880360"/>
            <a:ext cx="4480560" cy="777240"/>
          </a:xfrm>
          <a:prstGeom prst="rect">
            <a:avLst/>
          </a:prstGeom>
          <a:noFill/>
          <a:ln/>
        </p:spPr>
        <p:txBody>
          <a:bodyPr wrap="square" lIns="0" tIns="0" rIns="0" bIns="0" rtlCol="0" anchor="ctr"/>
          <a:lstStyle/>
          <a:p>
            <a:pPr indent="0" marL="0">
              <a:buNone/>
            </a:pPr>
            <a:r>
              <a:rPr lang="en-US" sz="4600" b="1" dirty="0">
                <a:solidFill>
                  <a:srgbClr val="1E7A4C"/>
                </a:solidFill>
                <a:latin typeface="Cambria" pitchFamily="34" charset="0"/>
                <a:ea typeface="Cambria" pitchFamily="34" charset="-122"/>
                <a:cs typeface="Cambria" pitchFamily="34" charset="-120"/>
              </a:rPr>
              <a:t>3.933</a:t>
            </a:r>
            <a:endParaRPr lang="en-US" sz="4600" dirty="0"/>
          </a:p>
        </p:txBody>
      </p:sp>
      <p:sp>
        <p:nvSpPr>
          <p:cNvPr id="13" name="Text 11"/>
          <p:cNvSpPr txBox="1"/>
          <p:nvPr/>
        </p:nvSpPr>
        <p:spPr>
          <a:xfrm>
            <a:off x="6446520" y="3657600"/>
            <a:ext cx="4480560" cy="274320"/>
          </a:xfrm>
          <a:prstGeom prst="rect">
            <a:avLst/>
          </a:prstGeom>
          <a:noFill/>
          <a:ln/>
        </p:spPr>
        <p:txBody>
          <a:bodyPr wrap="square" lIns="0" tIns="0" rIns="0" bIns="0" rtlCol="0" anchor="ctr"/>
          <a:lstStyle/>
          <a:p>
            <a:pPr indent="0" marL="0">
              <a:buNone/>
            </a:pPr>
            <a:r>
              <a:rPr lang="en-US" sz="1200" dirty="0">
                <a:solidFill>
                  <a:srgbClr val="2B6B4A"/>
                </a:solidFill>
                <a:latin typeface="Calibri" pitchFamily="34" charset="0"/>
                <a:ea typeface="Calibri" pitchFamily="34" charset="-122"/>
                <a:cs typeface="Calibri" pitchFamily="34" charset="-120"/>
              </a:rPr>
              <a:t>baris bersih, terverifikasi:</a:t>
            </a:r>
            <a:endParaRPr lang="en-US" sz="1200" dirty="0"/>
          </a:p>
        </p:txBody>
      </p:sp>
      <p:sp>
        <p:nvSpPr>
          <p:cNvPr id="14" name="Text 12"/>
          <p:cNvSpPr txBox="1"/>
          <p:nvPr/>
        </p:nvSpPr>
        <p:spPr>
          <a:xfrm>
            <a:off x="6446520" y="4023360"/>
            <a:ext cx="4480560" cy="1554480"/>
          </a:xfrm>
          <a:prstGeom prst="rect">
            <a:avLst/>
          </a:prstGeom>
          <a:noFill/>
          <a:ln/>
        </p:spPr>
        <p:txBody>
          <a:bodyPr wrap="square" lIns="0" tIns="0" rIns="0" bIns="0" rtlCol="0" anchor="t"/>
          <a:lstStyle/>
          <a:p>
            <a:pPr marL="177800" indent="-177800">
              <a:buSzPct val="100000"/>
              <a:buChar char="✔"/>
            </a:pPr>
            <a:r>
              <a:rPr lang="en-US" sz="1250" dirty="0">
                <a:solidFill>
                  <a:srgbClr val="2B6B4A"/>
                </a:solidFill>
                <a:latin typeface="Calibri" pitchFamily="34" charset="0"/>
                <a:ea typeface="Calibri" pitchFamily="34" charset="-122"/>
                <a:cs typeface="Calibri" pitchFamily="34" charset="-120"/>
              </a:rPr>
              <a:t>0 baris duplikat tersisa</a:t>
            </a:r>
            <a:endParaRPr lang="en-US" sz="1250" dirty="0"/>
          </a:p>
          <a:p>
            <a:pPr marL="177800" indent="-177800">
              <a:buSzPct val="100000"/>
              <a:buChar char="✔"/>
            </a:pPr>
            <a:r>
              <a:rPr lang="en-US" sz="1250" dirty="0">
                <a:solidFill>
                  <a:srgbClr val="2B6B4A"/>
                </a:solidFill>
                <a:latin typeface="Calibri" pitchFamily="34" charset="0"/>
                <a:ea typeface="Calibri" pitchFamily="34" charset="-122"/>
                <a:cs typeface="Calibri" pitchFamily="34" charset="-120"/>
              </a:rPr>
              <a:t>0 nilai kosong di seluruh 12 kolom</a:t>
            </a:r>
            <a:endParaRPr lang="en-US" sz="1250" dirty="0"/>
          </a:p>
          <a:p>
            <a:pPr marL="177800" indent="-177800">
              <a:buSzPct val="100000"/>
              <a:buChar char="✔"/>
            </a:pPr>
            <a:r>
              <a:rPr lang="en-US" sz="1250" dirty="0">
                <a:solidFill>
                  <a:srgbClr val="2B6B4A"/>
                </a:solidFill>
                <a:latin typeface="Calibri" pitchFamily="34" charset="0"/>
                <a:ea typeface="Calibri" pitchFamily="34" charset="-122"/>
                <a:cs typeface="Calibri" pitchFamily="34" charset="-120"/>
              </a:rPr>
              <a:t>Outlier sudah ditinjau dan dikoreksi</a:t>
            </a:r>
            <a:endParaRPr lang="en-US" sz="1250" dirty="0"/>
          </a:p>
          <a:p>
            <a:pPr marL="177800" indent="-177800">
              <a:buSzPct val="100000"/>
              <a:buChar char="✔"/>
            </a:pPr>
            <a:r>
              <a:rPr lang="en-US" sz="1250" dirty="0">
                <a:solidFill>
                  <a:srgbClr val="2B6B4A"/>
                </a:solidFill>
                <a:latin typeface="Calibri" pitchFamily="34" charset="0"/>
                <a:ea typeface="Calibri" pitchFamily="34" charset="-122"/>
                <a:cs typeface="Calibri" pitchFamily="34" charset="-120"/>
              </a:rPr>
              <a:t>Format tanggal &amp; kategori terstandarisasi</a:t>
            </a:r>
            <a:endParaRPr lang="en-US" sz="1250" dirty="0"/>
          </a:p>
        </p:txBody>
      </p:sp>
      <p:sp>
        <p:nvSpPr>
          <p:cNvPr id="15" name="Text 13"/>
          <p:cNvSpPr txBox="1"/>
          <p:nvPr/>
        </p:nvSpPr>
        <p:spPr>
          <a:xfrm>
            <a:off x="5724144" y="3749040"/>
            <a:ext cx="365760" cy="640080"/>
          </a:xfrm>
          <a:prstGeom prst="rect">
            <a:avLst/>
          </a:prstGeom>
          <a:noFill/>
          <a:ln/>
        </p:spPr>
        <p:txBody>
          <a:bodyPr wrap="square" lIns="0" tIns="0" rIns="0" bIns="0" rtlCol="0" anchor="ctr"/>
          <a:lstStyle/>
          <a:p>
            <a:pPr algn="ctr" indent="0" marL="0">
              <a:buNone/>
            </a:pPr>
            <a:r>
              <a:rPr lang="en-US" sz="2800" b="1" dirty="0">
                <a:solidFill>
                  <a:srgbClr val="FF6B4A"/>
                </a:solidFill>
                <a:latin typeface="Calibri" pitchFamily="34" charset="0"/>
                <a:ea typeface="Calibri" pitchFamily="34" charset="-122"/>
                <a:cs typeface="Calibri" pitchFamily="34" charset="-120"/>
              </a:rPr>
              <a:t>→</a:t>
            </a:r>
            <a:endParaRPr lang="en-US" sz="2800" dirty="0"/>
          </a:p>
        </p:txBody>
      </p:sp>
      <p:sp>
        <p:nvSpPr>
          <p:cNvPr id="16" name="Text 14"/>
          <p:cNvSpPr txBox="1"/>
          <p:nvPr/>
        </p:nvSpPr>
        <p:spPr>
          <a:xfrm>
            <a:off x="548640" y="5989320"/>
            <a:ext cx="10881360" cy="365760"/>
          </a:xfrm>
          <a:prstGeom prst="rect">
            <a:avLst/>
          </a:prstGeom>
          <a:noFill/>
          <a:ln/>
        </p:spPr>
        <p:txBody>
          <a:bodyPr wrap="square" lIns="0" tIns="0" rIns="0" bIns="0" rtlCol="0" anchor="ctr"/>
          <a:lstStyle/>
          <a:p>
            <a:pPr indent="0" marL="0">
              <a:buNone/>
            </a:pPr>
            <a:r>
              <a:rPr lang="en-US" sz="1200" i="1" dirty="0">
                <a:solidFill>
                  <a:srgbClr val="5B6B85"/>
                </a:solidFill>
                <a:latin typeface="Calibri" pitchFamily="34" charset="0"/>
                <a:ea typeface="Calibri" pitchFamily="34" charset="-122"/>
                <a:cs typeface="Calibri" pitchFamily="34" charset="-120"/>
              </a:rPr>
              <a:t>167 baris (4,1%) dihapus atau dikoreksi — setiap KPI di laporan ini dihitung dari dataset bersih 3.933 baris.</a:t>
            </a:r>
            <a:endParaRPr lang="en-US" sz="1200" dirty="0"/>
          </a:p>
        </p:txBody>
      </p:sp>
      <p:sp>
        <p:nvSpPr>
          <p:cNvPr id="17" name="Text 15"/>
          <p:cNvSpPr txBox="1"/>
          <p:nvPr/>
        </p:nvSpPr>
        <p:spPr>
          <a:xfrm>
            <a:off x="457200" y="6537960"/>
            <a:ext cx="7315200" cy="274320"/>
          </a:xfrm>
          <a:prstGeom prst="rect">
            <a:avLst/>
          </a:prstGeom>
          <a:noFill/>
          <a:ln/>
        </p:spPr>
        <p:txBody>
          <a:bodyPr wrap="square" lIns="0" tIns="0" rIns="0" bIns="0" rtlCol="0" anchor="ctr"/>
          <a:lstStyle/>
          <a:p>
            <a:pPr indent="0" marL="0">
              <a:buNone/>
            </a:pPr>
            <a:r>
              <a:rPr lang="en-US" sz="900" dirty="0">
                <a:solidFill>
                  <a:srgbClr val="5B6B85"/>
                </a:solidFill>
                <a:latin typeface="Calibri" pitchFamily="34" charset="0"/>
                <a:ea typeface="Calibri" pitchFamily="34" charset="-122"/>
                <a:cs typeface="Calibri" pitchFamily="34" charset="-120"/>
              </a:rPr>
              <a:t>Analisis Penjualan E-Commerce — Studi Kasus Bisnis</a:t>
            </a:r>
            <a:endParaRPr lang="en-US" sz="900" dirty="0"/>
          </a:p>
        </p:txBody>
      </p:sp>
      <p:sp>
        <p:nvSpPr>
          <p:cNvPr id="18" name="Text 16"/>
          <p:cNvSpPr txBox="1"/>
          <p:nvPr/>
        </p:nvSpPr>
        <p:spPr>
          <a:xfrm>
            <a:off x="11274552" y="6537960"/>
            <a:ext cx="457200" cy="274320"/>
          </a:xfrm>
          <a:prstGeom prst="rect">
            <a:avLst/>
          </a:prstGeom>
          <a:noFill/>
          <a:ln/>
        </p:spPr>
        <p:txBody>
          <a:bodyPr wrap="square" lIns="0" tIns="0" rIns="0" bIns="0" rtlCol="0" anchor="ctr"/>
          <a:lstStyle/>
          <a:p>
            <a:pPr algn="r" indent="0" marL="0">
              <a:buNone/>
            </a:pPr>
            <a:r>
              <a:rPr lang="en-US" sz="900" dirty="0">
                <a:solidFill>
                  <a:srgbClr val="5B6B85"/>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AF1FB"/>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FF6B4A"/>
                </a:solidFill>
                <a:latin typeface="Calibri" pitchFamily="34" charset="0"/>
                <a:ea typeface="Calibri" pitchFamily="34" charset="-122"/>
                <a:cs typeface="Calibri" pitchFamily="34" charset="-120"/>
              </a:rPr>
              <a:t>RINGKASAN KPI</a:t>
            </a:r>
            <a:endParaRPr lang="en-US" sz="1300" dirty="0"/>
          </a:p>
        </p:txBody>
      </p:sp>
      <p:sp>
        <p:nvSpPr>
          <p:cNvPr id="3" name="Text 1"/>
          <p:cNvSpPr txBox="1"/>
          <p:nvPr/>
        </p:nvSpPr>
        <p:spPr>
          <a:xfrm>
            <a:off x="548640" y="658368"/>
            <a:ext cx="10515600" cy="73152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Bisnis dalam Satu Pandangan</a:t>
            </a:r>
            <a:endParaRPr lang="en-US" sz="3000" dirty="0"/>
          </a:p>
        </p:txBody>
      </p:sp>
      <p:sp>
        <p:nvSpPr>
          <p:cNvPr id="4" name="Shape 2"/>
          <p:cNvSpPr/>
          <p:nvPr/>
        </p:nvSpPr>
        <p:spPr>
          <a:xfrm>
            <a:off x="548640" y="1554480"/>
            <a:ext cx="2514600" cy="2331720"/>
          </a:xfrm>
          <a:prstGeom prst="roundRect">
            <a:avLst>
              <a:gd name="adj" fmla="val 3529"/>
            </a:avLst>
          </a:prstGeom>
          <a:solidFill>
            <a:srgbClr val="FFFFFF"/>
          </a:solidFill>
          <a:ln/>
          <a:effectLst>
            <a:outerShdw sx="100000" sy="100000" kx="0" ky="0" algn="bl" rotWithShape="0" blurRad="101600" dist="38100" dir="5400000">
              <a:srgbClr val="1B2A4A">
                <a:alpha val="12000"/>
              </a:srgbClr>
            </a:outerShdw>
          </a:effectLst>
        </p:spPr>
      </p:sp>
      <p:sp>
        <p:nvSpPr>
          <p:cNvPr id="5" name="Shape 3"/>
          <p:cNvSpPr/>
          <p:nvPr/>
        </p:nvSpPr>
        <p:spPr>
          <a:xfrm>
            <a:off x="548640" y="1554480"/>
            <a:ext cx="2514600" cy="82296"/>
          </a:xfrm>
          <a:prstGeom prst="rect">
            <a:avLst/>
          </a:prstGeom>
          <a:solidFill>
            <a:srgbClr val="FF6B4A"/>
          </a:solidFill>
          <a:ln/>
        </p:spPr>
      </p:sp>
      <p:sp>
        <p:nvSpPr>
          <p:cNvPr id="6" name="Text 4"/>
          <p:cNvSpPr txBox="1"/>
          <p:nvPr/>
        </p:nvSpPr>
        <p:spPr>
          <a:xfrm>
            <a:off x="713232" y="1810512"/>
            <a:ext cx="2185416" cy="594360"/>
          </a:xfrm>
          <a:prstGeom prst="rect">
            <a:avLst/>
          </a:prstGeom>
          <a:noFill/>
          <a:ln/>
        </p:spPr>
        <p:txBody>
          <a:bodyPr wrap="square" lIns="0" tIns="0" rIns="0" bIns="0" rtlCol="0" anchor="ctr"/>
          <a:lstStyle/>
          <a:p>
            <a:pPr indent="0" marL="0">
              <a:buNone/>
            </a:pPr>
            <a:r>
              <a:rPr lang="en-US" sz="2500" b="1" dirty="0">
                <a:solidFill>
                  <a:srgbClr val="1B2A4A"/>
                </a:solidFill>
                <a:latin typeface="Cambria" pitchFamily="34" charset="0"/>
                <a:ea typeface="Cambria" pitchFamily="34" charset="-122"/>
                <a:cs typeface="Cambria" pitchFamily="34" charset="-120"/>
              </a:rPr>
              <a:t>$306.842</a:t>
            </a:r>
            <a:endParaRPr lang="en-US" sz="2500" dirty="0"/>
          </a:p>
        </p:txBody>
      </p:sp>
      <p:sp>
        <p:nvSpPr>
          <p:cNvPr id="7" name="Text 5"/>
          <p:cNvSpPr txBox="1"/>
          <p:nvPr/>
        </p:nvSpPr>
        <p:spPr>
          <a:xfrm>
            <a:off x="713232" y="2414016"/>
            <a:ext cx="2185416" cy="274320"/>
          </a:xfrm>
          <a:prstGeom prst="rect">
            <a:avLst/>
          </a:prstGeom>
          <a:noFill/>
          <a:ln/>
        </p:spPr>
        <p:txBody>
          <a:bodyPr wrap="square" lIns="0" tIns="0" rIns="0" bIns="0" rtlCol="0" anchor="ctr"/>
          <a:lstStyle/>
          <a:p>
            <a:pPr indent="0" marL="0">
              <a:buNone/>
            </a:pPr>
            <a:r>
              <a:rPr lang="en-US" sz="1100" b="1" dirty="0">
                <a:solidFill>
                  <a:srgbClr val="5B6B85"/>
                </a:solidFill>
                <a:latin typeface="Calibri" pitchFamily="34" charset="0"/>
                <a:ea typeface="Calibri" pitchFamily="34" charset="-122"/>
                <a:cs typeface="Calibri" pitchFamily="34" charset="-120"/>
              </a:rPr>
              <a:t>Total Revenue (Gross)</a:t>
            </a:r>
            <a:endParaRPr lang="en-US" sz="1100" dirty="0"/>
          </a:p>
        </p:txBody>
      </p:sp>
      <p:sp>
        <p:nvSpPr>
          <p:cNvPr id="8" name="Shape 6"/>
          <p:cNvSpPr/>
          <p:nvPr/>
        </p:nvSpPr>
        <p:spPr>
          <a:xfrm>
            <a:off x="713232" y="2779776"/>
            <a:ext cx="2185416" cy="0"/>
          </a:xfrm>
          <a:prstGeom prst="line">
            <a:avLst/>
          </a:prstGeom>
          <a:noFill/>
          <a:ln w="12700">
            <a:solidFill>
              <a:srgbClr val="E3E9F2"/>
            </a:solidFill>
            <a:prstDash val="solid"/>
          </a:ln>
        </p:spPr>
      </p:sp>
      <p:sp>
        <p:nvSpPr>
          <p:cNvPr id="9" name="Text 7"/>
          <p:cNvSpPr txBox="1"/>
          <p:nvPr/>
        </p:nvSpPr>
        <p:spPr>
          <a:xfrm>
            <a:off x="713232" y="2889504"/>
            <a:ext cx="2185416" cy="457200"/>
          </a:xfrm>
          <a:prstGeom prst="rect">
            <a:avLst/>
          </a:prstGeom>
          <a:noFill/>
          <a:ln/>
        </p:spPr>
        <p:txBody>
          <a:bodyPr wrap="square" lIns="0" tIns="0" rIns="0" bIns="0" rtlCol="0" anchor="ctr"/>
          <a:lstStyle/>
          <a:p>
            <a:pPr indent="0" marL="0">
              <a:buNone/>
            </a:pPr>
            <a:r>
              <a:rPr lang="en-US" sz="1900" b="1" dirty="0">
                <a:solidFill>
                  <a:srgbClr val="1E7A4C"/>
                </a:solidFill>
                <a:latin typeface="Cambria" pitchFamily="34" charset="0"/>
                <a:ea typeface="Cambria" pitchFamily="34" charset="-122"/>
                <a:cs typeface="Cambria" pitchFamily="34" charset="-120"/>
              </a:rPr>
              <a:t>$252.228</a:t>
            </a:r>
            <a:endParaRPr lang="en-US" sz="1900" dirty="0"/>
          </a:p>
        </p:txBody>
      </p:sp>
      <p:sp>
        <p:nvSpPr>
          <p:cNvPr id="10" name="Text 8"/>
          <p:cNvSpPr txBox="1"/>
          <p:nvPr/>
        </p:nvSpPr>
        <p:spPr>
          <a:xfrm>
            <a:off x="713232" y="3328416"/>
            <a:ext cx="2185416" cy="457200"/>
          </a:xfrm>
          <a:prstGeom prst="rect">
            <a:avLst/>
          </a:prstGeom>
          <a:noFill/>
          <a:ln/>
        </p:spPr>
        <p:txBody>
          <a:bodyPr wrap="square" lIns="0" tIns="0" rIns="0" bIns="0" rtlCol="0" anchor="ctr"/>
          <a:lstStyle/>
          <a:p>
            <a:pPr indent="0" marL="0">
              <a:buNone/>
            </a:pPr>
            <a:r>
              <a:rPr lang="en-US" sz="1050" dirty="0">
                <a:solidFill>
                  <a:srgbClr val="5B6B85"/>
                </a:solidFill>
                <a:latin typeface="Calibri" pitchFamily="34" charset="0"/>
                <a:ea typeface="Calibri" pitchFamily="34" charset="-122"/>
                <a:cs typeface="Calibri" pitchFamily="34" charset="-120"/>
              </a:rPr>
              <a:t>Completed (82,2%)</a:t>
            </a:r>
            <a:endParaRPr lang="en-US" sz="1050" dirty="0"/>
          </a:p>
        </p:txBody>
      </p:sp>
      <p:sp>
        <p:nvSpPr>
          <p:cNvPr id="11" name="Shape 9"/>
          <p:cNvSpPr/>
          <p:nvPr/>
        </p:nvSpPr>
        <p:spPr>
          <a:xfrm>
            <a:off x="3310128" y="1554480"/>
            <a:ext cx="2514600" cy="2331720"/>
          </a:xfrm>
          <a:prstGeom prst="roundRect">
            <a:avLst>
              <a:gd name="adj" fmla="val 3529"/>
            </a:avLst>
          </a:prstGeom>
          <a:solidFill>
            <a:srgbClr val="FFFFFF"/>
          </a:solidFill>
          <a:ln/>
          <a:effectLst>
            <a:outerShdw sx="100000" sy="100000" kx="0" ky="0" algn="bl" rotWithShape="0" blurRad="101600" dist="38100" dir="5400000">
              <a:srgbClr val="1B2A4A">
                <a:alpha val="12000"/>
              </a:srgbClr>
            </a:outerShdw>
          </a:effectLst>
        </p:spPr>
      </p:sp>
      <p:sp>
        <p:nvSpPr>
          <p:cNvPr id="12" name="Shape 10"/>
          <p:cNvSpPr/>
          <p:nvPr/>
        </p:nvSpPr>
        <p:spPr>
          <a:xfrm>
            <a:off x="3310128" y="1554480"/>
            <a:ext cx="2514600" cy="82296"/>
          </a:xfrm>
          <a:prstGeom prst="rect">
            <a:avLst/>
          </a:prstGeom>
          <a:solidFill>
            <a:srgbClr val="FF6B4A"/>
          </a:solidFill>
          <a:ln/>
        </p:spPr>
      </p:sp>
      <p:sp>
        <p:nvSpPr>
          <p:cNvPr id="13" name="Text 11"/>
          <p:cNvSpPr txBox="1"/>
          <p:nvPr/>
        </p:nvSpPr>
        <p:spPr>
          <a:xfrm>
            <a:off x="3474720" y="1810512"/>
            <a:ext cx="2185416" cy="594360"/>
          </a:xfrm>
          <a:prstGeom prst="rect">
            <a:avLst/>
          </a:prstGeom>
          <a:noFill/>
          <a:ln/>
        </p:spPr>
        <p:txBody>
          <a:bodyPr wrap="square" lIns="0" tIns="0" rIns="0" bIns="0" rtlCol="0" anchor="ctr"/>
          <a:lstStyle/>
          <a:p>
            <a:pPr indent="0" marL="0">
              <a:buNone/>
            </a:pPr>
            <a:r>
              <a:rPr lang="en-US" sz="2500" b="1" dirty="0">
                <a:solidFill>
                  <a:srgbClr val="1B2A4A"/>
                </a:solidFill>
                <a:latin typeface="Cambria" pitchFamily="34" charset="0"/>
                <a:ea typeface="Cambria" pitchFamily="34" charset="-122"/>
                <a:cs typeface="Cambria" pitchFamily="34" charset="-120"/>
              </a:rPr>
              <a:t>3.933</a:t>
            </a:r>
            <a:endParaRPr lang="en-US" sz="2500" dirty="0"/>
          </a:p>
        </p:txBody>
      </p:sp>
      <p:sp>
        <p:nvSpPr>
          <p:cNvPr id="14" name="Text 12"/>
          <p:cNvSpPr txBox="1"/>
          <p:nvPr/>
        </p:nvSpPr>
        <p:spPr>
          <a:xfrm>
            <a:off x="3474720" y="2414016"/>
            <a:ext cx="2185416" cy="274320"/>
          </a:xfrm>
          <a:prstGeom prst="rect">
            <a:avLst/>
          </a:prstGeom>
          <a:noFill/>
          <a:ln/>
        </p:spPr>
        <p:txBody>
          <a:bodyPr wrap="square" lIns="0" tIns="0" rIns="0" bIns="0" rtlCol="0" anchor="ctr"/>
          <a:lstStyle/>
          <a:p>
            <a:pPr indent="0" marL="0">
              <a:buNone/>
            </a:pPr>
            <a:r>
              <a:rPr lang="en-US" sz="1100" b="1" dirty="0">
                <a:solidFill>
                  <a:srgbClr val="5B6B85"/>
                </a:solidFill>
                <a:latin typeface="Calibri" pitchFamily="34" charset="0"/>
                <a:ea typeface="Calibri" pitchFamily="34" charset="-122"/>
                <a:cs typeface="Calibri" pitchFamily="34" charset="-120"/>
              </a:rPr>
              <a:t>Total Orders (Gross)</a:t>
            </a:r>
            <a:endParaRPr lang="en-US" sz="1100" dirty="0"/>
          </a:p>
        </p:txBody>
      </p:sp>
      <p:sp>
        <p:nvSpPr>
          <p:cNvPr id="15" name="Shape 13"/>
          <p:cNvSpPr/>
          <p:nvPr/>
        </p:nvSpPr>
        <p:spPr>
          <a:xfrm>
            <a:off x="3474720" y="2779776"/>
            <a:ext cx="2185416" cy="0"/>
          </a:xfrm>
          <a:prstGeom prst="line">
            <a:avLst/>
          </a:prstGeom>
          <a:noFill/>
          <a:ln w="12700">
            <a:solidFill>
              <a:srgbClr val="E3E9F2"/>
            </a:solidFill>
            <a:prstDash val="solid"/>
          </a:ln>
        </p:spPr>
      </p:sp>
      <p:sp>
        <p:nvSpPr>
          <p:cNvPr id="16" name="Text 14"/>
          <p:cNvSpPr txBox="1"/>
          <p:nvPr/>
        </p:nvSpPr>
        <p:spPr>
          <a:xfrm>
            <a:off x="3474720" y="2889504"/>
            <a:ext cx="2185416" cy="457200"/>
          </a:xfrm>
          <a:prstGeom prst="rect">
            <a:avLst/>
          </a:prstGeom>
          <a:noFill/>
          <a:ln/>
        </p:spPr>
        <p:txBody>
          <a:bodyPr wrap="square" lIns="0" tIns="0" rIns="0" bIns="0" rtlCol="0" anchor="ctr"/>
          <a:lstStyle/>
          <a:p>
            <a:pPr indent="0" marL="0">
              <a:buNone/>
            </a:pPr>
            <a:r>
              <a:rPr lang="en-US" sz="1900" b="1" dirty="0">
                <a:solidFill>
                  <a:srgbClr val="1E7A4C"/>
                </a:solidFill>
                <a:latin typeface="Cambria" pitchFamily="34" charset="0"/>
                <a:ea typeface="Cambria" pitchFamily="34" charset="-122"/>
                <a:cs typeface="Cambria" pitchFamily="34" charset="-120"/>
              </a:rPr>
              <a:t>3.220</a:t>
            </a:r>
            <a:endParaRPr lang="en-US" sz="1900" dirty="0"/>
          </a:p>
        </p:txBody>
      </p:sp>
      <p:sp>
        <p:nvSpPr>
          <p:cNvPr id="17" name="Text 15"/>
          <p:cNvSpPr txBox="1"/>
          <p:nvPr/>
        </p:nvSpPr>
        <p:spPr>
          <a:xfrm>
            <a:off x="3474720" y="3328416"/>
            <a:ext cx="2185416" cy="457200"/>
          </a:xfrm>
          <a:prstGeom prst="rect">
            <a:avLst/>
          </a:prstGeom>
          <a:noFill/>
          <a:ln/>
        </p:spPr>
        <p:txBody>
          <a:bodyPr wrap="square" lIns="0" tIns="0" rIns="0" bIns="0" rtlCol="0" anchor="ctr"/>
          <a:lstStyle/>
          <a:p>
            <a:pPr indent="0" marL="0">
              <a:buNone/>
            </a:pPr>
            <a:r>
              <a:rPr lang="en-US" sz="1050" dirty="0">
                <a:solidFill>
                  <a:srgbClr val="5B6B85"/>
                </a:solidFill>
                <a:latin typeface="Calibri" pitchFamily="34" charset="0"/>
                <a:ea typeface="Calibri" pitchFamily="34" charset="-122"/>
                <a:cs typeface="Calibri" pitchFamily="34" charset="-120"/>
              </a:rPr>
              <a:t>Completed (81,9%)</a:t>
            </a:r>
            <a:endParaRPr lang="en-US" sz="1050" dirty="0"/>
          </a:p>
        </p:txBody>
      </p:sp>
      <p:sp>
        <p:nvSpPr>
          <p:cNvPr id="18" name="Shape 16"/>
          <p:cNvSpPr/>
          <p:nvPr/>
        </p:nvSpPr>
        <p:spPr>
          <a:xfrm>
            <a:off x="6071616" y="1554480"/>
            <a:ext cx="2514600" cy="2331720"/>
          </a:xfrm>
          <a:prstGeom prst="roundRect">
            <a:avLst>
              <a:gd name="adj" fmla="val 3529"/>
            </a:avLst>
          </a:prstGeom>
          <a:solidFill>
            <a:srgbClr val="FFFFFF"/>
          </a:solidFill>
          <a:ln/>
          <a:effectLst>
            <a:outerShdw sx="100000" sy="100000" kx="0" ky="0" algn="bl" rotWithShape="0" blurRad="101600" dist="38100" dir="5400000">
              <a:srgbClr val="1B2A4A">
                <a:alpha val="12000"/>
              </a:srgbClr>
            </a:outerShdw>
          </a:effectLst>
        </p:spPr>
      </p:sp>
      <p:sp>
        <p:nvSpPr>
          <p:cNvPr id="19" name="Shape 17"/>
          <p:cNvSpPr/>
          <p:nvPr/>
        </p:nvSpPr>
        <p:spPr>
          <a:xfrm>
            <a:off x="6071616" y="1554480"/>
            <a:ext cx="2514600" cy="82296"/>
          </a:xfrm>
          <a:prstGeom prst="rect">
            <a:avLst/>
          </a:prstGeom>
          <a:solidFill>
            <a:srgbClr val="FF6B4A"/>
          </a:solidFill>
          <a:ln/>
        </p:spPr>
      </p:sp>
      <p:sp>
        <p:nvSpPr>
          <p:cNvPr id="20" name="Text 18"/>
          <p:cNvSpPr txBox="1"/>
          <p:nvPr/>
        </p:nvSpPr>
        <p:spPr>
          <a:xfrm>
            <a:off x="6236208" y="1810512"/>
            <a:ext cx="2185416" cy="594360"/>
          </a:xfrm>
          <a:prstGeom prst="rect">
            <a:avLst/>
          </a:prstGeom>
          <a:noFill/>
          <a:ln/>
        </p:spPr>
        <p:txBody>
          <a:bodyPr wrap="square" lIns="0" tIns="0" rIns="0" bIns="0" rtlCol="0" anchor="ctr"/>
          <a:lstStyle/>
          <a:p>
            <a:pPr indent="0" marL="0">
              <a:buNone/>
            </a:pPr>
            <a:r>
              <a:rPr lang="en-US" sz="2500" b="1" dirty="0">
                <a:solidFill>
                  <a:srgbClr val="1B2A4A"/>
                </a:solidFill>
                <a:latin typeface="Cambria" pitchFamily="34" charset="0"/>
                <a:ea typeface="Cambria" pitchFamily="34" charset="-122"/>
                <a:cs typeface="Cambria" pitchFamily="34" charset="-120"/>
              </a:rPr>
              <a:t>889</a:t>
            </a:r>
            <a:endParaRPr lang="en-US" sz="2500" dirty="0"/>
          </a:p>
        </p:txBody>
      </p:sp>
      <p:sp>
        <p:nvSpPr>
          <p:cNvPr id="21" name="Text 19"/>
          <p:cNvSpPr txBox="1"/>
          <p:nvPr/>
        </p:nvSpPr>
        <p:spPr>
          <a:xfrm>
            <a:off x="6236208" y="2414016"/>
            <a:ext cx="2185416" cy="274320"/>
          </a:xfrm>
          <a:prstGeom prst="rect">
            <a:avLst/>
          </a:prstGeom>
          <a:noFill/>
          <a:ln/>
        </p:spPr>
        <p:txBody>
          <a:bodyPr wrap="square" lIns="0" tIns="0" rIns="0" bIns="0" rtlCol="0" anchor="ctr"/>
          <a:lstStyle/>
          <a:p>
            <a:pPr indent="0" marL="0">
              <a:buNone/>
            </a:pPr>
            <a:r>
              <a:rPr lang="en-US" sz="1100" b="1" dirty="0">
                <a:solidFill>
                  <a:srgbClr val="5B6B85"/>
                </a:solidFill>
                <a:latin typeface="Calibri" pitchFamily="34" charset="0"/>
                <a:ea typeface="Calibri" pitchFamily="34" charset="-122"/>
                <a:cs typeface="Calibri" pitchFamily="34" charset="-120"/>
              </a:rPr>
              <a:t>Total Customers</a:t>
            </a:r>
            <a:endParaRPr lang="en-US" sz="1100" dirty="0"/>
          </a:p>
        </p:txBody>
      </p:sp>
      <p:sp>
        <p:nvSpPr>
          <p:cNvPr id="22" name="Text 20"/>
          <p:cNvSpPr txBox="1"/>
          <p:nvPr/>
        </p:nvSpPr>
        <p:spPr>
          <a:xfrm>
            <a:off x="6236208" y="2889504"/>
            <a:ext cx="2185416" cy="822960"/>
          </a:xfrm>
          <a:prstGeom prst="rect">
            <a:avLst/>
          </a:prstGeom>
          <a:noFill/>
          <a:ln/>
        </p:spPr>
        <p:txBody>
          <a:bodyPr wrap="square" lIns="0" tIns="0" rIns="0" bIns="0" rtlCol="0" anchor="ctr"/>
          <a:lstStyle/>
          <a:p>
            <a:pPr indent="0" marL="0">
              <a:lnSpc>
                <a:spcPct val="120000"/>
              </a:lnSpc>
              <a:buNone/>
            </a:pPr>
            <a:r>
              <a:rPr lang="en-US" sz="1100" dirty="0">
                <a:solidFill>
                  <a:srgbClr val="5B6B85"/>
                </a:solidFill>
                <a:latin typeface="Calibri" pitchFamily="34" charset="0"/>
                <a:ea typeface="Calibri" pitchFamily="34" charset="-122"/>
                <a:cs typeface="Calibri" pitchFamily="34" charset="-120"/>
              </a:rPr>
              <a:t>98,8% order dari repeat customer</a:t>
            </a:r>
            <a:endParaRPr lang="en-US" sz="1100" dirty="0"/>
          </a:p>
        </p:txBody>
      </p:sp>
      <p:sp>
        <p:nvSpPr>
          <p:cNvPr id="23" name="Shape 21"/>
          <p:cNvSpPr/>
          <p:nvPr/>
        </p:nvSpPr>
        <p:spPr>
          <a:xfrm>
            <a:off x="8833104" y="1554480"/>
            <a:ext cx="2514600" cy="2331720"/>
          </a:xfrm>
          <a:prstGeom prst="roundRect">
            <a:avLst>
              <a:gd name="adj" fmla="val 3529"/>
            </a:avLst>
          </a:prstGeom>
          <a:solidFill>
            <a:srgbClr val="FFFFFF"/>
          </a:solidFill>
          <a:ln/>
          <a:effectLst>
            <a:outerShdw sx="100000" sy="100000" kx="0" ky="0" algn="bl" rotWithShape="0" blurRad="101600" dist="38100" dir="5400000">
              <a:srgbClr val="1B2A4A">
                <a:alpha val="12000"/>
              </a:srgbClr>
            </a:outerShdw>
          </a:effectLst>
        </p:spPr>
      </p:sp>
      <p:sp>
        <p:nvSpPr>
          <p:cNvPr id="24" name="Shape 22"/>
          <p:cNvSpPr/>
          <p:nvPr/>
        </p:nvSpPr>
        <p:spPr>
          <a:xfrm>
            <a:off x="8833104" y="1554480"/>
            <a:ext cx="2514600" cy="82296"/>
          </a:xfrm>
          <a:prstGeom prst="rect">
            <a:avLst/>
          </a:prstGeom>
          <a:solidFill>
            <a:srgbClr val="FF6B4A"/>
          </a:solidFill>
          <a:ln/>
        </p:spPr>
      </p:sp>
      <p:sp>
        <p:nvSpPr>
          <p:cNvPr id="25" name="Text 23"/>
          <p:cNvSpPr txBox="1"/>
          <p:nvPr/>
        </p:nvSpPr>
        <p:spPr>
          <a:xfrm>
            <a:off x="8997696" y="1810512"/>
            <a:ext cx="2185416" cy="594360"/>
          </a:xfrm>
          <a:prstGeom prst="rect">
            <a:avLst/>
          </a:prstGeom>
          <a:noFill/>
          <a:ln/>
        </p:spPr>
        <p:txBody>
          <a:bodyPr wrap="square" lIns="0" tIns="0" rIns="0" bIns="0" rtlCol="0" anchor="ctr"/>
          <a:lstStyle/>
          <a:p>
            <a:pPr indent="0" marL="0">
              <a:buNone/>
            </a:pPr>
            <a:r>
              <a:rPr lang="en-US" sz="2500" b="1" dirty="0">
                <a:solidFill>
                  <a:srgbClr val="1B2A4A"/>
                </a:solidFill>
                <a:latin typeface="Cambria" pitchFamily="34" charset="0"/>
                <a:ea typeface="Cambria" pitchFamily="34" charset="-122"/>
                <a:cs typeface="Cambria" pitchFamily="34" charset="-120"/>
              </a:rPr>
              <a:t>$78,02</a:t>
            </a:r>
            <a:endParaRPr lang="en-US" sz="2500" dirty="0"/>
          </a:p>
        </p:txBody>
      </p:sp>
      <p:sp>
        <p:nvSpPr>
          <p:cNvPr id="26" name="Text 24"/>
          <p:cNvSpPr txBox="1"/>
          <p:nvPr/>
        </p:nvSpPr>
        <p:spPr>
          <a:xfrm>
            <a:off x="8997696" y="2414016"/>
            <a:ext cx="2185416" cy="274320"/>
          </a:xfrm>
          <a:prstGeom prst="rect">
            <a:avLst/>
          </a:prstGeom>
          <a:noFill/>
          <a:ln/>
        </p:spPr>
        <p:txBody>
          <a:bodyPr wrap="square" lIns="0" tIns="0" rIns="0" bIns="0" rtlCol="0" anchor="ctr"/>
          <a:lstStyle/>
          <a:p>
            <a:pPr indent="0" marL="0">
              <a:buNone/>
            </a:pPr>
            <a:r>
              <a:rPr lang="en-US" sz="1100" b="1" dirty="0">
                <a:solidFill>
                  <a:srgbClr val="5B6B85"/>
                </a:solidFill>
                <a:latin typeface="Calibri" pitchFamily="34" charset="0"/>
                <a:ea typeface="Calibri" pitchFamily="34" charset="-122"/>
                <a:cs typeface="Calibri" pitchFamily="34" charset="-120"/>
              </a:rPr>
              <a:t>Avg. Order Value (Gross)</a:t>
            </a:r>
            <a:endParaRPr lang="en-US" sz="1100" dirty="0"/>
          </a:p>
        </p:txBody>
      </p:sp>
      <p:sp>
        <p:nvSpPr>
          <p:cNvPr id="27" name="Shape 25"/>
          <p:cNvSpPr/>
          <p:nvPr/>
        </p:nvSpPr>
        <p:spPr>
          <a:xfrm>
            <a:off x="8997696" y="2779776"/>
            <a:ext cx="2185416" cy="0"/>
          </a:xfrm>
          <a:prstGeom prst="line">
            <a:avLst/>
          </a:prstGeom>
          <a:noFill/>
          <a:ln w="12700">
            <a:solidFill>
              <a:srgbClr val="E3E9F2"/>
            </a:solidFill>
            <a:prstDash val="solid"/>
          </a:ln>
        </p:spPr>
      </p:sp>
      <p:sp>
        <p:nvSpPr>
          <p:cNvPr id="28" name="Text 26"/>
          <p:cNvSpPr txBox="1"/>
          <p:nvPr/>
        </p:nvSpPr>
        <p:spPr>
          <a:xfrm>
            <a:off x="8997696" y="2889504"/>
            <a:ext cx="2185416" cy="457200"/>
          </a:xfrm>
          <a:prstGeom prst="rect">
            <a:avLst/>
          </a:prstGeom>
          <a:noFill/>
          <a:ln/>
        </p:spPr>
        <p:txBody>
          <a:bodyPr wrap="square" lIns="0" tIns="0" rIns="0" bIns="0" rtlCol="0" anchor="ctr"/>
          <a:lstStyle/>
          <a:p>
            <a:pPr indent="0" marL="0">
              <a:buNone/>
            </a:pPr>
            <a:r>
              <a:rPr lang="en-US" sz="1900" b="1" dirty="0">
                <a:solidFill>
                  <a:srgbClr val="1E7A4C"/>
                </a:solidFill>
                <a:latin typeface="Cambria" pitchFamily="34" charset="0"/>
                <a:ea typeface="Cambria" pitchFamily="34" charset="-122"/>
                <a:cs typeface="Cambria" pitchFamily="34" charset="-120"/>
              </a:rPr>
              <a:t>$78,33</a:t>
            </a:r>
            <a:endParaRPr lang="en-US" sz="1900" dirty="0"/>
          </a:p>
        </p:txBody>
      </p:sp>
      <p:sp>
        <p:nvSpPr>
          <p:cNvPr id="29" name="Text 27"/>
          <p:cNvSpPr txBox="1"/>
          <p:nvPr/>
        </p:nvSpPr>
        <p:spPr>
          <a:xfrm>
            <a:off x="8997696" y="3328416"/>
            <a:ext cx="2185416" cy="457200"/>
          </a:xfrm>
          <a:prstGeom prst="rect">
            <a:avLst/>
          </a:prstGeom>
          <a:noFill/>
          <a:ln/>
        </p:spPr>
        <p:txBody>
          <a:bodyPr wrap="square" lIns="0" tIns="0" rIns="0" bIns="0" rtlCol="0" anchor="ctr"/>
          <a:lstStyle/>
          <a:p>
            <a:pPr indent="0" marL="0">
              <a:buNone/>
            </a:pPr>
            <a:r>
              <a:rPr lang="en-US" sz="1050" dirty="0">
                <a:solidFill>
                  <a:srgbClr val="5B6B85"/>
                </a:solidFill>
                <a:latin typeface="Calibri" pitchFamily="34" charset="0"/>
                <a:ea typeface="Calibri" pitchFamily="34" charset="-122"/>
                <a:cs typeface="Calibri" pitchFamily="34" charset="-120"/>
              </a:rPr>
              <a:t>Completed</a:t>
            </a:r>
            <a:endParaRPr lang="en-US" sz="1050" dirty="0"/>
          </a:p>
        </p:txBody>
      </p:sp>
      <p:sp>
        <p:nvSpPr>
          <p:cNvPr id="30" name="Shape 28"/>
          <p:cNvSpPr/>
          <p:nvPr/>
        </p:nvSpPr>
        <p:spPr>
          <a:xfrm>
            <a:off x="548640" y="4142232"/>
            <a:ext cx="10881360" cy="1234440"/>
          </a:xfrm>
          <a:prstGeom prst="roundRect">
            <a:avLst>
              <a:gd name="adj" fmla="val 6667"/>
            </a:avLst>
          </a:prstGeom>
          <a:solidFill>
            <a:srgbClr val="1B2A4A"/>
          </a:solidFill>
          <a:ln/>
        </p:spPr>
      </p:sp>
      <p:sp>
        <p:nvSpPr>
          <p:cNvPr id="31" name="Shape 29"/>
          <p:cNvSpPr/>
          <p:nvPr/>
        </p:nvSpPr>
        <p:spPr>
          <a:xfrm>
            <a:off x="822960" y="4416552"/>
            <a:ext cx="640080" cy="640080"/>
          </a:xfrm>
          <a:prstGeom prst="ellipse">
            <a:avLst/>
          </a:prstGeom>
          <a:solidFill>
            <a:srgbClr val="FF6B4A"/>
          </a:solidFill>
          <a:ln/>
        </p:spPr>
      </p:sp>
      <p:sp>
        <p:nvSpPr>
          <p:cNvPr id="32" name="Text 30"/>
          <p:cNvSpPr txBox="1"/>
          <p:nvPr/>
        </p:nvSpPr>
        <p:spPr>
          <a:xfrm>
            <a:off x="822960" y="4416552"/>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33" name="Text 31"/>
          <p:cNvSpPr txBox="1"/>
          <p:nvPr/>
        </p:nvSpPr>
        <p:spPr>
          <a:xfrm>
            <a:off x="1737360" y="4343400"/>
            <a:ext cx="8961120" cy="36576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Gross vs. Completed — kenapa gap ini penting</a:t>
            </a:r>
            <a:endParaRPr lang="en-US" sz="1450" dirty="0"/>
          </a:p>
        </p:txBody>
      </p:sp>
      <p:sp>
        <p:nvSpPr>
          <p:cNvPr id="34" name="Text 32"/>
          <p:cNvSpPr txBox="1"/>
          <p:nvPr/>
        </p:nvSpPr>
        <p:spPr>
          <a:xfrm>
            <a:off x="1737360" y="4709160"/>
            <a:ext cx="8869680" cy="594360"/>
          </a:xfrm>
          <a:prstGeom prst="rect">
            <a:avLst/>
          </a:prstGeom>
          <a:noFill/>
          <a:ln/>
        </p:spPr>
        <p:txBody>
          <a:bodyPr wrap="square" lIns="0" tIns="0" rIns="0" bIns="0" rtlCol="0" anchor="ctr"/>
          <a:lstStyle/>
          <a:p>
            <a:pPr indent="0" marL="0">
              <a:lnSpc>
                <a:spcPct val="120000"/>
              </a:lnSpc>
              <a:buNone/>
            </a:pPr>
            <a:r>
              <a:rPr lang="en-US" sz="1150" dirty="0">
                <a:solidFill>
                  <a:srgbClr val="C9D6EC"/>
                </a:solidFill>
                <a:latin typeface="Calibri" pitchFamily="34" charset="0"/>
                <a:ea typeface="Calibri" pitchFamily="34" charset="-122"/>
                <a:cs typeface="Calibri" pitchFamily="34" charset="-120"/>
              </a:rPr>
              <a:t>17,8% dari revenue gross ($54.614) masih berstatus Cancelled, Returned, atau Pending. Semua chart selanjutnya di deck ini pakai angka Completed-only kecuali diberi label lain.</a:t>
            </a:r>
            <a:endParaRPr lang="en-US" sz="1150" dirty="0"/>
          </a:p>
        </p:txBody>
      </p:sp>
      <p:sp>
        <p:nvSpPr>
          <p:cNvPr id="35" name="Text 33"/>
          <p:cNvSpPr txBox="1"/>
          <p:nvPr/>
        </p:nvSpPr>
        <p:spPr>
          <a:xfrm>
            <a:off x="457200" y="6537960"/>
            <a:ext cx="7315200" cy="274320"/>
          </a:xfrm>
          <a:prstGeom prst="rect">
            <a:avLst/>
          </a:prstGeom>
          <a:noFill/>
          <a:ln/>
        </p:spPr>
        <p:txBody>
          <a:bodyPr wrap="square" lIns="0" tIns="0" rIns="0" bIns="0" rtlCol="0" anchor="ctr"/>
          <a:lstStyle/>
          <a:p>
            <a:pPr indent="0" marL="0">
              <a:buNone/>
            </a:pPr>
            <a:r>
              <a:rPr lang="en-US" sz="900" dirty="0">
                <a:solidFill>
                  <a:srgbClr val="5B6B85"/>
                </a:solidFill>
                <a:latin typeface="Calibri" pitchFamily="34" charset="0"/>
                <a:ea typeface="Calibri" pitchFamily="34" charset="-122"/>
                <a:cs typeface="Calibri" pitchFamily="34" charset="-120"/>
              </a:rPr>
              <a:t>Analisis Penjualan E-Commerce — Studi Kasus Bisnis</a:t>
            </a:r>
            <a:endParaRPr lang="en-US" sz="900" dirty="0"/>
          </a:p>
        </p:txBody>
      </p:sp>
      <p:sp>
        <p:nvSpPr>
          <p:cNvPr id="36" name="Text 34"/>
          <p:cNvSpPr txBox="1"/>
          <p:nvPr/>
        </p:nvSpPr>
        <p:spPr>
          <a:xfrm>
            <a:off x="11274552" y="6537960"/>
            <a:ext cx="457200" cy="274320"/>
          </a:xfrm>
          <a:prstGeom prst="rect">
            <a:avLst/>
          </a:prstGeom>
          <a:noFill/>
          <a:ln/>
        </p:spPr>
        <p:txBody>
          <a:bodyPr wrap="square" lIns="0" tIns="0" rIns="0" bIns="0" rtlCol="0" anchor="ctr"/>
          <a:lstStyle/>
          <a:p>
            <a:pPr algn="r" indent="0" marL="0">
              <a:buNone/>
            </a:pPr>
            <a:r>
              <a:rPr lang="en-US" sz="900" dirty="0">
                <a:solidFill>
                  <a:srgbClr val="5B6B85"/>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AF1FB"/>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FF6B4A"/>
                </a:solidFill>
                <a:latin typeface="Calibri" pitchFamily="34" charset="0"/>
                <a:ea typeface="Calibri" pitchFamily="34" charset="-122"/>
                <a:cs typeface="Calibri" pitchFamily="34" charset="-120"/>
              </a:rPr>
              <a:t>PERFORMA PENJUALAN</a:t>
            </a:r>
            <a:endParaRPr lang="en-US" sz="1300" dirty="0"/>
          </a:p>
        </p:txBody>
      </p:sp>
      <p:sp>
        <p:nvSpPr>
          <p:cNvPr id="3" name="Text 1"/>
          <p:cNvSpPr txBox="1"/>
          <p:nvPr/>
        </p:nvSpPr>
        <p:spPr>
          <a:xfrm>
            <a:off x="548640" y="658368"/>
            <a:ext cx="10515600" cy="73152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Revenue Tumbuh Secara Keseluruhan, tapi Fluktuatif Tiap Bulan</a:t>
            </a:r>
            <a:endParaRPr lang="en-US" sz="3000" dirty="0"/>
          </a:p>
        </p:txBody>
      </p:sp>
      <p:graphicFrame>
        <p:nvGraphicFramePr>
          <p:cNvPr id="4" name="Chart 0" descr=""/>
          <p:cNvGraphicFramePr/>
          <p:nvPr/>
        </p:nvGraphicFramePr>
        <p:xfrm>
          <a:off x="548640" y="1508760"/>
          <a:ext cx="6949440" cy="41605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818120" y="1508760"/>
            <a:ext cx="3840480" cy="1234440"/>
          </a:xfrm>
          <a:prstGeom prst="roundRect">
            <a:avLst>
              <a:gd name="adj" fmla="val 5926"/>
            </a:avLst>
          </a:prstGeom>
          <a:solidFill>
            <a:srgbClr val="FFFFFF"/>
          </a:solidFill>
          <a:ln/>
          <a:effectLst>
            <a:outerShdw sx="100000" sy="100000" kx="0" ky="0" algn="bl" rotWithShape="0" blurRad="76200" dist="25400" dir="5400000">
              <a:srgbClr val="1B2A4A">
                <a:alpha val="10000"/>
              </a:srgbClr>
            </a:outerShdw>
          </a:effectLst>
        </p:spPr>
      </p:sp>
      <p:sp>
        <p:nvSpPr>
          <p:cNvPr id="6" name="Text 3"/>
          <p:cNvSpPr txBox="1"/>
          <p:nvPr/>
        </p:nvSpPr>
        <p:spPr>
          <a:xfrm>
            <a:off x="8019288" y="1645920"/>
            <a:ext cx="3438144" cy="457200"/>
          </a:xfrm>
          <a:prstGeom prst="rect">
            <a:avLst/>
          </a:prstGeom>
          <a:noFill/>
          <a:ln/>
        </p:spPr>
        <p:txBody>
          <a:bodyPr wrap="square" lIns="0" tIns="0" rIns="0" bIns="0" rtlCol="0" anchor="ctr"/>
          <a:lstStyle/>
          <a:p>
            <a:pPr indent="0" marL="0">
              <a:buNone/>
            </a:pPr>
            <a:r>
              <a:rPr lang="en-US" sz="2200" b="1" dirty="0">
                <a:solidFill>
                  <a:srgbClr val="1E7A4C"/>
                </a:solidFill>
                <a:latin typeface="Cambria" pitchFamily="34" charset="0"/>
                <a:ea typeface="Cambria" pitchFamily="34" charset="-122"/>
                <a:cs typeface="Cambria" pitchFamily="34" charset="-120"/>
              </a:rPr>
              <a:t>+54,1%</a:t>
            </a:r>
            <a:endParaRPr lang="en-US" sz="2200" dirty="0"/>
          </a:p>
        </p:txBody>
      </p:sp>
      <p:sp>
        <p:nvSpPr>
          <p:cNvPr id="7" name="Text 4"/>
          <p:cNvSpPr txBox="1"/>
          <p:nvPr/>
        </p:nvSpPr>
        <p:spPr>
          <a:xfrm>
            <a:off x="8019288" y="2103120"/>
            <a:ext cx="3438144" cy="548640"/>
          </a:xfrm>
          <a:prstGeom prst="rect">
            <a:avLst/>
          </a:prstGeom>
          <a:noFill/>
          <a:ln/>
        </p:spPr>
        <p:txBody>
          <a:bodyPr wrap="square" lIns="0" tIns="0" rIns="0" bIns="0" rtlCol="0" anchor="ctr"/>
          <a:lstStyle/>
          <a:p>
            <a:pPr indent="0" marL="0">
              <a:lnSpc>
                <a:spcPct val="115000"/>
              </a:lnSpc>
              <a:buNone/>
            </a:pPr>
            <a:r>
              <a:rPr lang="en-US" sz="1150" dirty="0">
                <a:solidFill>
                  <a:srgbClr val="5B6B85"/>
                </a:solidFill>
                <a:latin typeface="Calibri" pitchFamily="34" charset="0"/>
                <a:ea typeface="Calibri" pitchFamily="34" charset="-122"/>
                <a:cs typeface="Calibri" pitchFamily="34" charset="-120"/>
              </a:rPr>
              <a:t>Growth month-over-month terbaik (Jul 2023)</a:t>
            </a:r>
            <a:endParaRPr lang="en-US" sz="1150" dirty="0"/>
          </a:p>
        </p:txBody>
      </p:sp>
      <p:sp>
        <p:nvSpPr>
          <p:cNvPr id="8" name="Shape 5"/>
          <p:cNvSpPr/>
          <p:nvPr/>
        </p:nvSpPr>
        <p:spPr>
          <a:xfrm>
            <a:off x="7818120" y="2926080"/>
            <a:ext cx="3840480" cy="1234440"/>
          </a:xfrm>
          <a:prstGeom prst="roundRect">
            <a:avLst>
              <a:gd name="adj" fmla="val 5926"/>
            </a:avLst>
          </a:prstGeom>
          <a:solidFill>
            <a:srgbClr val="FFFFFF"/>
          </a:solidFill>
          <a:ln/>
          <a:effectLst>
            <a:outerShdw sx="100000" sy="100000" kx="0" ky="0" algn="bl" rotWithShape="0" blurRad="76200" dist="25400" dir="5400000">
              <a:srgbClr val="1B2A4A">
                <a:alpha val="10000"/>
              </a:srgbClr>
            </a:outerShdw>
          </a:effectLst>
        </p:spPr>
      </p:sp>
      <p:sp>
        <p:nvSpPr>
          <p:cNvPr id="9" name="Text 6"/>
          <p:cNvSpPr txBox="1"/>
          <p:nvPr/>
        </p:nvSpPr>
        <p:spPr>
          <a:xfrm>
            <a:off x="8019288" y="3063240"/>
            <a:ext cx="3438144" cy="457200"/>
          </a:xfrm>
          <a:prstGeom prst="rect">
            <a:avLst/>
          </a:prstGeom>
          <a:noFill/>
          <a:ln/>
        </p:spPr>
        <p:txBody>
          <a:bodyPr wrap="square" lIns="0" tIns="0" rIns="0" bIns="0" rtlCol="0" anchor="ctr"/>
          <a:lstStyle/>
          <a:p>
            <a:pPr indent="0" marL="0">
              <a:buNone/>
            </a:pPr>
            <a:r>
              <a:rPr lang="en-US" sz="2200" b="1" dirty="0">
                <a:solidFill>
                  <a:srgbClr val="C2452B"/>
                </a:solidFill>
                <a:latin typeface="Cambria" pitchFamily="34" charset="0"/>
                <a:ea typeface="Cambria" pitchFamily="34" charset="-122"/>
                <a:cs typeface="Cambria" pitchFamily="34" charset="-120"/>
              </a:rPr>
              <a:t>-42,9%</a:t>
            </a:r>
            <a:endParaRPr lang="en-US" sz="2200" dirty="0"/>
          </a:p>
        </p:txBody>
      </p:sp>
      <p:sp>
        <p:nvSpPr>
          <p:cNvPr id="10" name="Text 7"/>
          <p:cNvSpPr txBox="1"/>
          <p:nvPr/>
        </p:nvSpPr>
        <p:spPr>
          <a:xfrm>
            <a:off x="8019288" y="3520440"/>
            <a:ext cx="3438144" cy="548640"/>
          </a:xfrm>
          <a:prstGeom prst="rect">
            <a:avLst/>
          </a:prstGeom>
          <a:noFill/>
          <a:ln/>
        </p:spPr>
        <p:txBody>
          <a:bodyPr wrap="square" lIns="0" tIns="0" rIns="0" bIns="0" rtlCol="0" anchor="ctr"/>
          <a:lstStyle/>
          <a:p>
            <a:pPr indent="0" marL="0">
              <a:lnSpc>
                <a:spcPct val="115000"/>
              </a:lnSpc>
              <a:buNone/>
            </a:pPr>
            <a:r>
              <a:rPr lang="en-US" sz="1150" dirty="0">
                <a:solidFill>
                  <a:srgbClr val="5B6B85"/>
                </a:solidFill>
                <a:latin typeface="Calibri" pitchFamily="34" charset="0"/>
                <a:ea typeface="Calibri" pitchFamily="34" charset="-122"/>
                <a:cs typeface="Calibri" pitchFamily="34" charset="-120"/>
              </a:rPr>
              <a:t>Penurunan month-over-month terburuk (Jun 2023)</a:t>
            </a:r>
            <a:endParaRPr lang="en-US" sz="1150" dirty="0"/>
          </a:p>
        </p:txBody>
      </p:sp>
      <p:sp>
        <p:nvSpPr>
          <p:cNvPr id="11" name="Shape 8"/>
          <p:cNvSpPr/>
          <p:nvPr/>
        </p:nvSpPr>
        <p:spPr>
          <a:xfrm>
            <a:off x="7818120" y="4343400"/>
            <a:ext cx="3840480" cy="1600200"/>
          </a:xfrm>
          <a:prstGeom prst="roundRect">
            <a:avLst>
              <a:gd name="adj" fmla="val 4571"/>
            </a:avLst>
          </a:prstGeom>
          <a:solidFill>
            <a:srgbClr val="FFFFFF"/>
          </a:solidFill>
          <a:ln/>
          <a:effectLst>
            <a:outerShdw sx="100000" sy="100000" kx="0" ky="0" algn="bl" rotWithShape="0" blurRad="76200" dist="25400" dir="5400000">
              <a:srgbClr val="1B2A4A">
                <a:alpha val="10000"/>
              </a:srgbClr>
            </a:outerShdw>
          </a:effectLst>
        </p:spPr>
      </p:sp>
      <p:sp>
        <p:nvSpPr>
          <p:cNvPr id="12" name="Text 9"/>
          <p:cNvSpPr txBox="1"/>
          <p:nvPr/>
        </p:nvSpPr>
        <p:spPr>
          <a:xfrm>
            <a:off x="8019288" y="4480560"/>
            <a:ext cx="3438144" cy="457200"/>
          </a:xfrm>
          <a:prstGeom prst="rect">
            <a:avLst/>
          </a:prstGeom>
          <a:noFill/>
          <a:ln/>
        </p:spPr>
        <p:txBody>
          <a:bodyPr wrap="square" lIns="0" tIns="0" rIns="0" bIns="0" rtlCol="0" anchor="ctr"/>
          <a:lstStyle/>
          <a:p>
            <a:pPr indent="0" marL="0">
              <a:buNone/>
            </a:pPr>
            <a:r>
              <a:rPr lang="en-US" sz="2200" b="1" dirty="0">
                <a:solidFill>
                  <a:srgbClr val="1B2A4A"/>
                </a:solidFill>
                <a:latin typeface="Cambria" pitchFamily="34" charset="0"/>
                <a:ea typeface="Cambria" pitchFamily="34" charset="-122"/>
                <a:cs typeface="Cambria" pitchFamily="34" charset="-120"/>
              </a:rPr>
              <a:t>Tanpa pola musiman</a:t>
            </a:r>
            <a:endParaRPr lang="en-US" sz="2200" dirty="0"/>
          </a:p>
        </p:txBody>
      </p:sp>
      <p:sp>
        <p:nvSpPr>
          <p:cNvPr id="13" name="Text 10"/>
          <p:cNvSpPr txBox="1"/>
          <p:nvPr/>
        </p:nvSpPr>
        <p:spPr>
          <a:xfrm>
            <a:off x="8019288" y="4937760"/>
            <a:ext cx="3438144" cy="914400"/>
          </a:xfrm>
          <a:prstGeom prst="rect">
            <a:avLst/>
          </a:prstGeom>
          <a:noFill/>
          <a:ln/>
        </p:spPr>
        <p:txBody>
          <a:bodyPr wrap="square" lIns="0" tIns="0" rIns="0" bIns="0" rtlCol="0" anchor="ctr"/>
          <a:lstStyle/>
          <a:p>
            <a:pPr indent="0" marL="0">
              <a:lnSpc>
                <a:spcPct val="115000"/>
              </a:lnSpc>
              <a:buNone/>
            </a:pPr>
            <a:r>
              <a:rPr lang="en-US" sz="1150" dirty="0">
                <a:solidFill>
                  <a:srgbClr val="5B6B85"/>
                </a:solidFill>
                <a:latin typeface="Calibri" pitchFamily="34" charset="0"/>
                <a:ea typeface="Calibri" pitchFamily="34" charset="-122"/>
                <a:cs typeface="Calibri" pitchFamily="34" charset="-120"/>
              </a:rPr>
              <a:t>Fluktuasi berulang di kedua tahun tanpa pola kalender yang bisa diprediksi</a:t>
            </a:r>
            <a:endParaRPr lang="en-US" sz="1150" dirty="0"/>
          </a:p>
        </p:txBody>
      </p:sp>
      <p:sp>
        <p:nvSpPr>
          <p:cNvPr id="14" name="Text 11"/>
          <p:cNvSpPr txBox="1"/>
          <p:nvPr/>
        </p:nvSpPr>
        <p:spPr>
          <a:xfrm>
            <a:off x="457200" y="6537960"/>
            <a:ext cx="7315200" cy="274320"/>
          </a:xfrm>
          <a:prstGeom prst="rect">
            <a:avLst/>
          </a:prstGeom>
          <a:noFill/>
          <a:ln/>
        </p:spPr>
        <p:txBody>
          <a:bodyPr wrap="square" lIns="0" tIns="0" rIns="0" bIns="0" rtlCol="0" anchor="ctr"/>
          <a:lstStyle/>
          <a:p>
            <a:pPr indent="0" marL="0">
              <a:buNone/>
            </a:pPr>
            <a:r>
              <a:rPr lang="en-US" sz="900" dirty="0">
                <a:solidFill>
                  <a:srgbClr val="5B6B85"/>
                </a:solidFill>
                <a:latin typeface="Calibri" pitchFamily="34" charset="0"/>
                <a:ea typeface="Calibri" pitchFamily="34" charset="-122"/>
                <a:cs typeface="Calibri" pitchFamily="34" charset="-120"/>
              </a:rPr>
              <a:t>Analisis Penjualan E-Commerce — Studi Kasus Bisnis</a:t>
            </a:r>
            <a:endParaRPr lang="en-US" sz="900" dirty="0"/>
          </a:p>
        </p:txBody>
      </p:sp>
      <p:sp>
        <p:nvSpPr>
          <p:cNvPr id="15" name="Text 12"/>
          <p:cNvSpPr txBox="1"/>
          <p:nvPr/>
        </p:nvSpPr>
        <p:spPr>
          <a:xfrm>
            <a:off x="11274552" y="6537960"/>
            <a:ext cx="457200" cy="274320"/>
          </a:xfrm>
          <a:prstGeom prst="rect">
            <a:avLst/>
          </a:prstGeom>
          <a:noFill/>
          <a:ln/>
        </p:spPr>
        <p:txBody>
          <a:bodyPr wrap="square" lIns="0" tIns="0" rIns="0" bIns="0" rtlCol="0" anchor="ctr"/>
          <a:lstStyle/>
          <a:p>
            <a:pPr algn="r" indent="0" marL="0">
              <a:buNone/>
            </a:pPr>
            <a:r>
              <a:rPr lang="en-US" sz="900" dirty="0">
                <a:solidFill>
                  <a:srgbClr val="5B6B85"/>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AF1FB"/>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FF6B4A"/>
                </a:solidFill>
                <a:latin typeface="Calibri" pitchFamily="34" charset="0"/>
                <a:ea typeface="Calibri" pitchFamily="34" charset="-122"/>
                <a:cs typeface="Calibri" pitchFamily="34" charset="-120"/>
              </a:rPr>
              <a:t>PRODUK &amp; KATEGORI</a:t>
            </a:r>
            <a:endParaRPr lang="en-US" sz="1300" dirty="0"/>
          </a:p>
        </p:txBody>
      </p:sp>
      <p:sp>
        <p:nvSpPr>
          <p:cNvPr id="3" name="Text 1"/>
          <p:cNvSpPr txBox="1"/>
          <p:nvPr/>
        </p:nvSpPr>
        <p:spPr>
          <a:xfrm>
            <a:off x="548640" y="658368"/>
            <a:ext cx="10515600" cy="73152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Electronics Memimpin — Books Konsisten di Bawah</a:t>
            </a:r>
            <a:endParaRPr lang="en-US" sz="3000" dirty="0"/>
          </a:p>
        </p:txBody>
      </p:sp>
      <p:graphicFrame>
        <p:nvGraphicFramePr>
          <p:cNvPr id="4" name="Chart 0" descr=""/>
          <p:cNvGraphicFramePr/>
          <p:nvPr/>
        </p:nvGraphicFramePr>
        <p:xfrm>
          <a:off x="548640" y="1463040"/>
          <a:ext cx="6126480" cy="42062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995160" y="1463040"/>
            <a:ext cx="4663440" cy="1965960"/>
          </a:xfrm>
          <a:prstGeom prst="roundRect">
            <a:avLst>
              <a:gd name="adj" fmla="val 3721"/>
            </a:avLst>
          </a:prstGeom>
          <a:solidFill>
            <a:srgbClr val="FFFFFF"/>
          </a:solidFill>
          <a:ln/>
          <a:effectLst>
            <a:outerShdw sx="100000" sy="100000" kx="0" ky="0" algn="bl" rotWithShape="0" blurRad="76200" dist="25400" dir="5400000">
              <a:srgbClr val="1B2A4A">
                <a:alpha val="10000"/>
              </a:srgbClr>
            </a:outerShdw>
          </a:effectLst>
        </p:spPr>
      </p:sp>
      <p:sp>
        <p:nvSpPr>
          <p:cNvPr id="6" name="Text 3"/>
          <p:cNvSpPr txBox="1"/>
          <p:nvPr/>
        </p:nvSpPr>
        <p:spPr>
          <a:xfrm>
            <a:off x="7269480" y="1645920"/>
            <a:ext cx="4114800" cy="32004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Top 3 Produk berdasarkan Revenue</a:t>
            </a:r>
            <a:endParaRPr lang="en-US" sz="1300" dirty="0"/>
          </a:p>
        </p:txBody>
      </p:sp>
      <p:sp>
        <p:nvSpPr>
          <p:cNvPr id="7" name="Text 4"/>
          <p:cNvSpPr txBox="1"/>
          <p:nvPr/>
        </p:nvSpPr>
        <p:spPr>
          <a:xfrm>
            <a:off x="7269480" y="2011680"/>
            <a:ext cx="4114800" cy="1280160"/>
          </a:xfrm>
          <a:prstGeom prst="rect">
            <a:avLst/>
          </a:prstGeom>
          <a:noFill/>
          <a:ln/>
        </p:spPr>
        <p:txBody>
          <a:bodyPr wrap="square" lIns="0" tIns="0" rIns="0" bIns="0" rtlCol="0" anchor="ctr"/>
          <a:lstStyle/>
          <a:p>
            <a:pPr indent="0" marL="0">
              <a:lnSpc>
                <a:spcPct val="150000"/>
              </a:lnSpc>
              <a:buNone/>
            </a:pPr>
            <a:r>
              <a:rPr lang="en-US" sz="1300" dirty="0">
                <a:solidFill>
                  <a:srgbClr val="1B2A4A"/>
                </a:solidFill>
                <a:latin typeface="Calibri" pitchFamily="34" charset="0"/>
                <a:ea typeface="Calibri" pitchFamily="34" charset="-122"/>
                <a:cs typeface="Calibri" pitchFamily="34" charset="-120"/>
              </a:rPr>
              <a:t>1.  Smartphone Case — $9.437</a:t>
            </a:r>
            <a:endParaRPr lang="en-US" sz="1300" dirty="0"/>
          </a:p>
          <a:p>
            <a:pPr indent="0" marL="0">
              <a:lnSpc>
                <a:spcPct val="150000"/>
              </a:lnSpc>
              <a:buNone/>
            </a:pPr>
            <a:r>
              <a:rPr lang="en-US" sz="1300" dirty="0">
                <a:solidFill>
                  <a:srgbClr val="1B2A4A"/>
                </a:solidFill>
                <a:latin typeface="Calibri" pitchFamily="34" charset="0"/>
                <a:ea typeface="Calibri" pitchFamily="34" charset="-122"/>
                <a:cs typeface="Calibri" pitchFamily="34" charset="-120"/>
              </a:rPr>
              <a:t>2.  Webcam — $9.267</a:t>
            </a:r>
            <a:endParaRPr lang="en-US" sz="1300" dirty="0"/>
          </a:p>
          <a:p>
            <a:pPr indent="0" marL="0">
              <a:lnSpc>
                <a:spcPct val="150000"/>
              </a:lnSpc>
              <a:buNone/>
            </a:pPr>
            <a:r>
              <a:rPr lang="en-US" sz="1300" dirty="0">
                <a:solidFill>
                  <a:srgbClr val="1B2A4A"/>
                </a:solidFill>
                <a:latin typeface="Calibri" pitchFamily="34" charset="0"/>
                <a:ea typeface="Calibri" pitchFamily="34" charset="-122"/>
                <a:cs typeface="Calibri" pitchFamily="34" charset="-120"/>
              </a:rPr>
              <a:t>3.  Power Bank — $8.509</a:t>
            </a:r>
            <a:endParaRPr lang="en-US" sz="1300" dirty="0"/>
          </a:p>
        </p:txBody>
      </p:sp>
      <p:sp>
        <p:nvSpPr>
          <p:cNvPr id="8" name="Shape 5"/>
          <p:cNvSpPr/>
          <p:nvPr/>
        </p:nvSpPr>
        <p:spPr>
          <a:xfrm>
            <a:off x="6995160" y="3611880"/>
            <a:ext cx="4663440" cy="2057400"/>
          </a:xfrm>
          <a:prstGeom prst="roundRect">
            <a:avLst>
              <a:gd name="adj" fmla="val 3556"/>
            </a:avLst>
          </a:prstGeom>
          <a:solidFill>
            <a:srgbClr val="1B2A4A"/>
          </a:solidFill>
          <a:ln/>
        </p:spPr>
      </p:sp>
      <p:sp>
        <p:nvSpPr>
          <p:cNvPr id="9" name="Text 6"/>
          <p:cNvSpPr txBox="1"/>
          <p:nvPr/>
        </p:nvSpPr>
        <p:spPr>
          <a:xfrm>
            <a:off x="7269480" y="3794760"/>
            <a:ext cx="4114800" cy="548640"/>
          </a:xfrm>
          <a:prstGeom prst="rect">
            <a:avLst/>
          </a:prstGeom>
          <a:noFill/>
          <a:ln/>
        </p:spPr>
        <p:txBody>
          <a:bodyPr wrap="square" lIns="0" tIns="0" rIns="0" bIns="0" rtlCol="0" anchor="ctr"/>
          <a:lstStyle/>
          <a:p>
            <a:pPr indent="0" marL="0">
              <a:buNone/>
            </a:pPr>
            <a:r>
              <a:rPr lang="en-US" sz="2600" b="1" dirty="0">
                <a:solidFill>
                  <a:srgbClr val="FF6B4A"/>
                </a:solidFill>
                <a:latin typeface="Cambria" pitchFamily="34" charset="0"/>
                <a:ea typeface="Cambria" pitchFamily="34" charset="-122"/>
                <a:cs typeface="Cambria" pitchFamily="34" charset="-120"/>
              </a:rPr>
              <a:t>25,3%</a:t>
            </a:r>
            <a:endParaRPr lang="en-US" sz="2600" dirty="0"/>
          </a:p>
        </p:txBody>
      </p:sp>
      <p:sp>
        <p:nvSpPr>
          <p:cNvPr id="10" name="Text 7"/>
          <p:cNvSpPr txBox="1"/>
          <p:nvPr/>
        </p:nvSpPr>
        <p:spPr>
          <a:xfrm>
            <a:off x="7269480" y="4343400"/>
            <a:ext cx="4114800" cy="1188720"/>
          </a:xfrm>
          <a:prstGeom prst="rect">
            <a:avLst/>
          </a:prstGeom>
          <a:noFill/>
          <a:ln/>
        </p:spPr>
        <p:txBody>
          <a:bodyPr wrap="square" lIns="0" tIns="0" rIns="0" bIns="0" rtlCol="0" anchor="ctr"/>
          <a:lstStyle/>
          <a:p>
            <a:pPr indent="0" marL="0">
              <a:lnSpc>
                <a:spcPct val="125000"/>
              </a:lnSpc>
              <a:buNone/>
            </a:pPr>
            <a:r>
              <a:rPr lang="en-US" sz="1250" dirty="0">
                <a:solidFill>
                  <a:srgbClr val="E7ECF6"/>
                </a:solidFill>
                <a:latin typeface="Calibri" pitchFamily="34" charset="0"/>
                <a:ea typeface="Calibri" pitchFamily="34" charset="-122"/>
                <a:cs typeface="Calibri" pitchFamily="34" charset="-120"/>
              </a:rPr>
              <a:t>dari total revenue berasal dari Electronics saja — lebih dari dua kali lipat kontribusi kategori terdekat di bawahnya.</a:t>
            </a:r>
            <a:endParaRPr lang="en-US" sz="1250" dirty="0"/>
          </a:p>
        </p:txBody>
      </p:sp>
      <p:sp>
        <p:nvSpPr>
          <p:cNvPr id="11" name="Text 8"/>
          <p:cNvSpPr txBox="1"/>
          <p:nvPr/>
        </p:nvSpPr>
        <p:spPr>
          <a:xfrm>
            <a:off x="457200" y="6537960"/>
            <a:ext cx="7315200" cy="274320"/>
          </a:xfrm>
          <a:prstGeom prst="rect">
            <a:avLst/>
          </a:prstGeom>
          <a:noFill/>
          <a:ln/>
        </p:spPr>
        <p:txBody>
          <a:bodyPr wrap="square" lIns="0" tIns="0" rIns="0" bIns="0" rtlCol="0" anchor="ctr"/>
          <a:lstStyle/>
          <a:p>
            <a:pPr indent="0" marL="0">
              <a:buNone/>
            </a:pPr>
            <a:r>
              <a:rPr lang="en-US" sz="900" dirty="0">
                <a:solidFill>
                  <a:srgbClr val="5B6B85"/>
                </a:solidFill>
                <a:latin typeface="Calibri" pitchFamily="34" charset="0"/>
                <a:ea typeface="Calibri" pitchFamily="34" charset="-122"/>
                <a:cs typeface="Calibri" pitchFamily="34" charset="-120"/>
              </a:rPr>
              <a:t>Analisis Penjualan E-Commerce — Studi Kasus Bisnis</a:t>
            </a:r>
            <a:endParaRPr lang="en-US" sz="900" dirty="0"/>
          </a:p>
        </p:txBody>
      </p:sp>
      <p:sp>
        <p:nvSpPr>
          <p:cNvPr id="12" name="Text 9"/>
          <p:cNvSpPr txBox="1"/>
          <p:nvPr/>
        </p:nvSpPr>
        <p:spPr>
          <a:xfrm>
            <a:off x="11274552" y="6537960"/>
            <a:ext cx="457200" cy="274320"/>
          </a:xfrm>
          <a:prstGeom prst="rect">
            <a:avLst/>
          </a:prstGeom>
          <a:noFill/>
          <a:ln/>
        </p:spPr>
        <p:txBody>
          <a:bodyPr wrap="square" lIns="0" tIns="0" rIns="0" bIns="0" rtlCol="0" anchor="ctr"/>
          <a:lstStyle/>
          <a:p>
            <a:pPr algn="r" indent="0" marL="0">
              <a:buNone/>
            </a:pPr>
            <a:r>
              <a:rPr lang="en-US" sz="900" dirty="0">
                <a:solidFill>
                  <a:srgbClr val="5B6B85"/>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AF1FB"/>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FF6B4A"/>
                </a:solidFill>
                <a:latin typeface="Calibri" pitchFamily="34" charset="0"/>
                <a:ea typeface="Calibri" pitchFamily="34" charset="-122"/>
                <a:cs typeface="Calibri" pitchFamily="34" charset="-120"/>
              </a:rPr>
              <a:t>ANALISIS CUSTOMER &amp; REGIONAL</a:t>
            </a:r>
            <a:endParaRPr lang="en-US" sz="1300" dirty="0"/>
          </a:p>
        </p:txBody>
      </p:sp>
      <p:sp>
        <p:nvSpPr>
          <p:cNvPr id="3" name="Text 1"/>
          <p:cNvSpPr txBox="1"/>
          <p:nvPr/>
        </p:nvSpPr>
        <p:spPr>
          <a:xfrm>
            <a:off x="548640" y="658368"/>
            <a:ext cx="10515600" cy="73152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Customer Loyal, Satu Region, dan Kesenjangan Nilai</a:t>
            </a:r>
            <a:endParaRPr lang="en-US" sz="3000" dirty="0"/>
          </a:p>
        </p:txBody>
      </p:sp>
      <p:graphicFrame>
        <p:nvGraphicFramePr>
          <p:cNvPr id="4" name="Chart 0" descr=""/>
          <p:cNvGraphicFramePr/>
          <p:nvPr/>
        </p:nvGraphicFramePr>
        <p:xfrm>
          <a:off x="548640" y="1463040"/>
          <a:ext cx="5120640" cy="28346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48640" y="4343400"/>
            <a:ext cx="5120640" cy="548640"/>
          </a:xfrm>
          <a:prstGeom prst="rect">
            <a:avLst/>
          </a:prstGeom>
          <a:noFill/>
          <a:ln/>
        </p:spPr>
        <p:txBody>
          <a:bodyPr wrap="square" lIns="0" tIns="0" rIns="0" bIns="0" rtlCol="0" anchor="ctr"/>
          <a:lstStyle/>
          <a:p>
            <a:pPr indent="0" marL="0">
              <a:lnSpc>
                <a:spcPct val="120000"/>
              </a:lnSpc>
              <a:buNone/>
            </a:pPr>
            <a:r>
              <a:rPr lang="en-US" sz="1250" i="1" dirty="0">
                <a:solidFill>
                  <a:srgbClr val="5B6B85"/>
                </a:solidFill>
                <a:latin typeface="Calibri" pitchFamily="34" charset="0"/>
                <a:ea typeface="Calibri" pitchFamily="34" charset="-122"/>
                <a:cs typeface="Calibri" pitchFamily="34" charset="-120"/>
              </a:rPr>
              <a:t>Region East sendirian menyumbang 74,4% dari revenue Completed</a:t>
            </a:r>
            <a:endParaRPr lang="en-US" sz="1250" dirty="0"/>
          </a:p>
        </p:txBody>
      </p:sp>
      <p:sp>
        <p:nvSpPr>
          <p:cNvPr id="6" name="Shape 3"/>
          <p:cNvSpPr/>
          <p:nvPr/>
        </p:nvSpPr>
        <p:spPr>
          <a:xfrm>
            <a:off x="6172200" y="1463040"/>
            <a:ext cx="5486400" cy="1463040"/>
          </a:xfrm>
          <a:prstGeom prst="roundRect">
            <a:avLst>
              <a:gd name="adj" fmla="val 5000"/>
            </a:avLst>
          </a:prstGeom>
          <a:solidFill>
            <a:srgbClr val="FFFFFF"/>
          </a:solidFill>
          <a:ln/>
          <a:effectLst>
            <a:outerShdw sx="100000" sy="100000" kx="0" ky="0" algn="bl" rotWithShape="0" blurRad="76200" dist="25400" dir="5400000">
              <a:srgbClr val="1B2A4A">
                <a:alpha val="10000"/>
              </a:srgbClr>
            </a:outerShdw>
          </a:effectLst>
        </p:spPr>
      </p:sp>
      <p:sp>
        <p:nvSpPr>
          <p:cNvPr id="7" name="Text 4"/>
          <p:cNvSpPr txBox="1"/>
          <p:nvPr/>
        </p:nvSpPr>
        <p:spPr>
          <a:xfrm>
            <a:off x="6446520" y="1600200"/>
            <a:ext cx="2011680" cy="685800"/>
          </a:xfrm>
          <a:prstGeom prst="rect">
            <a:avLst/>
          </a:prstGeom>
          <a:noFill/>
          <a:ln/>
        </p:spPr>
        <p:txBody>
          <a:bodyPr wrap="square" lIns="0" tIns="0" rIns="0" bIns="0" rtlCol="0" anchor="ctr"/>
          <a:lstStyle/>
          <a:p>
            <a:pPr indent="0" marL="0">
              <a:buNone/>
            </a:pPr>
            <a:r>
              <a:rPr lang="en-US" sz="3000" b="1" dirty="0">
                <a:solidFill>
                  <a:srgbClr val="1E7A4C"/>
                </a:solidFill>
                <a:latin typeface="Cambria" pitchFamily="34" charset="0"/>
                <a:ea typeface="Cambria" pitchFamily="34" charset="-122"/>
                <a:cs typeface="Cambria" pitchFamily="34" charset="-120"/>
              </a:rPr>
              <a:t>98,8%</a:t>
            </a:r>
            <a:endParaRPr lang="en-US" sz="3000" dirty="0"/>
          </a:p>
        </p:txBody>
      </p:sp>
      <p:sp>
        <p:nvSpPr>
          <p:cNvPr id="8" name="Text 5"/>
          <p:cNvSpPr txBox="1"/>
          <p:nvPr/>
        </p:nvSpPr>
        <p:spPr>
          <a:xfrm>
            <a:off x="8549640" y="1627632"/>
            <a:ext cx="2834640" cy="1188720"/>
          </a:xfrm>
          <a:prstGeom prst="rect">
            <a:avLst/>
          </a:prstGeom>
          <a:noFill/>
          <a:ln/>
        </p:spPr>
        <p:txBody>
          <a:bodyPr wrap="square" lIns="0" tIns="0" rIns="0" bIns="0" rtlCol="0" anchor="ctr"/>
          <a:lstStyle/>
          <a:p>
            <a:pPr indent="0" marL="0">
              <a:lnSpc>
                <a:spcPct val="120000"/>
              </a:lnSpc>
              <a:buNone/>
            </a:pPr>
            <a:r>
              <a:rPr lang="en-US" sz="1200" dirty="0">
                <a:solidFill>
                  <a:srgbClr val="1B2A4A"/>
                </a:solidFill>
                <a:latin typeface="Calibri" pitchFamily="34" charset="0"/>
                <a:ea typeface="Calibri" pitchFamily="34" charset="-122"/>
                <a:cs typeface="Calibri" pitchFamily="34" charset="-120"/>
              </a:rPr>
              <a:t>order berasal dari repeat customer — retensi jadi kekuatan nyata, tapi akuisisi customer baru nyaris flat.</a:t>
            </a:r>
            <a:endParaRPr lang="en-US" sz="1200" dirty="0"/>
          </a:p>
        </p:txBody>
      </p:sp>
      <p:sp>
        <p:nvSpPr>
          <p:cNvPr id="9" name="Shape 6"/>
          <p:cNvSpPr/>
          <p:nvPr/>
        </p:nvSpPr>
        <p:spPr>
          <a:xfrm>
            <a:off x="6172200" y="3108960"/>
            <a:ext cx="5486400" cy="1463040"/>
          </a:xfrm>
          <a:prstGeom prst="roundRect">
            <a:avLst>
              <a:gd name="adj" fmla="val 5000"/>
            </a:avLst>
          </a:prstGeom>
          <a:solidFill>
            <a:srgbClr val="FFFFFF"/>
          </a:solidFill>
          <a:ln/>
          <a:effectLst>
            <a:outerShdw sx="100000" sy="100000" kx="0" ky="0" algn="bl" rotWithShape="0" blurRad="76200" dist="25400" dir="5400000">
              <a:srgbClr val="1B2A4A">
                <a:alpha val="10000"/>
              </a:srgbClr>
            </a:outerShdw>
          </a:effectLst>
        </p:spPr>
      </p:sp>
      <p:sp>
        <p:nvSpPr>
          <p:cNvPr id="10" name="Text 7"/>
          <p:cNvSpPr txBox="1"/>
          <p:nvPr/>
        </p:nvSpPr>
        <p:spPr>
          <a:xfrm>
            <a:off x="6446520" y="3246120"/>
            <a:ext cx="2377440" cy="685800"/>
          </a:xfrm>
          <a:prstGeom prst="rect">
            <a:avLst/>
          </a:prstGeom>
          <a:noFill/>
          <a:ln/>
        </p:spPr>
        <p:txBody>
          <a:bodyPr wrap="square" lIns="0" tIns="0" rIns="0" bIns="0" rtlCol="0" anchor="ctr"/>
          <a:lstStyle/>
          <a:p>
            <a:pPr indent="0" marL="0">
              <a:buNone/>
            </a:pPr>
            <a:r>
              <a:rPr lang="en-US" sz="2400" b="1" dirty="0">
                <a:solidFill>
                  <a:srgbClr val="C2452B"/>
                </a:solidFill>
                <a:latin typeface="Cambria" pitchFamily="34" charset="0"/>
                <a:ea typeface="Cambria" pitchFamily="34" charset="-122"/>
                <a:cs typeface="Cambria" pitchFamily="34" charset="-120"/>
              </a:rPr>
              <a:t>$78 vs $289</a:t>
            </a:r>
            <a:endParaRPr lang="en-US" sz="2400" dirty="0"/>
          </a:p>
        </p:txBody>
      </p:sp>
      <p:sp>
        <p:nvSpPr>
          <p:cNvPr id="11" name="Text 8"/>
          <p:cNvSpPr txBox="1"/>
          <p:nvPr/>
        </p:nvSpPr>
        <p:spPr>
          <a:xfrm>
            <a:off x="8823960" y="3273552"/>
            <a:ext cx="2560320" cy="1188720"/>
          </a:xfrm>
          <a:prstGeom prst="rect">
            <a:avLst/>
          </a:prstGeom>
          <a:noFill/>
          <a:ln/>
        </p:spPr>
        <p:txBody>
          <a:bodyPr wrap="square" lIns="0" tIns="0" rIns="0" bIns="0" rtlCol="0" anchor="ctr"/>
          <a:lstStyle/>
          <a:p>
            <a:pPr indent="0" marL="0">
              <a:lnSpc>
                <a:spcPct val="120000"/>
              </a:lnSpc>
              <a:buNone/>
            </a:pPr>
            <a:r>
              <a:rPr lang="en-US" sz="1200" dirty="0">
                <a:solidFill>
                  <a:srgbClr val="1B2A4A"/>
                </a:solidFill>
                <a:latin typeface="Calibri" pitchFamily="34" charset="0"/>
                <a:ea typeface="Calibri" pitchFamily="34" charset="-122"/>
                <a:cs typeface="Calibri" pitchFamily="34" charset="-120"/>
              </a:rPr>
              <a:t>Average Order Value ($78,33) jauh di bawah average revenue per customer ($288,59) — customer sering balik lagi, tapi belanjanya sedikit tiap kunjungan.</a:t>
            </a:r>
            <a:endParaRPr lang="en-US" sz="1200" dirty="0"/>
          </a:p>
        </p:txBody>
      </p:sp>
      <p:sp>
        <p:nvSpPr>
          <p:cNvPr id="12" name="Shape 9"/>
          <p:cNvSpPr/>
          <p:nvPr/>
        </p:nvSpPr>
        <p:spPr>
          <a:xfrm>
            <a:off x="6172200" y="4754880"/>
            <a:ext cx="5486400" cy="1051560"/>
          </a:xfrm>
          <a:prstGeom prst="roundRect">
            <a:avLst>
              <a:gd name="adj" fmla="val 6957"/>
            </a:avLst>
          </a:prstGeom>
          <a:solidFill>
            <a:srgbClr val="1B2A4A"/>
          </a:solidFill>
          <a:ln/>
        </p:spPr>
      </p:sp>
      <p:sp>
        <p:nvSpPr>
          <p:cNvPr id="13" name="Text 10"/>
          <p:cNvSpPr txBox="1"/>
          <p:nvPr/>
        </p:nvSpPr>
        <p:spPr>
          <a:xfrm>
            <a:off x="6446520" y="4892040"/>
            <a:ext cx="4937760" cy="822960"/>
          </a:xfrm>
          <a:prstGeom prst="rect">
            <a:avLst/>
          </a:prstGeom>
          <a:noFill/>
          <a:ln/>
        </p:spPr>
        <p:txBody>
          <a:bodyPr wrap="square" lIns="0" tIns="0" rIns="0" bIns="0" rtlCol="0" anchor="ctr"/>
          <a:lstStyle/>
          <a:p>
            <a:pPr indent="0" marL="0">
              <a:lnSpc>
                <a:spcPct val="120000"/>
              </a:lnSpc>
              <a:buNone/>
            </a:pPr>
            <a:r>
              <a:rPr lang="en-US" sz="1200" i="1" dirty="0">
                <a:solidFill>
                  <a:srgbClr val="E7ECF6"/>
                </a:solidFill>
                <a:latin typeface="Calibri" pitchFamily="34" charset="0"/>
                <a:ea typeface="Calibri" pitchFamily="34" charset="-122"/>
                <a:cs typeface="Calibri" pitchFamily="34" charset="-120"/>
              </a:rPr>
              <a:t>Harga dan quantity yang dibeli nyaris tidak berkorelasi (r = 0,02) — customer tidak beli lebih banyak unit cuma karena produknya lebih murah.</a:t>
            </a:r>
            <a:endParaRPr lang="en-US" sz="1200" dirty="0"/>
          </a:p>
        </p:txBody>
      </p:sp>
      <p:sp>
        <p:nvSpPr>
          <p:cNvPr id="14" name="Text 11"/>
          <p:cNvSpPr txBox="1"/>
          <p:nvPr/>
        </p:nvSpPr>
        <p:spPr>
          <a:xfrm>
            <a:off x="457200" y="6537960"/>
            <a:ext cx="7315200" cy="274320"/>
          </a:xfrm>
          <a:prstGeom prst="rect">
            <a:avLst/>
          </a:prstGeom>
          <a:noFill/>
          <a:ln/>
        </p:spPr>
        <p:txBody>
          <a:bodyPr wrap="square" lIns="0" tIns="0" rIns="0" bIns="0" rtlCol="0" anchor="ctr"/>
          <a:lstStyle/>
          <a:p>
            <a:pPr indent="0" marL="0">
              <a:buNone/>
            </a:pPr>
            <a:r>
              <a:rPr lang="en-US" sz="900" dirty="0">
                <a:solidFill>
                  <a:srgbClr val="5B6B85"/>
                </a:solidFill>
                <a:latin typeface="Calibri" pitchFamily="34" charset="0"/>
                <a:ea typeface="Calibri" pitchFamily="34" charset="-122"/>
                <a:cs typeface="Calibri" pitchFamily="34" charset="-120"/>
              </a:rPr>
              <a:t>Analisis Penjualan E-Commerce — Studi Kasus Bisnis</a:t>
            </a:r>
            <a:endParaRPr lang="en-US" sz="900" dirty="0"/>
          </a:p>
        </p:txBody>
      </p:sp>
      <p:sp>
        <p:nvSpPr>
          <p:cNvPr id="15" name="Text 12"/>
          <p:cNvSpPr txBox="1"/>
          <p:nvPr/>
        </p:nvSpPr>
        <p:spPr>
          <a:xfrm>
            <a:off x="11274552" y="6537960"/>
            <a:ext cx="457200" cy="274320"/>
          </a:xfrm>
          <a:prstGeom prst="rect">
            <a:avLst/>
          </a:prstGeom>
          <a:noFill/>
          <a:ln/>
        </p:spPr>
        <p:txBody>
          <a:bodyPr wrap="square" lIns="0" tIns="0" rIns="0" bIns="0" rtlCol="0" anchor="ctr"/>
          <a:lstStyle/>
          <a:p>
            <a:pPr algn="r" indent="0" marL="0">
              <a:buNone/>
            </a:pPr>
            <a:r>
              <a:rPr lang="en-US" sz="900" dirty="0">
                <a:solidFill>
                  <a:srgbClr val="5B6B85"/>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AF1FB"/>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FF6B4A"/>
                </a:solidFill>
                <a:latin typeface="Calibri" pitchFamily="34" charset="0"/>
                <a:ea typeface="Calibri" pitchFamily="34" charset="-122"/>
                <a:cs typeface="Calibri" pitchFamily="34" charset="-120"/>
              </a:rPr>
              <a:t>TEMUAN UTAMA</a:t>
            </a:r>
            <a:endParaRPr lang="en-US" sz="1300" dirty="0"/>
          </a:p>
        </p:txBody>
      </p:sp>
      <p:sp>
        <p:nvSpPr>
          <p:cNvPr id="3" name="Text 1"/>
          <p:cNvSpPr txBox="1"/>
          <p:nvPr/>
        </p:nvSpPr>
        <p:spPr>
          <a:xfrm>
            <a:off x="548640" y="658368"/>
            <a:ext cx="10515600" cy="73152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Lima Temuan yang Paling Penting</a:t>
            </a:r>
            <a:endParaRPr lang="en-US" sz="3000" dirty="0"/>
          </a:p>
        </p:txBody>
      </p:sp>
      <p:sp>
        <p:nvSpPr>
          <p:cNvPr id="4" name="Shape 2"/>
          <p:cNvSpPr/>
          <p:nvPr/>
        </p:nvSpPr>
        <p:spPr>
          <a:xfrm>
            <a:off x="548640" y="1705356"/>
            <a:ext cx="502920" cy="502920"/>
          </a:xfrm>
          <a:prstGeom prst="ellipse">
            <a:avLst/>
          </a:prstGeom>
          <a:solidFill>
            <a:srgbClr val="FF6B4A"/>
          </a:solidFill>
          <a:ln/>
        </p:spPr>
      </p:sp>
      <p:sp>
        <p:nvSpPr>
          <p:cNvPr id="5" name="Text 3"/>
          <p:cNvSpPr txBox="1"/>
          <p:nvPr/>
        </p:nvSpPr>
        <p:spPr>
          <a:xfrm>
            <a:off x="548640" y="1705356"/>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6" name="Text 4"/>
          <p:cNvSpPr txBox="1"/>
          <p:nvPr/>
        </p:nvSpPr>
        <p:spPr>
          <a:xfrm>
            <a:off x="1280160" y="1508760"/>
            <a:ext cx="9966960" cy="365760"/>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Revenue terkonsentrasi secara berisiko</a:t>
            </a:r>
            <a:endParaRPr lang="en-US" sz="1500" dirty="0"/>
          </a:p>
        </p:txBody>
      </p:sp>
      <p:sp>
        <p:nvSpPr>
          <p:cNvPr id="7" name="Text 5"/>
          <p:cNvSpPr txBox="1"/>
          <p:nvPr/>
        </p:nvSpPr>
        <p:spPr>
          <a:xfrm>
            <a:off x="1280160" y="1856232"/>
            <a:ext cx="9966960" cy="457200"/>
          </a:xfrm>
          <a:prstGeom prst="rect">
            <a:avLst/>
          </a:prstGeom>
          <a:noFill/>
          <a:ln/>
        </p:spPr>
        <p:txBody>
          <a:bodyPr wrap="square" lIns="0" tIns="0" rIns="0" bIns="0" rtlCol="0" anchor="ctr"/>
          <a:lstStyle/>
          <a:p>
            <a:pPr indent="0" marL="0">
              <a:lnSpc>
                <a:spcPct val="115000"/>
              </a:lnSpc>
              <a:buNone/>
            </a:pPr>
            <a:r>
              <a:rPr lang="en-US" sz="1200" dirty="0">
                <a:solidFill>
                  <a:srgbClr val="5B6B85"/>
                </a:solidFill>
                <a:latin typeface="Calibri" pitchFamily="34" charset="0"/>
                <a:ea typeface="Calibri" pitchFamily="34" charset="-122"/>
                <a:cs typeface="Calibri" pitchFamily="34" charset="-120"/>
              </a:rPr>
              <a:t>74,4% revenue bergantung pada satu region (East); West cuma menyumbang 1,1%.</a:t>
            </a:r>
            <a:endParaRPr lang="en-US" sz="1200" dirty="0"/>
          </a:p>
        </p:txBody>
      </p:sp>
      <p:sp>
        <p:nvSpPr>
          <p:cNvPr id="8" name="Shape 6"/>
          <p:cNvSpPr/>
          <p:nvPr/>
        </p:nvSpPr>
        <p:spPr>
          <a:xfrm>
            <a:off x="548640" y="2331720"/>
            <a:ext cx="10698480" cy="0"/>
          </a:xfrm>
          <a:prstGeom prst="line">
            <a:avLst/>
          </a:prstGeom>
          <a:noFill/>
          <a:ln w="12700">
            <a:solidFill>
              <a:srgbClr val="D7E0EE"/>
            </a:solidFill>
            <a:prstDash val="solid"/>
          </a:ln>
        </p:spPr>
      </p:sp>
      <p:sp>
        <p:nvSpPr>
          <p:cNvPr id="9" name="Shape 7"/>
          <p:cNvSpPr/>
          <p:nvPr/>
        </p:nvSpPr>
        <p:spPr>
          <a:xfrm>
            <a:off x="548640" y="2601468"/>
            <a:ext cx="502920" cy="502920"/>
          </a:xfrm>
          <a:prstGeom prst="ellipse">
            <a:avLst/>
          </a:prstGeom>
          <a:solidFill>
            <a:srgbClr val="FF6B4A"/>
          </a:solidFill>
          <a:ln/>
        </p:spPr>
      </p:sp>
      <p:sp>
        <p:nvSpPr>
          <p:cNvPr id="10" name="Text 8"/>
          <p:cNvSpPr txBox="1"/>
          <p:nvPr/>
        </p:nvSpPr>
        <p:spPr>
          <a:xfrm>
            <a:off x="548640" y="2601468"/>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1" name="Text 9"/>
          <p:cNvSpPr txBox="1"/>
          <p:nvPr/>
        </p:nvSpPr>
        <p:spPr>
          <a:xfrm>
            <a:off x="1280160" y="2404872"/>
            <a:ext cx="9966960" cy="365760"/>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AOV rendah dibanding nilai per customer</a:t>
            </a:r>
            <a:endParaRPr lang="en-US" sz="1500" dirty="0"/>
          </a:p>
        </p:txBody>
      </p:sp>
      <p:sp>
        <p:nvSpPr>
          <p:cNvPr id="12" name="Text 10"/>
          <p:cNvSpPr txBox="1"/>
          <p:nvPr/>
        </p:nvSpPr>
        <p:spPr>
          <a:xfrm>
            <a:off x="1280160" y="2752344"/>
            <a:ext cx="9966960" cy="457200"/>
          </a:xfrm>
          <a:prstGeom prst="rect">
            <a:avLst/>
          </a:prstGeom>
          <a:noFill/>
          <a:ln/>
        </p:spPr>
        <p:txBody>
          <a:bodyPr wrap="square" lIns="0" tIns="0" rIns="0" bIns="0" rtlCol="0" anchor="ctr"/>
          <a:lstStyle/>
          <a:p>
            <a:pPr indent="0" marL="0">
              <a:lnSpc>
                <a:spcPct val="115000"/>
              </a:lnSpc>
              <a:buNone/>
            </a:pPr>
            <a:r>
              <a:rPr lang="en-US" sz="1200" dirty="0">
                <a:solidFill>
                  <a:srgbClr val="5B6B85"/>
                </a:solidFill>
                <a:latin typeface="Calibri" pitchFamily="34" charset="0"/>
                <a:ea typeface="Calibri" pitchFamily="34" charset="-122"/>
                <a:cs typeface="Calibri" pitchFamily="34" charset="-120"/>
              </a:rPr>
              <a:t>$78,33 per order vs. $288,59 per customer — kesenjangan ini adalah peluang bundling, bukan masalah harga.</a:t>
            </a:r>
            <a:endParaRPr lang="en-US" sz="1200" dirty="0"/>
          </a:p>
        </p:txBody>
      </p:sp>
      <p:sp>
        <p:nvSpPr>
          <p:cNvPr id="13" name="Shape 11"/>
          <p:cNvSpPr/>
          <p:nvPr/>
        </p:nvSpPr>
        <p:spPr>
          <a:xfrm>
            <a:off x="548640" y="3227832"/>
            <a:ext cx="10698480" cy="0"/>
          </a:xfrm>
          <a:prstGeom prst="line">
            <a:avLst/>
          </a:prstGeom>
          <a:noFill/>
          <a:ln w="12700">
            <a:solidFill>
              <a:srgbClr val="D7E0EE"/>
            </a:solidFill>
            <a:prstDash val="solid"/>
          </a:ln>
        </p:spPr>
      </p:sp>
      <p:sp>
        <p:nvSpPr>
          <p:cNvPr id="14" name="Shape 12"/>
          <p:cNvSpPr/>
          <p:nvPr/>
        </p:nvSpPr>
        <p:spPr>
          <a:xfrm>
            <a:off x="548640" y="3497580"/>
            <a:ext cx="502920" cy="502920"/>
          </a:xfrm>
          <a:prstGeom prst="ellipse">
            <a:avLst/>
          </a:prstGeom>
          <a:solidFill>
            <a:srgbClr val="FF6B4A"/>
          </a:solidFill>
          <a:ln/>
        </p:spPr>
      </p:sp>
      <p:sp>
        <p:nvSpPr>
          <p:cNvPr id="15" name="Text 13"/>
          <p:cNvSpPr txBox="1"/>
          <p:nvPr/>
        </p:nvSpPr>
        <p:spPr>
          <a:xfrm>
            <a:off x="548640" y="349758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6" name="Text 14"/>
          <p:cNvSpPr txBox="1"/>
          <p:nvPr/>
        </p:nvSpPr>
        <p:spPr>
          <a:xfrm>
            <a:off x="1280160" y="3300984"/>
            <a:ext cx="9966960" cy="365760"/>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Retensi kuat, akuisisi lemah</a:t>
            </a:r>
            <a:endParaRPr lang="en-US" sz="1500" dirty="0"/>
          </a:p>
        </p:txBody>
      </p:sp>
      <p:sp>
        <p:nvSpPr>
          <p:cNvPr id="17" name="Text 15"/>
          <p:cNvSpPr txBox="1"/>
          <p:nvPr/>
        </p:nvSpPr>
        <p:spPr>
          <a:xfrm>
            <a:off x="1280160" y="3648456"/>
            <a:ext cx="9966960" cy="457200"/>
          </a:xfrm>
          <a:prstGeom prst="rect">
            <a:avLst/>
          </a:prstGeom>
          <a:noFill/>
          <a:ln/>
        </p:spPr>
        <p:txBody>
          <a:bodyPr wrap="square" lIns="0" tIns="0" rIns="0" bIns="0" rtlCol="0" anchor="ctr"/>
          <a:lstStyle/>
          <a:p>
            <a:pPr indent="0" marL="0">
              <a:lnSpc>
                <a:spcPct val="115000"/>
              </a:lnSpc>
              <a:buNone/>
            </a:pPr>
            <a:r>
              <a:rPr lang="en-US" sz="1200" dirty="0">
                <a:solidFill>
                  <a:srgbClr val="5B6B85"/>
                </a:solidFill>
                <a:latin typeface="Calibri" pitchFamily="34" charset="0"/>
                <a:ea typeface="Calibri" pitchFamily="34" charset="-122"/>
                <a:cs typeface="Calibri" pitchFamily="34" charset="-120"/>
              </a:rPr>
              <a:t>98,8% order berasal dari repeat customer — pertumbuhan bukan datang dari customer baru.</a:t>
            </a:r>
            <a:endParaRPr lang="en-US" sz="1200" dirty="0"/>
          </a:p>
        </p:txBody>
      </p:sp>
      <p:sp>
        <p:nvSpPr>
          <p:cNvPr id="18" name="Shape 16"/>
          <p:cNvSpPr/>
          <p:nvPr/>
        </p:nvSpPr>
        <p:spPr>
          <a:xfrm>
            <a:off x="548640" y="4123944"/>
            <a:ext cx="10698480" cy="0"/>
          </a:xfrm>
          <a:prstGeom prst="line">
            <a:avLst/>
          </a:prstGeom>
          <a:noFill/>
          <a:ln w="12700">
            <a:solidFill>
              <a:srgbClr val="D7E0EE"/>
            </a:solidFill>
            <a:prstDash val="solid"/>
          </a:ln>
        </p:spPr>
      </p:sp>
      <p:sp>
        <p:nvSpPr>
          <p:cNvPr id="19" name="Shape 17"/>
          <p:cNvSpPr/>
          <p:nvPr/>
        </p:nvSpPr>
        <p:spPr>
          <a:xfrm>
            <a:off x="548640" y="4393692"/>
            <a:ext cx="502920" cy="502920"/>
          </a:xfrm>
          <a:prstGeom prst="ellipse">
            <a:avLst/>
          </a:prstGeom>
          <a:solidFill>
            <a:srgbClr val="FF6B4A"/>
          </a:solidFill>
          <a:ln/>
        </p:spPr>
      </p:sp>
      <p:sp>
        <p:nvSpPr>
          <p:cNvPr id="20" name="Text 18"/>
          <p:cNvSpPr txBox="1"/>
          <p:nvPr/>
        </p:nvSpPr>
        <p:spPr>
          <a:xfrm>
            <a:off x="548640" y="439369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1" name="Text 19"/>
          <p:cNvSpPr txBox="1"/>
          <p:nvPr/>
        </p:nvSpPr>
        <p:spPr>
          <a:xfrm>
            <a:off x="1280160" y="4197096"/>
            <a:ext cx="9966960" cy="365760"/>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Electronics jadi kategori terkuat</a:t>
            </a:r>
            <a:endParaRPr lang="en-US" sz="1500" dirty="0"/>
          </a:p>
        </p:txBody>
      </p:sp>
      <p:sp>
        <p:nvSpPr>
          <p:cNvPr id="22" name="Text 20"/>
          <p:cNvSpPr txBox="1"/>
          <p:nvPr/>
        </p:nvSpPr>
        <p:spPr>
          <a:xfrm>
            <a:off x="1280160" y="4544568"/>
            <a:ext cx="9966960" cy="457200"/>
          </a:xfrm>
          <a:prstGeom prst="rect">
            <a:avLst/>
          </a:prstGeom>
          <a:noFill/>
          <a:ln/>
        </p:spPr>
        <p:txBody>
          <a:bodyPr wrap="square" lIns="0" tIns="0" rIns="0" bIns="0" rtlCol="0" anchor="ctr"/>
          <a:lstStyle/>
          <a:p>
            <a:pPr indent="0" marL="0">
              <a:lnSpc>
                <a:spcPct val="115000"/>
              </a:lnSpc>
              <a:buNone/>
            </a:pPr>
            <a:r>
              <a:rPr lang="en-US" sz="1200" dirty="0">
                <a:solidFill>
                  <a:srgbClr val="5B6B85"/>
                </a:solidFill>
                <a:latin typeface="Calibri" pitchFamily="34" charset="0"/>
                <a:ea typeface="Calibri" pitchFamily="34" charset="-122"/>
                <a:cs typeface="Calibri" pitchFamily="34" charset="-120"/>
              </a:rPr>
              <a:t>25,3% revenue dari satu kategori, lebih dari dua kali lipat kategori tertinggi berikutnya.</a:t>
            </a:r>
            <a:endParaRPr lang="en-US" sz="1200" dirty="0"/>
          </a:p>
        </p:txBody>
      </p:sp>
      <p:sp>
        <p:nvSpPr>
          <p:cNvPr id="23" name="Shape 21"/>
          <p:cNvSpPr/>
          <p:nvPr/>
        </p:nvSpPr>
        <p:spPr>
          <a:xfrm>
            <a:off x="548640" y="5020056"/>
            <a:ext cx="10698480" cy="0"/>
          </a:xfrm>
          <a:prstGeom prst="line">
            <a:avLst/>
          </a:prstGeom>
          <a:noFill/>
          <a:ln w="12700">
            <a:solidFill>
              <a:srgbClr val="D7E0EE"/>
            </a:solidFill>
            <a:prstDash val="solid"/>
          </a:ln>
        </p:spPr>
      </p:sp>
      <p:sp>
        <p:nvSpPr>
          <p:cNvPr id="24" name="Shape 22"/>
          <p:cNvSpPr/>
          <p:nvPr/>
        </p:nvSpPr>
        <p:spPr>
          <a:xfrm>
            <a:off x="548640" y="5289804"/>
            <a:ext cx="502920" cy="502920"/>
          </a:xfrm>
          <a:prstGeom prst="ellipse">
            <a:avLst/>
          </a:prstGeom>
          <a:solidFill>
            <a:srgbClr val="FF6B4A"/>
          </a:solidFill>
          <a:ln/>
        </p:spPr>
      </p:sp>
      <p:sp>
        <p:nvSpPr>
          <p:cNvPr id="25" name="Text 23"/>
          <p:cNvSpPr txBox="1"/>
          <p:nvPr/>
        </p:nvSpPr>
        <p:spPr>
          <a:xfrm>
            <a:off x="548640" y="5289804"/>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6" name="Text 24"/>
          <p:cNvSpPr txBox="1"/>
          <p:nvPr/>
        </p:nvSpPr>
        <p:spPr>
          <a:xfrm>
            <a:off x="1280160" y="5093208"/>
            <a:ext cx="9966960" cy="365760"/>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Performa bulanan sangat fluktuatif</a:t>
            </a:r>
            <a:endParaRPr lang="en-US" sz="1500" dirty="0"/>
          </a:p>
        </p:txBody>
      </p:sp>
      <p:sp>
        <p:nvSpPr>
          <p:cNvPr id="27" name="Text 25"/>
          <p:cNvSpPr txBox="1"/>
          <p:nvPr/>
        </p:nvSpPr>
        <p:spPr>
          <a:xfrm>
            <a:off x="1280160" y="5440680"/>
            <a:ext cx="9966960" cy="457200"/>
          </a:xfrm>
          <a:prstGeom prst="rect">
            <a:avLst/>
          </a:prstGeom>
          <a:noFill/>
          <a:ln/>
        </p:spPr>
        <p:txBody>
          <a:bodyPr wrap="square" lIns="0" tIns="0" rIns="0" bIns="0" rtlCol="0" anchor="ctr"/>
          <a:lstStyle/>
          <a:p>
            <a:pPr indent="0" marL="0">
              <a:lnSpc>
                <a:spcPct val="115000"/>
              </a:lnSpc>
              <a:buNone/>
            </a:pPr>
            <a:r>
              <a:rPr lang="en-US" sz="1200" dirty="0">
                <a:solidFill>
                  <a:srgbClr val="5B6B85"/>
                </a:solidFill>
                <a:latin typeface="Calibri" pitchFamily="34" charset="0"/>
                <a:ea typeface="Calibri" pitchFamily="34" charset="-122"/>
                <a:cs typeface="Calibri" pitchFamily="34" charset="-120"/>
              </a:rPr>
              <a:t>Growth berayun dari -42,9% sampai +54,1% month over month, tanpa pola musiman.</a:t>
            </a:r>
            <a:endParaRPr lang="en-US" sz="1200" dirty="0"/>
          </a:p>
        </p:txBody>
      </p:sp>
      <p:sp>
        <p:nvSpPr>
          <p:cNvPr id="28" name="Text 26"/>
          <p:cNvSpPr txBox="1"/>
          <p:nvPr/>
        </p:nvSpPr>
        <p:spPr>
          <a:xfrm>
            <a:off x="457200" y="6537960"/>
            <a:ext cx="7315200" cy="274320"/>
          </a:xfrm>
          <a:prstGeom prst="rect">
            <a:avLst/>
          </a:prstGeom>
          <a:noFill/>
          <a:ln/>
        </p:spPr>
        <p:txBody>
          <a:bodyPr wrap="square" lIns="0" tIns="0" rIns="0" bIns="0" rtlCol="0" anchor="ctr"/>
          <a:lstStyle/>
          <a:p>
            <a:pPr indent="0" marL="0">
              <a:buNone/>
            </a:pPr>
            <a:r>
              <a:rPr lang="en-US" sz="900" dirty="0">
                <a:solidFill>
                  <a:srgbClr val="5B6B85"/>
                </a:solidFill>
                <a:latin typeface="Calibri" pitchFamily="34" charset="0"/>
                <a:ea typeface="Calibri" pitchFamily="34" charset="-122"/>
                <a:cs typeface="Calibri" pitchFamily="34" charset="-120"/>
              </a:rPr>
              <a:t>Analisis Penjualan E-Commerce — Studi Kasus Bisnis</a:t>
            </a:r>
            <a:endParaRPr lang="en-US" sz="900" dirty="0"/>
          </a:p>
        </p:txBody>
      </p:sp>
      <p:sp>
        <p:nvSpPr>
          <p:cNvPr id="29" name="Text 27"/>
          <p:cNvSpPr txBox="1"/>
          <p:nvPr/>
        </p:nvSpPr>
        <p:spPr>
          <a:xfrm>
            <a:off x="11274552" y="6537960"/>
            <a:ext cx="457200" cy="274320"/>
          </a:xfrm>
          <a:prstGeom prst="rect">
            <a:avLst/>
          </a:prstGeom>
          <a:noFill/>
          <a:ln/>
        </p:spPr>
        <p:txBody>
          <a:bodyPr wrap="square" lIns="0" tIns="0" rIns="0" bIns="0" rtlCol="0" anchor="ctr"/>
          <a:lstStyle/>
          <a:p>
            <a:pPr algn="r" indent="0" marL="0">
              <a:buNone/>
            </a:pPr>
            <a:r>
              <a:rPr lang="en-US" sz="900" dirty="0">
                <a:solidFill>
                  <a:srgbClr val="5B6B85"/>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AF1FB"/>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FF6B4A"/>
                </a:solidFill>
                <a:latin typeface="Calibri" pitchFamily="34" charset="0"/>
                <a:ea typeface="Calibri" pitchFamily="34" charset="-122"/>
                <a:cs typeface="Calibri" pitchFamily="34" charset="-120"/>
              </a:rPr>
              <a:t>REKOMENDASI</a:t>
            </a:r>
            <a:endParaRPr lang="en-US" sz="1300" dirty="0"/>
          </a:p>
        </p:txBody>
      </p:sp>
      <p:sp>
        <p:nvSpPr>
          <p:cNvPr id="3" name="Text 1"/>
          <p:cNvSpPr txBox="1"/>
          <p:nvPr/>
        </p:nvSpPr>
        <p:spPr>
          <a:xfrm>
            <a:off x="548640" y="658368"/>
            <a:ext cx="10515600" cy="73152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Empat Aksi untuk Mengurangi Risiko dan Menumbuhkan Nilai</a:t>
            </a:r>
            <a:endParaRPr lang="en-US" sz="3000" dirty="0"/>
          </a:p>
        </p:txBody>
      </p:sp>
      <p:sp>
        <p:nvSpPr>
          <p:cNvPr id="4" name="Shape 2"/>
          <p:cNvSpPr/>
          <p:nvPr/>
        </p:nvSpPr>
        <p:spPr>
          <a:xfrm>
            <a:off x="548640" y="1508760"/>
            <a:ext cx="5166360" cy="2148840"/>
          </a:xfrm>
          <a:prstGeom prst="roundRect">
            <a:avLst>
              <a:gd name="adj" fmla="val 3830"/>
            </a:avLst>
          </a:prstGeom>
          <a:solidFill>
            <a:srgbClr val="FFFFFF"/>
          </a:solidFill>
          <a:ln/>
          <a:effectLst>
            <a:outerShdw sx="100000" sy="100000" kx="0" ky="0" algn="bl" rotWithShape="0" blurRad="76200" dist="25400" dir="5400000">
              <a:srgbClr val="1B2A4A">
                <a:alpha val="10000"/>
              </a:srgbClr>
            </a:outerShdw>
          </a:effectLst>
        </p:spPr>
      </p:sp>
      <p:sp>
        <p:nvSpPr>
          <p:cNvPr id="5" name="Shape 3"/>
          <p:cNvSpPr/>
          <p:nvPr/>
        </p:nvSpPr>
        <p:spPr>
          <a:xfrm>
            <a:off x="804672" y="1764792"/>
            <a:ext cx="502920" cy="502920"/>
          </a:xfrm>
          <a:prstGeom prst="ellipse">
            <a:avLst/>
          </a:prstGeom>
          <a:solidFill>
            <a:srgbClr val="FF6B4A"/>
          </a:solidFill>
          <a:ln/>
        </p:spPr>
      </p:sp>
      <p:sp>
        <p:nvSpPr>
          <p:cNvPr id="6" name="Text 4"/>
          <p:cNvSpPr txBox="1"/>
          <p:nvPr/>
        </p:nvSpPr>
        <p:spPr>
          <a:xfrm>
            <a:off x="804672" y="176479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txBox="1"/>
          <p:nvPr/>
        </p:nvSpPr>
        <p:spPr>
          <a:xfrm>
            <a:off x="1463040" y="1764792"/>
            <a:ext cx="3977640" cy="594360"/>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Diversifikasi di luar region East</a:t>
            </a:r>
            <a:endParaRPr lang="en-US" sz="1400" dirty="0"/>
          </a:p>
        </p:txBody>
      </p:sp>
      <p:sp>
        <p:nvSpPr>
          <p:cNvPr id="8" name="Text 6"/>
          <p:cNvSpPr txBox="1"/>
          <p:nvPr/>
        </p:nvSpPr>
        <p:spPr>
          <a:xfrm>
            <a:off x="804672" y="2423160"/>
            <a:ext cx="4654296" cy="1051560"/>
          </a:xfrm>
          <a:prstGeom prst="rect">
            <a:avLst/>
          </a:prstGeom>
          <a:noFill/>
          <a:ln/>
        </p:spPr>
        <p:txBody>
          <a:bodyPr wrap="square" lIns="0" tIns="0" rIns="0" bIns="0" rtlCol="0" anchor="ctr"/>
          <a:lstStyle/>
          <a:p>
            <a:pPr indent="0" marL="0">
              <a:lnSpc>
                <a:spcPct val="120000"/>
              </a:lnSpc>
              <a:buNone/>
            </a:pPr>
            <a:r>
              <a:rPr lang="en-US" sz="1150" dirty="0">
                <a:solidFill>
                  <a:srgbClr val="5B6B85"/>
                </a:solidFill>
                <a:latin typeface="Calibri" pitchFamily="34" charset="0"/>
                <a:ea typeface="Calibri" pitchFamily="34" charset="-122"/>
                <a:cs typeface="Calibri" pitchFamily="34" charset="-120"/>
              </a:rPr>
              <a:t>Pilot investasi marketing dan fulfillment yang tertarget di Midwest dan South sebelum West, pakai playbook East sebagai contoh.</a:t>
            </a:r>
            <a:endParaRPr lang="en-US" sz="1150" dirty="0"/>
          </a:p>
        </p:txBody>
      </p:sp>
      <p:sp>
        <p:nvSpPr>
          <p:cNvPr id="9" name="Shape 7"/>
          <p:cNvSpPr/>
          <p:nvPr/>
        </p:nvSpPr>
        <p:spPr>
          <a:xfrm>
            <a:off x="5989320" y="1508760"/>
            <a:ext cx="5166360" cy="2148840"/>
          </a:xfrm>
          <a:prstGeom prst="roundRect">
            <a:avLst>
              <a:gd name="adj" fmla="val 3830"/>
            </a:avLst>
          </a:prstGeom>
          <a:solidFill>
            <a:srgbClr val="FFFFFF"/>
          </a:solidFill>
          <a:ln/>
          <a:effectLst>
            <a:outerShdw sx="100000" sy="100000" kx="0" ky="0" algn="bl" rotWithShape="0" blurRad="76200" dist="25400" dir="5400000">
              <a:srgbClr val="1B2A4A">
                <a:alpha val="10000"/>
              </a:srgbClr>
            </a:outerShdw>
          </a:effectLst>
        </p:spPr>
      </p:sp>
      <p:sp>
        <p:nvSpPr>
          <p:cNvPr id="10" name="Shape 8"/>
          <p:cNvSpPr/>
          <p:nvPr/>
        </p:nvSpPr>
        <p:spPr>
          <a:xfrm>
            <a:off x="6245352" y="1764792"/>
            <a:ext cx="502920" cy="502920"/>
          </a:xfrm>
          <a:prstGeom prst="ellipse">
            <a:avLst/>
          </a:prstGeom>
          <a:solidFill>
            <a:srgbClr val="FF6B4A"/>
          </a:solidFill>
          <a:ln/>
        </p:spPr>
      </p:sp>
      <p:sp>
        <p:nvSpPr>
          <p:cNvPr id="11" name="Text 9"/>
          <p:cNvSpPr txBox="1"/>
          <p:nvPr/>
        </p:nvSpPr>
        <p:spPr>
          <a:xfrm>
            <a:off x="6245352" y="176479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Text 10"/>
          <p:cNvSpPr txBox="1"/>
          <p:nvPr/>
        </p:nvSpPr>
        <p:spPr>
          <a:xfrm>
            <a:off x="6903720" y="1764792"/>
            <a:ext cx="3977640" cy="594360"/>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Luncurkan penawaran bundling &amp; cross-sell</a:t>
            </a:r>
            <a:endParaRPr lang="en-US" sz="1400" dirty="0"/>
          </a:p>
        </p:txBody>
      </p:sp>
      <p:sp>
        <p:nvSpPr>
          <p:cNvPr id="13" name="Text 11"/>
          <p:cNvSpPr txBox="1"/>
          <p:nvPr/>
        </p:nvSpPr>
        <p:spPr>
          <a:xfrm>
            <a:off x="6245352" y="2423160"/>
            <a:ext cx="4654296" cy="1051560"/>
          </a:xfrm>
          <a:prstGeom prst="rect">
            <a:avLst/>
          </a:prstGeom>
          <a:noFill/>
          <a:ln/>
        </p:spPr>
        <p:txBody>
          <a:bodyPr wrap="square" lIns="0" tIns="0" rIns="0" bIns="0" rtlCol="0" anchor="ctr"/>
          <a:lstStyle/>
          <a:p>
            <a:pPr indent="0" marL="0">
              <a:lnSpc>
                <a:spcPct val="120000"/>
              </a:lnSpc>
              <a:buNone/>
            </a:pPr>
            <a:r>
              <a:rPr lang="en-US" sz="1150" dirty="0">
                <a:solidFill>
                  <a:srgbClr val="5B6B85"/>
                </a:solidFill>
                <a:latin typeface="Calibri" pitchFamily="34" charset="0"/>
                <a:ea typeface="Calibri" pitchFamily="34" charset="-122"/>
                <a:cs typeface="Calibri" pitchFamily="34" charset="-120"/>
              </a:rPr>
              <a:t>Pasangkan kategori yang sering dibeli bareng (misal aksesori Electronics) buat naikkan AOV dari $78,33 tanpa diskon.</a:t>
            </a:r>
            <a:endParaRPr lang="en-US" sz="1150" dirty="0"/>
          </a:p>
        </p:txBody>
      </p:sp>
      <p:sp>
        <p:nvSpPr>
          <p:cNvPr id="14" name="Shape 12"/>
          <p:cNvSpPr/>
          <p:nvPr/>
        </p:nvSpPr>
        <p:spPr>
          <a:xfrm>
            <a:off x="548640" y="3931920"/>
            <a:ext cx="5166360" cy="2148840"/>
          </a:xfrm>
          <a:prstGeom prst="roundRect">
            <a:avLst>
              <a:gd name="adj" fmla="val 3830"/>
            </a:avLst>
          </a:prstGeom>
          <a:solidFill>
            <a:srgbClr val="FFFFFF"/>
          </a:solidFill>
          <a:ln/>
          <a:effectLst>
            <a:outerShdw sx="100000" sy="100000" kx="0" ky="0" algn="bl" rotWithShape="0" blurRad="76200" dist="25400" dir="5400000">
              <a:srgbClr val="1B2A4A">
                <a:alpha val="10000"/>
              </a:srgbClr>
            </a:outerShdw>
          </a:effectLst>
        </p:spPr>
      </p:sp>
      <p:sp>
        <p:nvSpPr>
          <p:cNvPr id="15" name="Shape 13"/>
          <p:cNvSpPr/>
          <p:nvPr/>
        </p:nvSpPr>
        <p:spPr>
          <a:xfrm>
            <a:off x="804672" y="4187952"/>
            <a:ext cx="502920" cy="502920"/>
          </a:xfrm>
          <a:prstGeom prst="ellipse">
            <a:avLst/>
          </a:prstGeom>
          <a:solidFill>
            <a:srgbClr val="FF6B4A"/>
          </a:solidFill>
          <a:ln/>
        </p:spPr>
      </p:sp>
      <p:sp>
        <p:nvSpPr>
          <p:cNvPr id="16" name="Text 14"/>
          <p:cNvSpPr txBox="1"/>
          <p:nvPr/>
        </p:nvSpPr>
        <p:spPr>
          <a:xfrm>
            <a:off x="804672" y="418795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Text 15"/>
          <p:cNvSpPr txBox="1"/>
          <p:nvPr/>
        </p:nvSpPr>
        <p:spPr>
          <a:xfrm>
            <a:off x="1463040" y="4187952"/>
            <a:ext cx="3977640" cy="594360"/>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Investasi di akuisisi customer baru</a:t>
            </a:r>
            <a:endParaRPr lang="en-US" sz="1400" dirty="0"/>
          </a:p>
        </p:txBody>
      </p:sp>
      <p:sp>
        <p:nvSpPr>
          <p:cNvPr id="18" name="Text 16"/>
          <p:cNvSpPr txBox="1"/>
          <p:nvPr/>
        </p:nvSpPr>
        <p:spPr>
          <a:xfrm>
            <a:off x="804672" y="4846320"/>
            <a:ext cx="4654296" cy="1051560"/>
          </a:xfrm>
          <a:prstGeom prst="rect">
            <a:avLst/>
          </a:prstGeom>
          <a:noFill/>
          <a:ln/>
        </p:spPr>
        <p:txBody>
          <a:bodyPr wrap="square" lIns="0" tIns="0" rIns="0" bIns="0" rtlCol="0" anchor="ctr"/>
          <a:lstStyle/>
          <a:p>
            <a:pPr indent="0" marL="0">
              <a:lnSpc>
                <a:spcPct val="120000"/>
              </a:lnSpc>
              <a:buNone/>
            </a:pPr>
            <a:r>
              <a:rPr lang="en-US" sz="1150" dirty="0">
                <a:solidFill>
                  <a:srgbClr val="5B6B85"/>
                </a:solidFill>
                <a:latin typeface="Calibri" pitchFamily="34" charset="0"/>
                <a:ea typeface="Calibri" pitchFamily="34" charset="-122"/>
                <a:cs typeface="Calibri" pitchFamily="34" charset="-120"/>
              </a:rPr>
              <a:t>Retensi udah excellent (98,8% repeat); pertumbuhan sekarang bergantung pada channel paid/referral yang bawa customer baru.</a:t>
            </a:r>
            <a:endParaRPr lang="en-US" sz="1150" dirty="0"/>
          </a:p>
        </p:txBody>
      </p:sp>
      <p:sp>
        <p:nvSpPr>
          <p:cNvPr id="19" name="Shape 17"/>
          <p:cNvSpPr/>
          <p:nvPr/>
        </p:nvSpPr>
        <p:spPr>
          <a:xfrm>
            <a:off x="5989320" y="3931920"/>
            <a:ext cx="5166360" cy="2148840"/>
          </a:xfrm>
          <a:prstGeom prst="roundRect">
            <a:avLst>
              <a:gd name="adj" fmla="val 3830"/>
            </a:avLst>
          </a:prstGeom>
          <a:solidFill>
            <a:srgbClr val="FFFFFF"/>
          </a:solidFill>
          <a:ln/>
          <a:effectLst>
            <a:outerShdw sx="100000" sy="100000" kx="0" ky="0" algn="bl" rotWithShape="0" blurRad="76200" dist="25400" dir="5400000">
              <a:srgbClr val="1B2A4A">
                <a:alpha val="10000"/>
              </a:srgbClr>
            </a:outerShdw>
          </a:effectLst>
        </p:spPr>
      </p:sp>
      <p:sp>
        <p:nvSpPr>
          <p:cNvPr id="20" name="Shape 18"/>
          <p:cNvSpPr/>
          <p:nvPr/>
        </p:nvSpPr>
        <p:spPr>
          <a:xfrm>
            <a:off x="6245352" y="4187952"/>
            <a:ext cx="502920" cy="502920"/>
          </a:xfrm>
          <a:prstGeom prst="ellipse">
            <a:avLst/>
          </a:prstGeom>
          <a:solidFill>
            <a:srgbClr val="FF6B4A"/>
          </a:solidFill>
          <a:ln/>
        </p:spPr>
      </p:sp>
      <p:sp>
        <p:nvSpPr>
          <p:cNvPr id="21" name="Text 19"/>
          <p:cNvSpPr txBox="1"/>
          <p:nvPr/>
        </p:nvSpPr>
        <p:spPr>
          <a:xfrm>
            <a:off x="6245352" y="418795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2" name="Text 20"/>
          <p:cNvSpPr txBox="1"/>
          <p:nvPr/>
        </p:nvSpPr>
        <p:spPr>
          <a:xfrm>
            <a:off x="6903720" y="4187952"/>
            <a:ext cx="3977640" cy="594360"/>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Bangun demand forecast sederhana</a:t>
            </a:r>
            <a:endParaRPr lang="en-US" sz="1400" dirty="0"/>
          </a:p>
        </p:txBody>
      </p:sp>
      <p:sp>
        <p:nvSpPr>
          <p:cNvPr id="23" name="Text 21"/>
          <p:cNvSpPr txBox="1"/>
          <p:nvPr/>
        </p:nvSpPr>
        <p:spPr>
          <a:xfrm>
            <a:off x="6245352" y="4846320"/>
            <a:ext cx="4654296" cy="1051560"/>
          </a:xfrm>
          <a:prstGeom prst="rect">
            <a:avLst/>
          </a:prstGeom>
          <a:noFill/>
          <a:ln/>
        </p:spPr>
        <p:txBody>
          <a:bodyPr wrap="square" lIns="0" tIns="0" rIns="0" bIns="0" rtlCol="0" anchor="ctr"/>
          <a:lstStyle/>
          <a:p>
            <a:pPr indent="0" marL="0">
              <a:lnSpc>
                <a:spcPct val="120000"/>
              </a:lnSpc>
              <a:buNone/>
            </a:pPr>
            <a:r>
              <a:rPr lang="en-US" sz="1150" dirty="0">
                <a:solidFill>
                  <a:srgbClr val="5B6B85"/>
                </a:solidFill>
                <a:latin typeface="Calibri" pitchFamily="34" charset="0"/>
                <a:ea typeface="Calibri" pitchFamily="34" charset="-122"/>
                <a:cs typeface="Calibri" pitchFamily="34" charset="-120"/>
              </a:rPr>
              <a:t>Pakai pola fluktuasi -42,9% sampai +54,1% MoM buat rencanakan inventory dan staffing, bukan bereaksi tiap ada lonjakan atau penurunan.</a:t>
            </a:r>
            <a:endParaRPr lang="en-US" sz="1150" dirty="0"/>
          </a:p>
        </p:txBody>
      </p:sp>
      <p:sp>
        <p:nvSpPr>
          <p:cNvPr id="24" name="Text 22"/>
          <p:cNvSpPr txBox="1"/>
          <p:nvPr/>
        </p:nvSpPr>
        <p:spPr>
          <a:xfrm>
            <a:off x="457200" y="6537960"/>
            <a:ext cx="7315200" cy="274320"/>
          </a:xfrm>
          <a:prstGeom prst="rect">
            <a:avLst/>
          </a:prstGeom>
          <a:noFill/>
          <a:ln/>
        </p:spPr>
        <p:txBody>
          <a:bodyPr wrap="square" lIns="0" tIns="0" rIns="0" bIns="0" rtlCol="0" anchor="ctr"/>
          <a:lstStyle/>
          <a:p>
            <a:pPr indent="0" marL="0">
              <a:buNone/>
            </a:pPr>
            <a:r>
              <a:rPr lang="en-US" sz="900" dirty="0">
                <a:solidFill>
                  <a:srgbClr val="5B6B85"/>
                </a:solidFill>
                <a:latin typeface="Calibri" pitchFamily="34" charset="0"/>
                <a:ea typeface="Calibri" pitchFamily="34" charset="-122"/>
                <a:cs typeface="Calibri" pitchFamily="34" charset="-120"/>
              </a:rPr>
              <a:t>Analisis Penjualan E-Commerce — Studi Kasus Bisnis</a:t>
            </a:r>
            <a:endParaRPr lang="en-US" sz="900" dirty="0"/>
          </a:p>
        </p:txBody>
      </p:sp>
      <p:sp>
        <p:nvSpPr>
          <p:cNvPr id="25" name="Text 23"/>
          <p:cNvSpPr txBox="1"/>
          <p:nvPr/>
        </p:nvSpPr>
        <p:spPr>
          <a:xfrm>
            <a:off x="11274552" y="6537960"/>
            <a:ext cx="457200" cy="274320"/>
          </a:xfrm>
          <a:prstGeom prst="rect">
            <a:avLst/>
          </a:prstGeom>
          <a:noFill/>
          <a:ln/>
        </p:spPr>
        <p:txBody>
          <a:bodyPr wrap="square" lIns="0" tIns="0" rIns="0" bIns="0" rtlCol="0" anchor="ctr"/>
          <a:lstStyle/>
          <a:p>
            <a:pPr algn="r" indent="0" marL="0">
              <a:buNone/>
            </a:pPr>
            <a:r>
              <a:rPr lang="en-US" sz="900" dirty="0">
                <a:solidFill>
                  <a:srgbClr val="5B6B85"/>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1463040" y="4206240"/>
            <a:ext cx="4206240" cy="4206240"/>
          </a:xfrm>
          <a:prstGeom prst="ellipse">
            <a:avLst/>
          </a:prstGeom>
          <a:solidFill>
            <a:srgbClr val="24365E"/>
          </a:solidFill>
          <a:ln/>
        </p:spPr>
      </p:sp>
      <p:sp>
        <p:nvSpPr>
          <p:cNvPr id="3" name="Shape 1"/>
          <p:cNvSpPr/>
          <p:nvPr/>
        </p:nvSpPr>
        <p:spPr>
          <a:xfrm>
            <a:off x="10607040" y="-1280160"/>
            <a:ext cx="3108960" cy="3108960"/>
          </a:xfrm>
          <a:prstGeom prst="ellipse">
            <a:avLst/>
          </a:prstGeom>
          <a:solidFill>
            <a:srgbClr val="24365E"/>
          </a:solidFill>
          <a:ln/>
        </p:spPr>
      </p:sp>
      <p:sp>
        <p:nvSpPr>
          <p:cNvPr id="4" name="Text 2"/>
          <p:cNvSpPr txBox="1"/>
          <p:nvPr/>
        </p:nvSpPr>
        <p:spPr>
          <a:xfrm>
            <a:off x="822960" y="822960"/>
            <a:ext cx="7315200" cy="365760"/>
          </a:xfrm>
          <a:prstGeom prst="rect">
            <a:avLst/>
          </a:prstGeom>
          <a:noFill/>
          <a:ln/>
        </p:spPr>
        <p:txBody>
          <a:bodyPr wrap="square" lIns="0" tIns="0" rIns="0" bIns="0" rtlCol="0" anchor="ctr"/>
          <a:lstStyle/>
          <a:p>
            <a:pPr indent="0" marL="0">
              <a:buNone/>
            </a:pPr>
            <a:r>
              <a:rPr lang="en-US" sz="1300" b="1" spc="200" kern="0" dirty="0">
                <a:solidFill>
                  <a:srgbClr val="FF6B4A"/>
                </a:solidFill>
                <a:latin typeface="Calibri" pitchFamily="34" charset="0"/>
                <a:ea typeface="Calibri" pitchFamily="34" charset="-122"/>
                <a:cs typeface="Calibri" pitchFamily="34" charset="-120"/>
              </a:rPr>
              <a:t>KESIMPULAN</a:t>
            </a:r>
            <a:endParaRPr lang="en-US" sz="1300" dirty="0"/>
          </a:p>
        </p:txBody>
      </p:sp>
      <p:sp>
        <p:nvSpPr>
          <p:cNvPr id="5" name="Text 3"/>
          <p:cNvSpPr txBox="1"/>
          <p:nvPr/>
        </p:nvSpPr>
        <p:spPr>
          <a:xfrm>
            <a:off x="777240" y="1234440"/>
            <a:ext cx="10058400" cy="91440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Bisnis yang Sehat dengan Dua Risiko yang Bisa Diperbaiki</a:t>
            </a:r>
            <a:endParaRPr lang="en-US" sz="3200" dirty="0"/>
          </a:p>
        </p:txBody>
      </p:sp>
      <p:sp>
        <p:nvSpPr>
          <p:cNvPr id="6" name="Text 4"/>
          <p:cNvSpPr txBox="1"/>
          <p:nvPr/>
        </p:nvSpPr>
        <p:spPr>
          <a:xfrm>
            <a:off x="822960" y="2331720"/>
            <a:ext cx="9692640" cy="1463040"/>
          </a:xfrm>
          <a:prstGeom prst="rect">
            <a:avLst/>
          </a:prstGeom>
          <a:noFill/>
          <a:ln/>
        </p:spPr>
        <p:txBody>
          <a:bodyPr wrap="square" lIns="0" tIns="0" rIns="0" bIns="0" rtlCol="0" anchor="ctr"/>
          <a:lstStyle/>
          <a:p>
            <a:pPr indent="0" marL="0">
              <a:lnSpc>
                <a:spcPct val="130000"/>
              </a:lnSpc>
              <a:buNone/>
            </a:pPr>
            <a:r>
              <a:rPr lang="en-US" sz="1450" dirty="0">
                <a:solidFill>
                  <a:srgbClr val="D7E0EE"/>
                </a:solidFill>
                <a:latin typeface="Calibri" pitchFamily="34" charset="0"/>
                <a:ea typeface="Calibri" pitchFamily="34" charset="-122"/>
                <a:cs typeface="Calibri" pitchFamily="34" charset="-120"/>
              </a:rPr>
              <a:t>Dua tahun data transaksi bersih bercerita konsisten lintas Excel, SQL, Python, dan Tableau: bisnis ini punya retensi customer yang sangat baik dan pemimpin kategori yang jelas di Electronics — tapi revenue terlalu bergantung pada satu region, dan nilai order tetap rendah meski customer terus balik lagi. Kedua risiko ini bisa diatasi lewat empat rekomendasi di slide sebelumnya, bukan masalah struktural yang butuh perubahan model bisnis.</a:t>
            </a:r>
            <a:endParaRPr lang="en-US" sz="1450" dirty="0"/>
          </a:p>
        </p:txBody>
      </p:sp>
      <p:sp>
        <p:nvSpPr>
          <p:cNvPr id="7" name="Text 5"/>
          <p:cNvSpPr txBox="1"/>
          <p:nvPr/>
        </p:nvSpPr>
        <p:spPr>
          <a:xfrm>
            <a:off x="822960" y="4114800"/>
            <a:ext cx="3108960" cy="502920"/>
          </a:xfrm>
          <a:prstGeom prst="rect">
            <a:avLst/>
          </a:prstGeom>
          <a:noFill/>
          <a:ln/>
        </p:spPr>
        <p:txBody>
          <a:bodyPr wrap="square" lIns="0" tIns="0" rIns="0" bIns="0" rtlCol="0" anchor="ctr"/>
          <a:lstStyle/>
          <a:p>
            <a:pPr indent="0" marL="0">
              <a:buNone/>
            </a:pPr>
            <a:r>
              <a:rPr lang="en-US" sz="2200" b="1" dirty="0">
                <a:solidFill>
                  <a:srgbClr val="FF6B4A"/>
                </a:solidFill>
                <a:latin typeface="Cambria" pitchFamily="34" charset="0"/>
                <a:ea typeface="Cambria" pitchFamily="34" charset="-122"/>
                <a:cs typeface="Cambria" pitchFamily="34" charset="-120"/>
              </a:rPr>
              <a:t>74,4%</a:t>
            </a:r>
            <a:endParaRPr lang="en-US" sz="2200" dirty="0"/>
          </a:p>
        </p:txBody>
      </p:sp>
      <p:sp>
        <p:nvSpPr>
          <p:cNvPr id="8" name="Text 6"/>
          <p:cNvSpPr txBox="1"/>
          <p:nvPr/>
        </p:nvSpPr>
        <p:spPr>
          <a:xfrm>
            <a:off x="822960" y="4617720"/>
            <a:ext cx="3108960" cy="457200"/>
          </a:xfrm>
          <a:prstGeom prst="rect">
            <a:avLst/>
          </a:prstGeom>
          <a:noFill/>
          <a:ln/>
        </p:spPr>
        <p:txBody>
          <a:bodyPr wrap="square" lIns="0" tIns="0" rIns="0" bIns="0" rtlCol="0" anchor="ctr"/>
          <a:lstStyle/>
          <a:p>
            <a:pPr indent="0" marL="0">
              <a:buNone/>
            </a:pPr>
            <a:r>
              <a:rPr lang="en-US" sz="1100" dirty="0">
                <a:solidFill>
                  <a:srgbClr val="94A6C4"/>
                </a:solidFill>
                <a:latin typeface="Calibri" pitchFamily="34" charset="0"/>
                <a:ea typeface="Calibri" pitchFamily="34" charset="-122"/>
                <a:cs typeface="Calibri" pitchFamily="34" charset="-120"/>
              </a:rPr>
              <a:t>revenue dari satu region</a:t>
            </a:r>
            <a:endParaRPr lang="en-US" sz="1100" dirty="0"/>
          </a:p>
        </p:txBody>
      </p:sp>
      <p:sp>
        <p:nvSpPr>
          <p:cNvPr id="9" name="Text 7"/>
          <p:cNvSpPr txBox="1"/>
          <p:nvPr/>
        </p:nvSpPr>
        <p:spPr>
          <a:xfrm>
            <a:off x="4069080" y="4114800"/>
            <a:ext cx="3108960" cy="502920"/>
          </a:xfrm>
          <a:prstGeom prst="rect">
            <a:avLst/>
          </a:prstGeom>
          <a:noFill/>
          <a:ln/>
        </p:spPr>
        <p:txBody>
          <a:bodyPr wrap="square" lIns="0" tIns="0" rIns="0" bIns="0" rtlCol="0" anchor="ctr"/>
          <a:lstStyle/>
          <a:p>
            <a:pPr indent="0" marL="0">
              <a:buNone/>
            </a:pPr>
            <a:r>
              <a:rPr lang="en-US" sz="2200" b="1" dirty="0">
                <a:solidFill>
                  <a:srgbClr val="FF6B4A"/>
                </a:solidFill>
                <a:latin typeface="Cambria" pitchFamily="34" charset="0"/>
                <a:ea typeface="Cambria" pitchFamily="34" charset="-122"/>
                <a:cs typeface="Cambria" pitchFamily="34" charset="-120"/>
              </a:rPr>
              <a:t>$78 vs $289</a:t>
            </a:r>
            <a:endParaRPr lang="en-US" sz="2200" dirty="0"/>
          </a:p>
        </p:txBody>
      </p:sp>
      <p:sp>
        <p:nvSpPr>
          <p:cNvPr id="10" name="Text 8"/>
          <p:cNvSpPr txBox="1"/>
          <p:nvPr/>
        </p:nvSpPr>
        <p:spPr>
          <a:xfrm>
            <a:off x="4069080" y="4617720"/>
            <a:ext cx="3108960" cy="457200"/>
          </a:xfrm>
          <a:prstGeom prst="rect">
            <a:avLst/>
          </a:prstGeom>
          <a:noFill/>
          <a:ln/>
        </p:spPr>
        <p:txBody>
          <a:bodyPr wrap="square" lIns="0" tIns="0" rIns="0" bIns="0" rtlCol="0" anchor="ctr"/>
          <a:lstStyle/>
          <a:p>
            <a:pPr indent="0" marL="0">
              <a:buNone/>
            </a:pPr>
            <a:r>
              <a:rPr lang="en-US" sz="1100" dirty="0">
                <a:solidFill>
                  <a:srgbClr val="94A6C4"/>
                </a:solidFill>
                <a:latin typeface="Calibri" pitchFamily="34" charset="0"/>
                <a:ea typeface="Calibri" pitchFamily="34" charset="-122"/>
                <a:cs typeface="Calibri" pitchFamily="34" charset="-120"/>
              </a:rPr>
              <a:t>AOV vs. revenue per customer</a:t>
            </a:r>
            <a:endParaRPr lang="en-US" sz="1100" dirty="0"/>
          </a:p>
        </p:txBody>
      </p:sp>
      <p:sp>
        <p:nvSpPr>
          <p:cNvPr id="11" name="Text 9"/>
          <p:cNvSpPr txBox="1"/>
          <p:nvPr/>
        </p:nvSpPr>
        <p:spPr>
          <a:xfrm>
            <a:off x="7315200" y="4114800"/>
            <a:ext cx="3108960" cy="502920"/>
          </a:xfrm>
          <a:prstGeom prst="rect">
            <a:avLst/>
          </a:prstGeom>
          <a:noFill/>
          <a:ln/>
        </p:spPr>
        <p:txBody>
          <a:bodyPr wrap="square" lIns="0" tIns="0" rIns="0" bIns="0" rtlCol="0" anchor="ctr"/>
          <a:lstStyle/>
          <a:p>
            <a:pPr indent="0" marL="0">
              <a:buNone/>
            </a:pPr>
            <a:r>
              <a:rPr lang="en-US" sz="2200" b="1" dirty="0">
                <a:solidFill>
                  <a:srgbClr val="FF6B4A"/>
                </a:solidFill>
                <a:latin typeface="Cambria" pitchFamily="34" charset="0"/>
                <a:ea typeface="Cambria" pitchFamily="34" charset="-122"/>
                <a:cs typeface="Cambria" pitchFamily="34" charset="-120"/>
              </a:rPr>
              <a:t>98,8%</a:t>
            </a:r>
            <a:endParaRPr lang="en-US" sz="2200" dirty="0"/>
          </a:p>
        </p:txBody>
      </p:sp>
      <p:sp>
        <p:nvSpPr>
          <p:cNvPr id="12" name="Text 10"/>
          <p:cNvSpPr txBox="1"/>
          <p:nvPr/>
        </p:nvSpPr>
        <p:spPr>
          <a:xfrm>
            <a:off x="7315200" y="4617720"/>
            <a:ext cx="3108960" cy="457200"/>
          </a:xfrm>
          <a:prstGeom prst="rect">
            <a:avLst/>
          </a:prstGeom>
          <a:noFill/>
          <a:ln/>
        </p:spPr>
        <p:txBody>
          <a:bodyPr wrap="square" lIns="0" tIns="0" rIns="0" bIns="0" rtlCol="0" anchor="ctr"/>
          <a:lstStyle/>
          <a:p>
            <a:pPr indent="0" marL="0">
              <a:buNone/>
            </a:pPr>
            <a:r>
              <a:rPr lang="en-US" sz="1100" dirty="0">
                <a:solidFill>
                  <a:srgbClr val="94A6C4"/>
                </a:solidFill>
                <a:latin typeface="Calibri" pitchFamily="34" charset="0"/>
                <a:ea typeface="Calibri" pitchFamily="34" charset="-122"/>
                <a:cs typeface="Calibri" pitchFamily="34" charset="-120"/>
              </a:rPr>
              <a:t>order dari repeat customer</a:t>
            </a:r>
            <a:endParaRPr lang="en-US" sz="1100" dirty="0"/>
          </a:p>
        </p:txBody>
      </p:sp>
      <p:sp>
        <p:nvSpPr>
          <p:cNvPr id="13" name="Shape 11"/>
          <p:cNvSpPr/>
          <p:nvPr/>
        </p:nvSpPr>
        <p:spPr>
          <a:xfrm>
            <a:off x="822960" y="5486400"/>
            <a:ext cx="10515600" cy="0"/>
          </a:xfrm>
          <a:prstGeom prst="line">
            <a:avLst/>
          </a:prstGeom>
          <a:noFill/>
          <a:ln w="12700">
            <a:solidFill>
              <a:srgbClr val="24365E"/>
            </a:solidFill>
            <a:prstDash val="solid"/>
          </a:ln>
        </p:spPr>
      </p:sp>
      <p:sp>
        <p:nvSpPr>
          <p:cNvPr id="14" name="Text 12"/>
          <p:cNvSpPr txBox="1"/>
          <p:nvPr/>
        </p:nvSpPr>
        <p:spPr>
          <a:xfrm>
            <a:off x="822960" y="5715000"/>
            <a:ext cx="731520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Selanjutnya: Day 7 — Portfolio Publication</a:t>
            </a:r>
            <a:endParaRPr lang="en-US" sz="1300" dirty="0"/>
          </a:p>
        </p:txBody>
      </p:sp>
      <p:sp>
        <p:nvSpPr>
          <p:cNvPr id="15" name="Text 13"/>
          <p:cNvSpPr txBox="1"/>
          <p:nvPr/>
        </p:nvSpPr>
        <p:spPr>
          <a:xfrm>
            <a:off x="822960" y="6080760"/>
            <a:ext cx="9692640" cy="365760"/>
          </a:xfrm>
          <a:prstGeom prst="rect">
            <a:avLst/>
          </a:prstGeom>
          <a:noFill/>
          <a:ln/>
        </p:spPr>
        <p:txBody>
          <a:bodyPr wrap="square" lIns="0" tIns="0" rIns="0" bIns="0" rtlCol="0" anchor="ctr"/>
          <a:lstStyle/>
          <a:p>
            <a:pPr indent="0" marL="0">
              <a:buNone/>
            </a:pPr>
            <a:r>
              <a:rPr lang="en-US" sz="1150" dirty="0">
                <a:solidFill>
                  <a:srgbClr val="94A6C4"/>
                </a:solidFill>
                <a:latin typeface="Calibri" pitchFamily="34" charset="0"/>
                <a:ea typeface="Calibri" pitchFamily="34" charset="-122"/>
                <a:cs typeface="Calibri" pitchFamily="34" charset="-120"/>
              </a:rPr>
              <a:t>Analisis lengkap, dashboard, dan dokumentasi: github.com/aloutvbs/ecommerce-sales-analysis</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2026-08-26T11:02:29Z</dcterms:created>
  <dcterms:modified xsi:type="dcterms:W3CDTF">2026-08-26T11:02:29Z</dcterms:modified>
</cp:coreProperties>
</file>