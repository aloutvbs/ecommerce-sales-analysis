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Monthly Revenue (USD)</c:v>
                </c:pt>
              </c:strCache>
            </c:strRef>
          </c:tx>
          <c:spPr>
            <a:solidFill>
              <a:srgbClr val="FF6B4A"/>
            </a:solidFill>
            <a:ln w="31750" cap="flat">
              <a:solidFill>
                <a:srgbClr val="FF6B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F6B4A"/>
              </a:solidFill>
              <a:ln w="9525" cap="flat">
                <a:solidFill>
                  <a:srgbClr val="FF6B4A"/>
                </a:solidFill>
                <a:prstDash val="solid"/>
                <a:round/>
              </a:ln>
              <a:effectLst/>
            </c:spPr>
          </c:marker>
          <c:cat>
            <c:multiLvlStrRef>
              <c:f>Sheet1!$A$2:$A$25</c:f>
              <c:multiLvlStrCache>
                <c:ptCount val="24"/>
                <c:lvl>
                  <c:pt idx="0">
                    <c:v>Jan23</c:v>
                  </c:pt>
                  <c:pt idx="1">
                    <c:v>Feb23</c:v>
                  </c:pt>
                  <c:pt idx="2">
                    <c:v>Mar23</c:v>
                  </c:pt>
                  <c:pt idx="3">
                    <c:v>Apr23</c:v>
                  </c:pt>
                  <c:pt idx="4">
                    <c:v>May23</c:v>
                  </c:pt>
                  <c:pt idx="5">
                    <c:v>Jun23</c:v>
                  </c:pt>
                  <c:pt idx="6">
                    <c:v>Jul23</c:v>
                  </c:pt>
                  <c:pt idx="7">
                    <c:v>Aug23</c:v>
                  </c:pt>
                  <c:pt idx="8">
                    <c:v>Sep23</c:v>
                  </c:pt>
                  <c:pt idx="9">
                    <c:v>Oct23</c:v>
                  </c:pt>
                  <c:pt idx="10">
                    <c:v>Nov23</c:v>
                  </c:pt>
                  <c:pt idx="11">
                    <c:v>Dec23</c:v>
                  </c:pt>
                  <c:pt idx="12">
                    <c:v>Jan24</c:v>
                  </c:pt>
                  <c:pt idx="13">
                    <c:v>Feb24</c:v>
                  </c:pt>
                  <c:pt idx="14">
                    <c:v>Mar24</c:v>
                  </c:pt>
                  <c:pt idx="15">
                    <c:v>Apr24</c:v>
                  </c:pt>
                  <c:pt idx="16">
                    <c:v>May24</c:v>
                  </c:pt>
                  <c:pt idx="17">
                    <c:v>Jun24</c:v>
                  </c:pt>
                  <c:pt idx="18">
                    <c:v>Jul24</c:v>
                  </c:pt>
                  <c:pt idx="19">
                    <c:v>Aug24</c:v>
                  </c:pt>
                  <c:pt idx="20">
                    <c:v>Sep24</c:v>
                  </c:pt>
                  <c:pt idx="21">
                    <c:v>Oct24</c:v>
                  </c:pt>
                  <c:pt idx="22">
                    <c:v>Nov24</c:v>
                  </c:pt>
                  <c:pt idx="23">
                    <c:v>Dec24</c:v>
                  </c:pt>
                </c:lvl>
              </c:multiLvlStrCache>
            </c:multiLvlStrRef>
          </c:cat>
          <c:val>
            <c:numRef>
              <c:f>Sheet1!$B$2:$B$25</c:f>
              <c:numCache>
                <c:formatCode>General</c:formatCode>
                <c:ptCount val="24"/>
                <c:pt idx="0">
                  <c:v>10999.53</c:v>
                </c:pt>
                <c:pt idx="1">
                  <c:v>11485.76</c:v>
                </c:pt>
                <c:pt idx="2">
                  <c:v>13600.22</c:v>
                </c:pt>
                <c:pt idx="3">
                  <c:v>10068.15</c:v>
                </c:pt>
                <c:pt idx="4">
                  <c:v>12690.06</c:v>
                </c:pt>
                <c:pt idx="5">
                  <c:v>7248.67</c:v>
                </c:pt>
                <c:pt idx="6">
                  <c:v>11168.56</c:v>
                </c:pt>
                <c:pt idx="7">
                  <c:v>11470.69</c:v>
                </c:pt>
                <c:pt idx="8">
                  <c:v>12740.75</c:v>
                </c:pt>
                <c:pt idx="9">
                  <c:v>11436.65</c:v>
                </c:pt>
                <c:pt idx="10">
                  <c:v>9873.17</c:v>
                </c:pt>
                <c:pt idx="11">
                  <c:v>7075.01</c:v>
                </c:pt>
                <c:pt idx="12">
                  <c:v>9416.06</c:v>
                </c:pt>
                <c:pt idx="13">
                  <c:v>8862.26</c:v>
                </c:pt>
                <c:pt idx="14">
                  <c:v>10659.45</c:v>
                </c:pt>
                <c:pt idx="15">
                  <c:v>9007.92</c:v>
                </c:pt>
                <c:pt idx="16">
                  <c:v>12166.04</c:v>
                </c:pt>
                <c:pt idx="17">
                  <c:v>8924.9</c:v>
                </c:pt>
                <c:pt idx="18">
                  <c:v>9983.49</c:v>
                </c:pt>
                <c:pt idx="19">
                  <c:v>10466.35</c:v>
                </c:pt>
                <c:pt idx="20">
                  <c:v>8546.15</c:v>
                </c:pt>
                <c:pt idx="21">
                  <c:v>11485.51</c:v>
                </c:pt>
                <c:pt idx="22">
                  <c:v>11660.19</c:v>
                </c:pt>
                <c:pt idx="23">
                  <c:v>11192.17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D7E0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(USD, Completed)</c:v>
                </c:pt>
              </c:strCache>
            </c:strRef>
          </c:tx>
          <c:spPr>
            <a:solidFill>
              <a:srgbClr val="1B2A4A"/>
            </a:solidFill>
            <a:effectLst/>
          </c:spPr>
          <c:invertIfNegative val="0"/>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cat>
            <c:multiLvlStrRef>
              <c:f>Sheet1!$A$2:$A$8</c:f>
              <c:multiLvlStrCache>
                <c:ptCount val="7"/>
                <c:lvl>
                  <c:pt idx="0">
                    <c:v>Electronics</c:v>
                  </c:pt>
                  <c:pt idx="1">
                    <c:v>Home &amp; Kitchen</c:v>
                  </c:pt>
                  <c:pt idx="2">
                    <c:v>Sports &amp; Outdoors</c:v>
                  </c:pt>
                  <c:pt idx="3">
                    <c:v>Clothing</c:v>
                  </c:pt>
                  <c:pt idx="4">
                    <c:v>Toys</c:v>
                  </c:pt>
                  <c:pt idx="5">
                    <c:v>Beauty</c:v>
                  </c:pt>
                  <c:pt idx="6">
                    <c:v>Books</c:v>
                  </c:pt>
                </c:lvl>
              </c:multiLvlStrCache>
            </c:multiLvlStrRef>
          </c:cat>
          <c:val>
            <c:numRef>
              <c:f>Sheet1!$B$2:$B$8</c:f>
              <c:numCache>
                <c:formatCode>General</c:formatCode>
                <c:ptCount val="7"/>
                <c:pt idx="0">
                  <c:v>63888.07</c:v>
                </c:pt>
                <c:pt idx="1">
                  <c:v>51020.37</c:v>
                </c:pt>
                <c:pt idx="2">
                  <c:v>39105.1</c:v>
                </c:pt>
                <c:pt idx="3">
                  <c:v>36403.65</c:v>
                </c:pt>
                <c:pt idx="4">
                  <c:v>25918.9</c:v>
                </c:pt>
                <c:pt idx="5">
                  <c:v>20153.94</c:v>
                </c:pt>
                <c:pt idx="6">
                  <c:v>15737.68</c:v>
                </c:pt>
              </c:numCache>
            </c:numRef>
          </c:val>
        </c:ser>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7E0E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by Region (USD)</c:v>
                </c:pt>
              </c:strCache>
            </c:strRef>
          </c:tx>
          <c:spPr>
            <a:solidFill>
              <a:srgbClr val="FF6B4A"/>
            </a:solidFill>
            <a:effectLst/>
          </c:spPr>
          <c:invertIfNegative val="0"/>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cat>
            <c:multiLvlStrRef>
              <c:f>Sheet1!$A$2:$A$5</c:f>
              <c:multiLvlStrCache>
                <c:ptCount val="4"/>
                <c:lvl>
                  <c:pt idx="0">
                    <c:v>East</c:v>
                  </c:pt>
                  <c:pt idx="1">
                    <c:v>Midwest</c:v>
                  </c:pt>
                  <c:pt idx="2">
                    <c:v>South</c:v>
                  </c:pt>
                  <c:pt idx="3">
                    <c:v>West</c:v>
                  </c:pt>
                </c:lvl>
              </c:multiLvlStrCache>
            </c:multiLvlStrRef>
          </c:cat>
          <c:val>
            <c:numRef>
              <c:f>Sheet1!$B$2:$B$5</c:f>
              <c:numCache>
                <c:formatCode>General</c:formatCode>
                <c:ptCount val="4"/>
                <c:pt idx="0">
                  <c:v>187615.92</c:v>
                </c:pt>
                <c:pt idx="1">
                  <c:v>50852.19</c:v>
                </c:pt>
                <c:pt idx="2">
                  <c:v>10903.92</c:v>
                </c:pt>
                <c:pt idx="3">
                  <c:v>2855.68</c:v>
                </c:pt>
              </c:numCache>
            </c:numRef>
          </c:val>
        </c:ser>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7E0E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966960" y="-1463040"/>
            <a:ext cx="4206240" cy="4206240"/>
          </a:xfrm>
          <a:prstGeom prst="ellipse">
            <a:avLst/>
          </a:prstGeom>
          <a:solidFill>
            <a:srgbClr val="24365E"/>
          </a:solidFill>
          <a:ln/>
        </p:spPr>
      </p:sp>
      <p:sp>
        <p:nvSpPr>
          <p:cNvPr id="3" name="Shape 1"/>
          <p:cNvSpPr/>
          <p:nvPr/>
        </p:nvSpPr>
        <p:spPr>
          <a:xfrm>
            <a:off x="11064240" y="4846320"/>
            <a:ext cx="2743200" cy="2743200"/>
          </a:xfrm>
          <a:prstGeom prst="ellipse">
            <a:avLst/>
          </a:prstGeom>
          <a:solidFill>
            <a:srgbClr val="24365E"/>
          </a:solidFill>
          <a:ln/>
        </p:spPr>
      </p:sp>
      <p:sp>
        <p:nvSpPr>
          <p:cNvPr id="4" name="Text 2"/>
          <p:cNvSpPr txBox="1"/>
          <p:nvPr/>
        </p:nvSpPr>
        <p:spPr>
          <a:xfrm>
            <a:off x="822960" y="1417320"/>
            <a:ext cx="9144000" cy="36576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DAY 6 — 7-DAY DATA ANALYST PORTFOLIO PROJECT</a:t>
            </a:r>
            <a:endParaRPr lang="en-US" sz="1300" dirty="0"/>
          </a:p>
        </p:txBody>
      </p:sp>
      <p:sp>
        <p:nvSpPr>
          <p:cNvPr id="5" name="Text 3"/>
          <p:cNvSpPr txBox="1"/>
          <p:nvPr/>
        </p:nvSpPr>
        <p:spPr>
          <a:xfrm>
            <a:off x="777240" y="1874520"/>
            <a:ext cx="10058400" cy="11887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Business Case Study</a:t>
            </a:r>
            <a:endParaRPr lang="en-US" sz="4800" dirty="0"/>
          </a:p>
        </p:txBody>
      </p:sp>
      <p:sp>
        <p:nvSpPr>
          <p:cNvPr id="6" name="Text 4"/>
          <p:cNvSpPr txBox="1"/>
          <p:nvPr/>
        </p:nvSpPr>
        <p:spPr>
          <a:xfrm>
            <a:off x="822960" y="2971800"/>
            <a:ext cx="9509760" cy="914400"/>
          </a:xfrm>
          <a:prstGeom prst="rect">
            <a:avLst/>
          </a:prstGeom>
          <a:noFill/>
          <a:ln/>
        </p:spPr>
        <p:txBody>
          <a:bodyPr wrap="square" lIns="0" tIns="0" rIns="0" bIns="0" rtlCol="0" anchor="ctr"/>
          <a:lstStyle/>
          <a:p>
            <a:pPr indent="0" marL="0">
              <a:lnSpc>
                <a:spcPct val="120000"/>
              </a:lnSpc>
              <a:buNone/>
            </a:pPr>
            <a:r>
              <a:rPr lang="en-US" sz="1700" i="1" dirty="0">
                <a:solidFill>
                  <a:srgbClr val="C9D6EC"/>
                </a:solidFill>
                <a:latin typeface="Calibri" pitchFamily="34" charset="0"/>
                <a:ea typeface="Calibri" pitchFamily="34" charset="-122"/>
                <a:cs typeface="Calibri" pitchFamily="34" charset="-120"/>
              </a:rPr>
              <a:t>E-Commerce Sales Performance: Diagnosing Revenue Concentration</a:t>
            </a:r>
            <a:endParaRPr lang="en-US" sz="1700" dirty="0"/>
          </a:p>
          <a:p>
            <a:pPr indent="0" marL="0">
              <a:lnSpc>
                <a:spcPct val="120000"/>
              </a:lnSpc>
              <a:buNone/>
            </a:pPr>
            <a:r>
              <a:rPr lang="en-US" sz="1700" i="1" dirty="0">
                <a:solidFill>
                  <a:srgbClr val="C9D6EC"/>
                </a:solidFill>
                <a:latin typeface="Calibri" pitchFamily="34" charset="0"/>
                <a:ea typeface="Calibri" pitchFamily="34" charset="-122"/>
                <a:cs typeface="Calibri" pitchFamily="34" charset="-120"/>
              </a:rPr>
              <a:t>and Order-Value Risk from Two Years of Transaction Data</a:t>
            </a:r>
            <a:endParaRPr lang="en-US" sz="1700" dirty="0"/>
          </a:p>
        </p:txBody>
      </p:sp>
      <p:sp>
        <p:nvSpPr>
          <p:cNvPr id="7" name="Shape 5"/>
          <p:cNvSpPr/>
          <p:nvPr/>
        </p:nvSpPr>
        <p:spPr>
          <a:xfrm>
            <a:off x="822960" y="4160520"/>
            <a:ext cx="2011680" cy="0"/>
          </a:xfrm>
          <a:prstGeom prst="line">
            <a:avLst/>
          </a:prstGeom>
          <a:noFill/>
          <a:ln w="31750">
            <a:solidFill>
              <a:srgbClr val="FF6B4A"/>
            </a:solidFill>
            <a:prstDash val="solid"/>
          </a:ln>
        </p:spPr>
      </p:sp>
      <p:sp>
        <p:nvSpPr>
          <p:cNvPr id="8" name="Text 6"/>
          <p:cNvSpPr txBox="1"/>
          <p:nvPr/>
        </p:nvSpPr>
        <p:spPr>
          <a:xfrm>
            <a:off x="822960" y="4434840"/>
            <a:ext cx="9144000" cy="365760"/>
          </a:xfrm>
          <a:prstGeom prst="rect">
            <a:avLst/>
          </a:prstGeom>
          <a:noFill/>
          <a:ln/>
        </p:spPr>
        <p:txBody>
          <a:bodyPr wrap="square" lIns="0" tIns="0" rIns="0" bIns="0" rtlCol="0" anchor="ctr"/>
          <a:lstStyle/>
          <a:p>
            <a:pPr indent="0" marL="0">
              <a:buNone/>
            </a:pPr>
            <a:r>
              <a:rPr lang="en-US" sz="1400" b="1" dirty="0">
                <a:solidFill>
                  <a:srgbClr val="FF6B4A"/>
                </a:solidFill>
                <a:latin typeface="Calibri" pitchFamily="34" charset="0"/>
                <a:ea typeface="Calibri" pitchFamily="34" charset="-122"/>
                <a:cs typeface="Calibri" pitchFamily="34" charset="-120"/>
              </a:rPr>
              <a:t>Business Problem</a:t>
            </a:r>
            <a:endParaRPr lang="en-US" sz="1400" dirty="0"/>
          </a:p>
        </p:txBody>
      </p:sp>
      <p:sp>
        <p:nvSpPr>
          <p:cNvPr id="9" name="Text 7"/>
          <p:cNvSpPr txBox="1"/>
          <p:nvPr/>
        </p:nvSpPr>
        <p:spPr>
          <a:xfrm>
            <a:off x="822960" y="4800600"/>
            <a:ext cx="9692640" cy="1005840"/>
          </a:xfrm>
          <a:prstGeom prst="rect">
            <a:avLst/>
          </a:prstGeom>
          <a:noFill/>
          <a:ln/>
        </p:spPr>
        <p:txBody>
          <a:bodyPr wrap="square" lIns="0" tIns="0" rIns="0" bIns="0" rtlCol="0" anchor="ctr"/>
          <a:lstStyle/>
          <a:p>
            <a:pPr indent="0" marL="0">
              <a:lnSpc>
                <a:spcPct val="125000"/>
              </a:lnSpc>
              <a:buNone/>
            </a:pPr>
            <a:r>
              <a:rPr lang="en-US" sz="1500" dirty="0">
                <a:solidFill>
                  <a:srgbClr val="E7ECF6"/>
                </a:solidFill>
                <a:latin typeface="Calibri" pitchFamily="34" charset="0"/>
                <a:ea typeface="Calibri" pitchFamily="34" charset="-122"/>
                <a:cs typeface="Calibri" pitchFamily="34" charset="-120"/>
              </a:rPr>
              <a:t>Leadership needs to know whether current sales performance is healthy and sustainable, or whether it is quietly concentrated in a single region and a single low-value transaction pattern that puts future growth at risk.</a:t>
            </a:r>
            <a:endParaRPr lang="en-US" sz="1500" dirty="0"/>
          </a:p>
        </p:txBody>
      </p:sp>
      <p:sp>
        <p:nvSpPr>
          <p:cNvPr id="10" name="Text 8"/>
          <p:cNvSpPr txBox="1"/>
          <p:nvPr/>
        </p:nvSpPr>
        <p:spPr>
          <a:xfrm>
            <a:off x="822960" y="6172200"/>
            <a:ext cx="9692640" cy="320040"/>
          </a:xfrm>
          <a:prstGeom prst="rect">
            <a:avLst/>
          </a:prstGeom>
          <a:noFill/>
          <a:ln/>
        </p:spPr>
        <p:txBody>
          <a:bodyPr wrap="square" lIns="0" tIns="0" rIns="0" bIns="0" rtlCol="0" anchor="ctr"/>
          <a:lstStyle/>
          <a:p>
            <a:pPr indent="0" marL="0">
              <a:buNone/>
            </a:pPr>
            <a:r>
              <a:rPr lang="en-US" sz="1100" dirty="0">
                <a:solidFill>
                  <a:srgbClr val="94A6C4"/>
                </a:solidFill>
                <a:latin typeface="Calibri" pitchFamily="34" charset="0"/>
                <a:ea typeface="Calibri" pitchFamily="34" charset="-122"/>
                <a:cs typeface="Calibri" pitchFamily="34" charset="-120"/>
              </a:rPr>
              <a:t>By Alya Shandy   |   Dataset: cleaned_sales_data.csv (3,933 orders, Jan 2023 – Dec 2024)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THE DATASET</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Two Years of E-Commerce Transactions</a:t>
            </a:r>
            <a:endParaRPr lang="en-US" sz="3000" dirty="0"/>
          </a:p>
        </p:txBody>
      </p:sp>
      <p:sp>
        <p:nvSpPr>
          <p:cNvPr id="4" name="Text 2"/>
          <p:cNvSpPr txBox="1"/>
          <p:nvPr/>
        </p:nvSpPr>
        <p:spPr>
          <a:xfrm>
            <a:off x="548640" y="1417320"/>
            <a:ext cx="10607040" cy="548640"/>
          </a:xfrm>
          <a:prstGeom prst="rect">
            <a:avLst/>
          </a:prstGeom>
          <a:noFill/>
          <a:ln/>
        </p:spPr>
        <p:txBody>
          <a:bodyPr wrap="square" lIns="0" tIns="0" rIns="0" bIns="0" rtlCol="0" anchor="ctr"/>
          <a:lstStyle/>
          <a:p>
            <a:pPr indent="0" marL="0">
              <a:lnSpc>
                <a:spcPct val="120000"/>
              </a:lnSpc>
              <a:buNone/>
            </a:pPr>
            <a:r>
              <a:rPr lang="en-US" sz="1400" dirty="0">
                <a:solidFill>
                  <a:srgbClr val="5B6B85"/>
                </a:solidFill>
                <a:latin typeface="Calibri" pitchFamily="34" charset="0"/>
                <a:ea typeface="Calibri" pitchFamily="34" charset="-122"/>
                <a:cs typeface="Calibri" pitchFamily="34" charset="-120"/>
              </a:rPr>
              <a:t>Every recommendation in this case study is grounded in a single, verified transaction dataset spanning two full years — enough history to separate real trends from monthly noise.</a:t>
            </a:r>
            <a:endParaRPr lang="en-US" sz="1400" dirty="0"/>
          </a:p>
        </p:txBody>
      </p:sp>
      <p:sp>
        <p:nvSpPr>
          <p:cNvPr id="5" name="Shape 3"/>
          <p:cNvSpPr/>
          <p:nvPr/>
        </p:nvSpPr>
        <p:spPr>
          <a:xfrm>
            <a:off x="548640" y="2286000"/>
            <a:ext cx="2468880" cy="1508760"/>
          </a:xfrm>
          <a:prstGeom prst="roundRect">
            <a:avLst>
              <a:gd name="adj" fmla="val 4848"/>
            </a:avLst>
          </a:prstGeom>
          <a:solidFill>
            <a:srgbClr val="FFFFFF"/>
          </a:solidFill>
          <a:ln/>
          <a:effectLst>
            <a:outerShdw sx="100000" sy="100000" kx="0" ky="0" algn="bl" rotWithShape="0" blurRad="101600" dist="38100" dir="5400000">
              <a:srgbClr val="1B2A4A">
                <a:alpha val="12000"/>
              </a:srgbClr>
            </a:outerShdw>
          </a:effectLst>
        </p:spPr>
      </p:sp>
      <p:sp>
        <p:nvSpPr>
          <p:cNvPr id="6" name="Text 4"/>
          <p:cNvSpPr txBox="1"/>
          <p:nvPr/>
        </p:nvSpPr>
        <p:spPr>
          <a:xfrm>
            <a:off x="548640" y="2487168"/>
            <a:ext cx="2468880" cy="640080"/>
          </a:xfrm>
          <a:prstGeom prst="rect">
            <a:avLst/>
          </a:prstGeom>
          <a:noFill/>
          <a:ln/>
        </p:spPr>
        <p:txBody>
          <a:bodyPr wrap="square" lIns="0" tIns="0" rIns="0" bIns="0" rtlCol="0" anchor="ctr"/>
          <a:lstStyle/>
          <a:p>
            <a:pPr algn="ctr" indent="0" marL="0">
              <a:buNone/>
            </a:pPr>
            <a:r>
              <a:rPr lang="en-US" sz="3400" b="1" dirty="0">
                <a:solidFill>
                  <a:srgbClr val="1B2A4A"/>
                </a:solidFill>
                <a:latin typeface="Cambria" pitchFamily="34" charset="0"/>
                <a:ea typeface="Cambria" pitchFamily="34" charset="-122"/>
                <a:cs typeface="Cambria" pitchFamily="34" charset="-120"/>
              </a:rPr>
              <a:t>3,933</a:t>
            </a:r>
            <a:endParaRPr lang="en-US" sz="3400" dirty="0"/>
          </a:p>
        </p:txBody>
      </p:sp>
      <p:sp>
        <p:nvSpPr>
          <p:cNvPr id="7" name="Text 5"/>
          <p:cNvSpPr txBox="1"/>
          <p:nvPr/>
        </p:nvSpPr>
        <p:spPr>
          <a:xfrm>
            <a:off x="685800" y="3200400"/>
            <a:ext cx="2194560" cy="457200"/>
          </a:xfrm>
          <a:prstGeom prst="rect">
            <a:avLst/>
          </a:prstGeom>
          <a:noFill/>
          <a:ln/>
        </p:spPr>
        <p:txBody>
          <a:bodyPr wrap="square" lIns="0" tIns="0" rIns="0" bIns="0" rtlCol="0" anchor="ctr"/>
          <a:lstStyle/>
          <a:p>
            <a:pPr algn="ctr" indent="0" marL="0">
              <a:buNone/>
            </a:pPr>
            <a:r>
              <a:rPr lang="en-US" sz="1200" dirty="0">
                <a:solidFill>
                  <a:srgbClr val="5B6B85"/>
                </a:solidFill>
                <a:latin typeface="Calibri" pitchFamily="34" charset="0"/>
                <a:ea typeface="Calibri" pitchFamily="34" charset="-122"/>
                <a:cs typeface="Calibri" pitchFamily="34" charset="-120"/>
              </a:rPr>
              <a:t>Orders</a:t>
            </a:r>
            <a:endParaRPr lang="en-US" sz="1200" dirty="0"/>
          </a:p>
        </p:txBody>
      </p:sp>
      <p:sp>
        <p:nvSpPr>
          <p:cNvPr id="8" name="Shape 6"/>
          <p:cNvSpPr/>
          <p:nvPr/>
        </p:nvSpPr>
        <p:spPr>
          <a:xfrm>
            <a:off x="3273552" y="2286000"/>
            <a:ext cx="2468880" cy="1508760"/>
          </a:xfrm>
          <a:prstGeom prst="roundRect">
            <a:avLst>
              <a:gd name="adj" fmla="val 4848"/>
            </a:avLst>
          </a:prstGeom>
          <a:solidFill>
            <a:srgbClr val="FFFFFF"/>
          </a:solidFill>
          <a:ln/>
          <a:effectLst>
            <a:outerShdw sx="100000" sy="100000" kx="0" ky="0" algn="bl" rotWithShape="0" blurRad="101600" dist="38100" dir="5400000">
              <a:srgbClr val="1B2A4A">
                <a:alpha val="12000"/>
              </a:srgbClr>
            </a:outerShdw>
          </a:effectLst>
        </p:spPr>
      </p:sp>
      <p:sp>
        <p:nvSpPr>
          <p:cNvPr id="9" name="Text 7"/>
          <p:cNvSpPr txBox="1"/>
          <p:nvPr/>
        </p:nvSpPr>
        <p:spPr>
          <a:xfrm>
            <a:off x="3273552" y="2487168"/>
            <a:ext cx="2468880" cy="640080"/>
          </a:xfrm>
          <a:prstGeom prst="rect">
            <a:avLst/>
          </a:prstGeom>
          <a:noFill/>
          <a:ln/>
        </p:spPr>
        <p:txBody>
          <a:bodyPr wrap="square" lIns="0" tIns="0" rIns="0" bIns="0" rtlCol="0" anchor="ctr"/>
          <a:lstStyle/>
          <a:p>
            <a:pPr algn="ctr" indent="0" marL="0">
              <a:buNone/>
            </a:pPr>
            <a:r>
              <a:rPr lang="en-US" sz="3400" b="1" dirty="0">
                <a:solidFill>
                  <a:srgbClr val="1B2A4A"/>
                </a:solidFill>
                <a:latin typeface="Cambria" pitchFamily="34" charset="0"/>
                <a:ea typeface="Cambria" pitchFamily="34" charset="-122"/>
                <a:cs typeface="Cambria" pitchFamily="34" charset="-120"/>
              </a:rPr>
              <a:t>889</a:t>
            </a:r>
            <a:endParaRPr lang="en-US" sz="3400" dirty="0"/>
          </a:p>
        </p:txBody>
      </p:sp>
      <p:sp>
        <p:nvSpPr>
          <p:cNvPr id="10" name="Text 8"/>
          <p:cNvSpPr txBox="1"/>
          <p:nvPr/>
        </p:nvSpPr>
        <p:spPr>
          <a:xfrm>
            <a:off x="3410712" y="3200400"/>
            <a:ext cx="2194560" cy="457200"/>
          </a:xfrm>
          <a:prstGeom prst="rect">
            <a:avLst/>
          </a:prstGeom>
          <a:noFill/>
          <a:ln/>
        </p:spPr>
        <p:txBody>
          <a:bodyPr wrap="square" lIns="0" tIns="0" rIns="0" bIns="0" rtlCol="0" anchor="ctr"/>
          <a:lstStyle/>
          <a:p>
            <a:pPr algn="ctr" indent="0" marL="0">
              <a:buNone/>
            </a:pPr>
            <a:r>
              <a:rPr lang="en-US" sz="1200" dirty="0">
                <a:solidFill>
                  <a:srgbClr val="5B6B85"/>
                </a:solidFill>
                <a:latin typeface="Calibri" pitchFamily="34" charset="0"/>
                <a:ea typeface="Calibri" pitchFamily="34" charset="-122"/>
                <a:cs typeface="Calibri" pitchFamily="34" charset="-120"/>
              </a:rPr>
              <a:t>Unique Customers</a:t>
            </a:r>
            <a:endParaRPr lang="en-US" sz="1200" dirty="0"/>
          </a:p>
        </p:txBody>
      </p:sp>
      <p:sp>
        <p:nvSpPr>
          <p:cNvPr id="11" name="Shape 9"/>
          <p:cNvSpPr/>
          <p:nvPr/>
        </p:nvSpPr>
        <p:spPr>
          <a:xfrm>
            <a:off x="5998464" y="2286000"/>
            <a:ext cx="2468880" cy="1508760"/>
          </a:xfrm>
          <a:prstGeom prst="roundRect">
            <a:avLst>
              <a:gd name="adj" fmla="val 4848"/>
            </a:avLst>
          </a:prstGeom>
          <a:solidFill>
            <a:srgbClr val="FFFFFF"/>
          </a:solidFill>
          <a:ln/>
          <a:effectLst>
            <a:outerShdw sx="100000" sy="100000" kx="0" ky="0" algn="bl" rotWithShape="0" blurRad="101600" dist="38100" dir="5400000">
              <a:srgbClr val="1B2A4A">
                <a:alpha val="12000"/>
              </a:srgbClr>
            </a:outerShdw>
          </a:effectLst>
        </p:spPr>
      </p:sp>
      <p:sp>
        <p:nvSpPr>
          <p:cNvPr id="12" name="Text 10"/>
          <p:cNvSpPr txBox="1"/>
          <p:nvPr/>
        </p:nvSpPr>
        <p:spPr>
          <a:xfrm>
            <a:off x="5998464" y="2487168"/>
            <a:ext cx="2468880" cy="640080"/>
          </a:xfrm>
          <a:prstGeom prst="rect">
            <a:avLst/>
          </a:prstGeom>
          <a:noFill/>
          <a:ln/>
        </p:spPr>
        <p:txBody>
          <a:bodyPr wrap="square" lIns="0" tIns="0" rIns="0" bIns="0" rtlCol="0" anchor="ctr"/>
          <a:lstStyle/>
          <a:p>
            <a:pPr algn="ctr" indent="0" marL="0">
              <a:buNone/>
            </a:pPr>
            <a:r>
              <a:rPr lang="en-US" sz="3400" b="1" dirty="0">
                <a:solidFill>
                  <a:srgbClr val="1B2A4A"/>
                </a:solidFill>
                <a:latin typeface="Cambria" pitchFamily="34" charset="0"/>
                <a:ea typeface="Cambria" pitchFamily="34" charset="-122"/>
                <a:cs typeface="Cambria" pitchFamily="34" charset="-120"/>
              </a:rPr>
              <a:t>24</a:t>
            </a:r>
            <a:endParaRPr lang="en-US" sz="3400" dirty="0"/>
          </a:p>
        </p:txBody>
      </p:sp>
      <p:sp>
        <p:nvSpPr>
          <p:cNvPr id="13" name="Text 11"/>
          <p:cNvSpPr txBox="1"/>
          <p:nvPr/>
        </p:nvSpPr>
        <p:spPr>
          <a:xfrm>
            <a:off x="6135624" y="3200400"/>
            <a:ext cx="2194560" cy="457200"/>
          </a:xfrm>
          <a:prstGeom prst="rect">
            <a:avLst/>
          </a:prstGeom>
          <a:noFill/>
          <a:ln/>
        </p:spPr>
        <p:txBody>
          <a:bodyPr wrap="square" lIns="0" tIns="0" rIns="0" bIns="0" rtlCol="0" anchor="ctr"/>
          <a:lstStyle/>
          <a:p>
            <a:pPr algn="ctr" indent="0" marL="0">
              <a:buNone/>
            </a:pPr>
            <a:r>
              <a:rPr lang="en-US" sz="1200" dirty="0">
                <a:solidFill>
                  <a:srgbClr val="5B6B85"/>
                </a:solidFill>
                <a:latin typeface="Calibri" pitchFamily="34" charset="0"/>
                <a:ea typeface="Calibri" pitchFamily="34" charset="-122"/>
                <a:cs typeface="Calibri" pitchFamily="34" charset="-120"/>
              </a:rPr>
              <a:t>Months (Jan 2023–Dec 2024)</a:t>
            </a:r>
            <a:endParaRPr lang="en-US" sz="1200" dirty="0"/>
          </a:p>
        </p:txBody>
      </p:sp>
      <p:sp>
        <p:nvSpPr>
          <p:cNvPr id="14" name="Shape 12"/>
          <p:cNvSpPr/>
          <p:nvPr/>
        </p:nvSpPr>
        <p:spPr>
          <a:xfrm>
            <a:off x="8723376" y="2286000"/>
            <a:ext cx="2468880" cy="1508760"/>
          </a:xfrm>
          <a:prstGeom prst="roundRect">
            <a:avLst>
              <a:gd name="adj" fmla="val 4848"/>
            </a:avLst>
          </a:prstGeom>
          <a:solidFill>
            <a:srgbClr val="FFFFFF"/>
          </a:solidFill>
          <a:ln/>
          <a:effectLst>
            <a:outerShdw sx="100000" sy="100000" kx="0" ky="0" algn="bl" rotWithShape="0" blurRad="101600" dist="38100" dir="5400000">
              <a:srgbClr val="1B2A4A">
                <a:alpha val="12000"/>
              </a:srgbClr>
            </a:outerShdw>
          </a:effectLst>
        </p:spPr>
      </p:sp>
      <p:sp>
        <p:nvSpPr>
          <p:cNvPr id="15" name="Text 13"/>
          <p:cNvSpPr txBox="1"/>
          <p:nvPr/>
        </p:nvSpPr>
        <p:spPr>
          <a:xfrm>
            <a:off x="8723376" y="2487168"/>
            <a:ext cx="2468880" cy="640080"/>
          </a:xfrm>
          <a:prstGeom prst="rect">
            <a:avLst/>
          </a:prstGeom>
          <a:noFill/>
          <a:ln/>
        </p:spPr>
        <p:txBody>
          <a:bodyPr wrap="square" lIns="0" tIns="0" rIns="0" bIns="0" rtlCol="0" anchor="ctr"/>
          <a:lstStyle/>
          <a:p>
            <a:pPr algn="ctr" indent="0" marL="0">
              <a:buNone/>
            </a:pPr>
            <a:r>
              <a:rPr lang="en-US" sz="3400" b="1" dirty="0">
                <a:solidFill>
                  <a:srgbClr val="1B2A4A"/>
                </a:solidFill>
                <a:latin typeface="Cambria" pitchFamily="34" charset="0"/>
                <a:ea typeface="Cambria" pitchFamily="34" charset="-122"/>
                <a:cs typeface="Cambria" pitchFamily="34" charset="-120"/>
              </a:rPr>
              <a:t>12</a:t>
            </a:r>
            <a:endParaRPr lang="en-US" sz="3400" dirty="0"/>
          </a:p>
        </p:txBody>
      </p:sp>
      <p:sp>
        <p:nvSpPr>
          <p:cNvPr id="16" name="Text 14"/>
          <p:cNvSpPr txBox="1"/>
          <p:nvPr/>
        </p:nvSpPr>
        <p:spPr>
          <a:xfrm>
            <a:off x="8860536" y="3200400"/>
            <a:ext cx="2194560" cy="457200"/>
          </a:xfrm>
          <a:prstGeom prst="rect">
            <a:avLst/>
          </a:prstGeom>
          <a:noFill/>
          <a:ln/>
        </p:spPr>
        <p:txBody>
          <a:bodyPr wrap="square" lIns="0" tIns="0" rIns="0" bIns="0" rtlCol="0" anchor="ctr"/>
          <a:lstStyle/>
          <a:p>
            <a:pPr algn="ctr" indent="0" marL="0">
              <a:buNone/>
            </a:pPr>
            <a:r>
              <a:rPr lang="en-US" sz="1200" dirty="0">
                <a:solidFill>
                  <a:srgbClr val="5B6B85"/>
                </a:solidFill>
                <a:latin typeface="Calibri" pitchFamily="34" charset="0"/>
                <a:ea typeface="Calibri" pitchFamily="34" charset="-122"/>
                <a:cs typeface="Calibri" pitchFamily="34" charset="-120"/>
              </a:rPr>
              <a:t>Data Fields</a:t>
            </a:r>
            <a:endParaRPr lang="en-US" sz="1200" dirty="0"/>
          </a:p>
        </p:txBody>
      </p:sp>
      <p:sp>
        <p:nvSpPr>
          <p:cNvPr id="17" name="Shape 15"/>
          <p:cNvSpPr/>
          <p:nvPr/>
        </p:nvSpPr>
        <p:spPr>
          <a:xfrm>
            <a:off x="548640" y="3977640"/>
            <a:ext cx="10881360" cy="2331720"/>
          </a:xfrm>
          <a:prstGeom prst="roundRect">
            <a:avLst>
              <a:gd name="adj" fmla="val 3137"/>
            </a:avLst>
          </a:prstGeom>
          <a:solidFill>
            <a:srgbClr val="FFFFFF"/>
          </a:solidFill>
          <a:ln/>
          <a:effectLst>
            <a:outerShdw sx="100000" sy="100000" kx="0" ky="0" algn="bl" rotWithShape="0" blurRad="101600" dist="38100" dir="5400000">
              <a:srgbClr val="1B2A4A">
                <a:alpha val="10000"/>
              </a:srgbClr>
            </a:outerShdw>
          </a:effectLst>
        </p:spPr>
      </p:sp>
      <p:sp>
        <p:nvSpPr>
          <p:cNvPr id="18" name="Text 16"/>
          <p:cNvSpPr txBox="1"/>
          <p:nvPr/>
        </p:nvSpPr>
        <p:spPr>
          <a:xfrm>
            <a:off x="868680" y="4178808"/>
            <a:ext cx="54864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Fields Captured per Order</a:t>
            </a:r>
            <a:endParaRPr lang="en-US" sz="1300" dirty="0"/>
          </a:p>
        </p:txBody>
      </p:sp>
      <p:sp>
        <p:nvSpPr>
          <p:cNvPr id="19" name="Text 17"/>
          <p:cNvSpPr txBox="1"/>
          <p:nvPr/>
        </p:nvSpPr>
        <p:spPr>
          <a:xfrm>
            <a:off x="868680" y="4599432"/>
            <a:ext cx="5120640" cy="1554480"/>
          </a:xfrm>
          <a:prstGeom prst="rect">
            <a:avLst/>
          </a:prstGeom>
          <a:noFill/>
          <a:ln/>
        </p:spPr>
        <p:txBody>
          <a:bodyPr wrap="square" lIns="0" tIns="0" rIns="0" bIns="0" rtlCol="0" anchor="t"/>
          <a:lstStyle/>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Order ID</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Order Date</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Customer ID / Name</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Region</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Category</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Product Name</a:t>
            </a:r>
            <a:endParaRPr lang="en-US" sz="1250" dirty="0"/>
          </a:p>
        </p:txBody>
      </p:sp>
      <p:sp>
        <p:nvSpPr>
          <p:cNvPr id="20" name="Text 18"/>
          <p:cNvSpPr txBox="1"/>
          <p:nvPr/>
        </p:nvSpPr>
        <p:spPr>
          <a:xfrm>
            <a:off x="6126480" y="4599432"/>
            <a:ext cx="5120640" cy="1554480"/>
          </a:xfrm>
          <a:prstGeom prst="rect">
            <a:avLst/>
          </a:prstGeom>
          <a:noFill/>
          <a:ln/>
        </p:spPr>
        <p:txBody>
          <a:bodyPr wrap="square" lIns="0" tIns="0" rIns="0" bIns="0" rtlCol="0" anchor="t"/>
          <a:lstStyle/>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Quantity</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Unit Price</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Order Status</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Payment Method</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Revenue</a:t>
            </a:r>
            <a:endParaRPr lang="en-US" sz="1250" dirty="0"/>
          </a:p>
        </p:txBody>
      </p:sp>
      <p:sp>
        <p:nvSpPr>
          <p:cNvPr id="21" name="Text 19"/>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E-Commerce Sales Analysis — Business Case Study</a:t>
            </a:r>
            <a:endParaRPr lang="en-US" sz="900" dirty="0"/>
          </a:p>
        </p:txBody>
      </p:sp>
      <p:sp>
        <p:nvSpPr>
          <p:cNvPr id="22" name="Text 20"/>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DATA QUALITY</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From Raw Export to Analysis-Ready Data</a:t>
            </a:r>
            <a:endParaRPr lang="en-US" sz="3000" dirty="0"/>
          </a:p>
        </p:txBody>
      </p:sp>
      <p:sp>
        <p:nvSpPr>
          <p:cNvPr id="4" name="Text 2"/>
          <p:cNvSpPr txBox="1"/>
          <p:nvPr/>
        </p:nvSpPr>
        <p:spPr>
          <a:xfrm>
            <a:off x="548640" y="1417320"/>
            <a:ext cx="10607040" cy="548640"/>
          </a:xfrm>
          <a:prstGeom prst="rect">
            <a:avLst/>
          </a:prstGeom>
          <a:noFill/>
          <a:ln/>
        </p:spPr>
        <p:txBody>
          <a:bodyPr wrap="square" lIns="0" tIns="0" rIns="0" bIns="0" rtlCol="0" anchor="ctr"/>
          <a:lstStyle/>
          <a:p>
            <a:pPr indent="0" marL="0">
              <a:lnSpc>
                <a:spcPct val="120000"/>
              </a:lnSpc>
              <a:buNone/>
            </a:pPr>
            <a:r>
              <a:rPr lang="en-US" sz="1400" dirty="0">
                <a:solidFill>
                  <a:srgbClr val="5B6B85"/>
                </a:solidFill>
                <a:latin typeface="Calibri" pitchFamily="34" charset="0"/>
                <a:ea typeface="Calibri" pitchFamily="34" charset="-122"/>
                <a:cs typeface="Calibri" pitchFamily="34" charset="-120"/>
              </a:rPr>
              <a:t>The raw export required real cleanup before any number in this report could be trusted. That work happened on Day 1 and every subsequent stage built on the result.</a:t>
            </a:r>
            <a:endParaRPr lang="en-US" sz="1400" dirty="0"/>
          </a:p>
        </p:txBody>
      </p:sp>
      <p:sp>
        <p:nvSpPr>
          <p:cNvPr id="5" name="Shape 3"/>
          <p:cNvSpPr/>
          <p:nvPr/>
        </p:nvSpPr>
        <p:spPr>
          <a:xfrm>
            <a:off x="548640" y="2286000"/>
            <a:ext cx="5120640" cy="3566160"/>
          </a:xfrm>
          <a:prstGeom prst="roundRect">
            <a:avLst>
              <a:gd name="adj" fmla="val 2051"/>
            </a:avLst>
          </a:prstGeom>
          <a:solidFill>
            <a:srgbClr val="FDECE8"/>
          </a:solidFill>
          <a:ln/>
        </p:spPr>
      </p:sp>
      <p:sp>
        <p:nvSpPr>
          <p:cNvPr id="6" name="Text 4"/>
          <p:cNvSpPr txBox="1"/>
          <p:nvPr/>
        </p:nvSpPr>
        <p:spPr>
          <a:xfrm>
            <a:off x="868680" y="2514600"/>
            <a:ext cx="4480560" cy="320040"/>
          </a:xfrm>
          <a:prstGeom prst="rect">
            <a:avLst/>
          </a:prstGeom>
          <a:noFill/>
          <a:ln/>
        </p:spPr>
        <p:txBody>
          <a:bodyPr wrap="square" lIns="0" tIns="0" rIns="0" bIns="0" rtlCol="0" anchor="ctr"/>
          <a:lstStyle/>
          <a:p>
            <a:pPr indent="0" marL="0">
              <a:buNone/>
            </a:pPr>
            <a:r>
              <a:rPr lang="en-US" sz="1300" b="1" dirty="0">
                <a:solidFill>
                  <a:srgbClr val="C2452B"/>
                </a:solidFill>
                <a:latin typeface="Calibri" pitchFamily="34" charset="0"/>
                <a:ea typeface="Calibri" pitchFamily="34" charset="-122"/>
                <a:cs typeface="Calibri" pitchFamily="34" charset="-120"/>
              </a:rPr>
              <a:t>BEFORE — Raw Export</a:t>
            </a:r>
            <a:endParaRPr lang="en-US" sz="1300" dirty="0"/>
          </a:p>
        </p:txBody>
      </p:sp>
      <p:sp>
        <p:nvSpPr>
          <p:cNvPr id="7" name="Text 5"/>
          <p:cNvSpPr txBox="1"/>
          <p:nvPr/>
        </p:nvSpPr>
        <p:spPr>
          <a:xfrm>
            <a:off x="868680" y="2880360"/>
            <a:ext cx="4480560" cy="777240"/>
          </a:xfrm>
          <a:prstGeom prst="rect">
            <a:avLst/>
          </a:prstGeom>
          <a:noFill/>
          <a:ln/>
        </p:spPr>
        <p:txBody>
          <a:bodyPr wrap="square" lIns="0" tIns="0" rIns="0" bIns="0" rtlCol="0" anchor="ctr"/>
          <a:lstStyle/>
          <a:p>
            <a:pPr indent="0" marL="0">
              <a:buNone/>
            </a:pPr>
            <a:r>
              <a:rPr lang="en-US" sz="4600" b="1" dirty="0">
                <a:solidFill>
                  <a:srgbClr val="C2452B"/>
                </a:solidFill>
                <a:latin typeface="Cambria" pitchFamily="34" charset="0"/>
                <a:ea typeface="Cambria" pitchFamily="34" charset="-122"/>
                <a:cs typeface="Cambria" pitchFamily="34" charset="-120"/>
              </a:rPr>
              <a:t>4,100</a:t>
            </a:r>
            <a:endParaRPr lang="en-US" sz="4600" dirty="0"/>
          </a:p>
        </p:txBody>
      </p:sp>
      <p:sp>
        <p:nvSpPr>
          <p:cNvPr id="8" name="Text 6"/>
          <p:cNvSpPr txBox="1"/>
          <p:nvPr/>
        </p:nvSpPr>
        <p:spPr>
          <a:xfrm>
            <a:off x="868680" y="3657600"/>
            <a:ext cx="4480560" cy="274320"/>
          </a:xfrm>
          <a:prstGeom prst="rect">
            <a:avLst/>
          </a:prstGeom>
          <a:noFill/>
          <a:ln/>
        </p:spPr>
        <p:txBody>
          <a:bodyPr wrap="square" lIns="0" tIns="0" rIns="0" bIns="0" rtlCol="0" anchor="ctr"/>
          <a:lstStyle/>
          <a:p>
            <a:pPr indent="0" marL="0">
              <a:buNone/>
            </a:pPr>
            <a:r>
              <a:rPr lang="en-US" sz="1200" dirty="0">
                <a:solidFill>
                  <a:srgbClr val="8A3320"/>
                </a:solidFill>
                <a:latin typeface="Calibri" pitchFamily="34" charset="0"/>
                <a:ea typeface="Calibri" pitchFamily="34" charset="-122"/>
                <a:cs typeface="Calibri" pitchFamily="34" charset="-120"/>
              </a:rPr>
              <a:t>rows, with issues:</a:t>
            </a:r>
            <a:endParaRPr lang="en-US" sz="1200" dirty="0"/>
          </a:p>
        </p:txBody>
      </p:sp>
      <p:sp>
        <p:nvSpPr>
          <p:cNvPr id="9" name="Text 7"/>
          <p:cNvSpPr txBox="1"/>
          <p:nvPr/>
        </p:nvSpPr>
        <p:spPr>
          <a:xfrm>
            <a:off x="868680" y="4023360"/>
            <a:ext cx="4480560" cy="1554480"/>
          </a:xfrm>
          <a:prstGeom prst="rect">
            <a:avLst/>
          </a:prstGeom>
          <a:noFill/>
          <a:ln/>
        </p:spPr>
        <p:txBody>
          <a:bodyPr wrap="square" lIns="0" tIns="0" rIns="0" bIns="0" rtlCol="0" anchor="t"/>
          <a:lstStyle/>
          <a:p>
            <a:pPr marL="177800" indent="-177800">
              <a:buSzPct val="100000"/>
              <a:buChar char="✖"/>
            </a:pPr>
            <a:r>
              <a:rPr lang="en-US" sz="1250" dirty="0">
                <a:solidFill>
                  <a:srgbClr val="8A3320"/>
                </a:solidFill>
                <a:latin typeface="Calibri" pitchFamily="34" charset="0"/>
                <a:ea typeface="Calibri" pitchFamily="34" charset="-122"/>
                <a:cs typeface="Calibri" pitchFamily="34" charset="-120"/>
              </a:rPr>
              <a:t>Duplicate order records</a:t>
            </a:r>
            <a:endParaRPr lang="en-US" sz="1250" dirty="0"/>
          </a:p>
          <a:p>
            <a:pPr marL="177800" indent="-177800">
              <a:buSzPct val="100000"/>
              <a:buChar char="✖"/>
            </a:pPr>
            <a:r>
              <a:rPr lang="en-US" sz="1250" dirty="0">
                <a:solidFill>
                  <a:srgbClr val="8A3320"/>
                </a:solidFill>
                <a:latin typeface="Calibri" pitchFamily="34" charset="0"/>
                <a:ea typeface="Calibri" pitchFamily="34" charset="-122"/>
                <a:cs typeface="Calibri" pitchFamily="34" charset="-120"/>
              </a:rPr>
              <a:t>Missing values in key fields</a:t>
            </a:r>
            <a:endParaRPr lang="en-US" sz="1250" dirty="0"/>
          </a:p>
          <a:p>
            <a:pPr marL="177800" indent="-177800">
              <a:buSzPct val="100000"/>
              <a:buChar char="✖"/>
            </a:pPr>
            <a:r>
              <a:rPr lang="en-US" sz="1250" dirty="0">
                <a:solidFill>
                  <a:srgbClr val="8A3320"/>
                </a:solidFill>
                <a:latin typeface="Calibri" pitchFamily="34" charset="0"/>
                <a:ea typeface="Calibri" pitchFamily="34" charset="-122"/>
                <a:cs typeface="Calibri" pitchFamily="34" charset="-120"/>
              </a:rPr>
              <a:t>Revenue outliers from data-entry errors</a:t>
            </a:r>
            <a:endParaRPr lang="en-US" sz="1250" dirty="0"/>
          </a:p>
          <a:p>
            <a:pPr marL="177800" indent="-177800">
              <a:buSzPct val="100000"/>
              <a:buChar char="✖"/>
            </a:pPr>
            <a:r>
              <a:rPr lang="en-US" sz="1250" dirty="0">
                <a:solidFill>
                  <a:srgbClr val="8A3320"/>
                </a:solidFill>
                <a:latin typeface="Calibri" pitchFamily="34" charset="0"/>
                <a:ea typeface="Calibri" pitchFamily="34" charset="-122"/>
                <a:cs typeface="Calibri" pitchFamily="34" charset="-120"/>
              </a:rPr>
              <a:t>Inconsistent date &amp; category formatting</a:t>
            </a:r>
            <a:endParaRPr lang="en-US" sz="1250" dirty="0"/>
          </a:p>
        </p:txBody>
      </p:sp>
      <p:sp>
        <p:nvSpPr>
          <p:cNvPr id="10" name="Shape 8"/>
          <p:cNvSpPr/>
          <p:nvPr/>
        </p:nvSpPr>
        <p:spPr>
          <a:xfrm>
            <a:off x="6126480" y="2286000"/>
            <a:ext cx="5120640" cy="3566160"/>
          </a:xfrm>
          <a:prstGeom prst="roundRect">
            <a:avLst>
              <a:gd name="adj" fmla="val 2051"/>
            </a:avLst>
          </a:prstGeom>
          <a:solidFill>
            <a:srgbClr val="E7F5EE"/>
          </a:solidFill>
          <a:ln/>
        </p:spPr>
      </p:sp>
      <p:sp>
        <p:nvSpPr>
          <p:cNvPr id="11" name="Text 9"/>
          <p:cNvSpPr txBox="1"/>
          <p:nvPr/>
        </p:nvSpPr>
        <p:spPr>
          <a:xfrm>
            <a:off x="6446520" y="2514600"/>
            <a:ext cx="4480560" cy="320040"/>
          </a:xfrm>
          <a:prstGeom prst="rect">
            <a:avLst/>
          </a:prstGeom>
          <a:noFill/>
          <a:ln/>
        </p:spPr>
        <p:txBody>
          <a:bodyPr wrap="square" lIns="0" tIns="0" rIns="0" bIns="0" rtlCol="0" anchor="ctr"/>
          <a:lstStyle/>
          <a:p>
            <a:pPr indent="0" marL="0">
              <a:buNone/>
            </a:pPr>
            <a:r>
              <a:rPr lang="en-US" sz="1300" b="1" dirty="0">
                <a:solidFill>
                  <a:srgbClr val="1E7A4C"/>
                </a:solidFill>
                <a:latin typeface="Calibri" pitchFamily="34" charset="0"/>
                <a:ea typeface="Calibri" pitchFamily="34" charset="-122"/>
                <a:cs typeface="Calibri" pitchFamily="34" charset="-120"/>
              </a:rPr>
              <a:t>AFTER — Analysis-Ready</a:t>
            </a:r>
            <a:endParaRPr lang="en-US" sz="1300" dirty="0"/>
          </a:p>
        </p:txBody>
      </p:sp>
      <p:sp>
        <p:nvSpPr>
          <p:cNvPr id="12" name="Text 10"/>
          <p:cNvSpPr txBox="1"/>
          <p:nvPr/>
        </p:nvSpPr>
        <p:spPr>
          <a:xfrm>
            <a:off x="6446520" y="2880360"/>
            <a:ext cx="4480560" cy="777240"/>
          </a:xfrm>
          <a:prstGeom prst="rect">
            <a:avLst/>
          </a:prstGeom>
          <a:noFill/>
          <a:ln/>
        </p:spPr>
        <p:txBody>
          <a:bodyPr wrap="square" lIns="0" tIns="0" rIns="0" bIns="0" rtlCol="0" anchor="ctr"/>
          <a:lstStyle/>
          <a:p>
            <a:pPr indent="0" marL="0">
              <a:buNone/>
            </a:pPr>
            <a:r>
              <a:rPr lang="en-US" sz="4600" b="1" dirty="0">
                <a:solidFill>
                  <a:srgbClr val="1E7A4C"/>
                </a:solidFill>
                <a:latin typeface="Cambria" pitchFamily="34" charset="0"/>
                <a:ea typeface="Cambria" pitchFamily="34" charset="-122"/>
                <a:cs typeface="Cambria" pitchFamily="34" charset="-120"/>
              </a:rPr>
              <a:t>3,933</a:t>
            </a:r>
            <a:endParaRPr lang="en-US" sz="4600" dirty="0"/>
          </a:p>
        </p:txBody>
      </p:sp>
      <p:sp>
        <p:nvSpPr>
          <p:cNvPr id="13" name="Text 11"/>
          <p:cNvSpPr txBox="1"/>
          <p:nvPr/>
        </p:nvSpPr>
        <p:spPr>
          <a:xfrm>
            <a:off x="6446520" y="3657600"/>
            <a:ext cx="4480560" cy="274320"/>
          </a:xfrm>
          <a:prstGeom prst="rect">
            <a:avLst/>
          </a:prstGeom>
          <a:noFill/>
          <a:ln/>
        </p:spPr>
        <p:txBody>
          <a:bodyPr wrap="square" lIns="0" tIns="0" rIns="0" bIns="0" rtlCol="0" anchor="ctr"/>
          <a:lstStyle/>
          <a:p>
            <a:pPr indent="0" marL="0">
              <a:buNone/>
            </a:pPr>
            <a:r>
              <a:rPr lang="en-US" sz="1200" dirty="0">
                <a:solidFill>
                  <a:srgbClr val="2B6B4A"/>
                </a:solidFill>
                <a:latin typeface="Calibri" pitchFamily="34" charset="0"/>
                <a:ea typeface="Calibri" pitchFamily="34" charset="-122"/>
                <a:cs typeface="Calibri" pitchFamily="34" charset="-120"/>
              </a:rPr>
              <a:t>clean rows, verified:</a:t>
            </a:r>
            <a:endParaRPr lang="en-US" sz="1200" dirty="0"/>
          </a:p>
        </p:txBody>
      </p:sp>
      <p:sp>
        <p:nvSpPr>
          <p:cNvPr id="14" name="Text 12"/>
          <p:cNvSpPr txBox="1"/>
          <p:nvPr/>
        </p:nvSpPr>
        <p:spPr>
          <a:xfrm>
            <a:off x="6446520" y="4023360"/>
            <a:ext cx="4480560" cy="1554480"/>
          </a:xfrm>
          <a:prstGeom prst="rect">
            <a:avLst/>
          </a:prstGeom>
          <a:noFill/>
          <a:ln/>
        </p:spPr>
        <p:txBody>
          <a:bodyPr wrap="square" lIns="0" tIns="0" rIns="0" bIns="0" rtlCol="0" anchor="t"/>
          <a:lstStyle/>
          <a:p>
            <a:pPr marL="177800" indent="-177800">
              <a:buSzPct val="100000"/>
              <a:buChar char="✔"/>
            </a:pPr>
            <a:r>
              <a:rPr lang="en-US" sz="1250" dirty="0">
                <a:solidFill>
                  <a:srgbClr val="2B6B4A"/>
                </a:solidFill>
                <a:latin typeface="Calibri" pitchFamily="34" charset="0"/>
                <a:ea typeface="Calibri" pitchFamily="34" charset="-122"/>
                <a:cs typeface="Calibri" pitchFamily="34" charset="-120"/>
              </a:rPr>
              <a:t>0 duplicate rows remaining</a:t>
            </a:r>
            <a:endParaRPr lang="en-US" sz="1250" dirty="0"/>
          </a:p>
          <a:p>
            <a:pPr marL="177800" indent="-177800">
              <a:buSzPct val="100000"/>
              <a:buChar char="✔"/>
            </a:pPr>
            <a:r>
              <a:rPr lang="en-US" sz="1250" dirty="0">
                <a:solidFill>
                  <a:srgbClr val="2B6B4A"/>
                </a:solidFill>
                <a:latin typeface="Calibri" pitchFamily="34" charset="0"/>
                <a:ea typeface="Calibri" pitchFamily="34" charset="-122"/>
                <a:cs typeface="Calibri" pitchFamily="34" charset="-120"/>
              </a:rPr>
              <a:t>0 missing values across all 12 fields</a:t>
            </a:r>
            <a:endParaRPr lang="en-US" sz="1250" dirty="0"/>
          </a:p>
          <a:p>
            <a:pPr marL="177800" indent="-177800">
              <a:buSzPct val="100000"/>
              <a:buChar char="✔"/>
            </a:pPr>
            <a:r>
              <a:rPr lang="en-US" sz="1250" dirty="0">
                <a:solidFill>
                  <a:srgbClr val="2B6B4A"/>
                </a:solidFill>
                <a:latin typeface="Calibri" pitchFamily="34" charset="0"/>
                <a:ea typeface="Calibri" pitchFamily="34" charset="-122"/>
                <a:cs typeface="Calibri" pitchFamily="34" charset="-120"/>
              </a:rPr>
              <a:t>Outliers reviewed and corrected</a:t>
            </a:r>
            <a:endParaRPr lang="en-US" sz="1250" dirty="0"/>
          </a:p>
          <a:p>
            <a:pPr marL="177800" indent="-177800">
              <a:buSzPct val="100000"/>
              <a:buChar char="✔"/>
            </a:pPr>
            <a:r>
              <a:rPr lang="en-US" sz="1250" dirty="0">
                <a:solidFill>
                  <a:srgbClr val="2B6B4A"/>
                </a:solidFill>
                <a:latin typeface="Calibri" pitchFamily="34" charset="0"/>
                <a:ea typeface="Calibri" pitchFamily="34" charset="-122"/>
                <a:cs typeface="Calibri" pitchFamily="34" charset="-120"/>
              </a:rPr>
              <a:t>Standardized date &amp; category formats</a:t>
            </a:r>
            <a:endParaRPr lang="en-US" sz="1250" dirty="0"/>
          </a:p>
        </p:txBody>
      </p:sp>
      <p:sp>
        <p:nvSpPr>
          <p:cNvPr id="15" name="Text 13"/>
          <p:cNvSpPr txBox="1"/>
          <p:nvPr/>
        </p:nvSpPr>
        <p:spPr>
          <a:xfrm>
            <a:off x="5724144" y="3749040"/>
            <a:ext cx="365760" cy="640080"/>
          </a:xfrm>
          <a:prstGeom prst="rect">
            <a:avLst/>
          </a:prstGeom>
          <a:noFill/>
          <a:ln/>
        </p:spPr>
        <p:txBody>
          <a:bodyPr wrap="square" lIns="0" tIns="0" rIns="0" bIns="0" rtlCol="0" anchor="ctr"/>
          <a:lstStyle/>
          <a:p>
            <a:pPr algn="ctr" indent="0" marL="0">
              <a:buNone/>
            </a:pPr>
            <a:r>
              <a:rPr lang="en-US" sz="2800" b="1" dirty="0">
                <a:solidFill>
                  <a:srgbClr val="FF6B4A"/>
                </a:solidFill>
                <a:latin typeface="Calibri" pitchFamily="34" charset="0"/>
                <a:ea typeface="Calibri" pitchFamily="34" charset="-122"/>
                <a:cs typeface="Calibri" pitchFamily="34" charset="-120"/>
              </a:rPr>
              <a:t>→</a:t>
            </a:r>
            <a:endParaRPr lang="en-US" sz="2800" dirty="0"/>
          </a:p>
        </p:txBody>
      </p:sp>
      <p:sp>
        <p:nvSpPr>
          <p:cNvPr id="16" name="Text 14"/>
          <p:cNvSpPr txBox="1"/>
          <p:nvPr/>
        </p:nvSpPr>
        <p:spPr>
          <a:xfrm>
            <a:off x="548640" y="5989320"/>
            <a:ext cx="10881360" cy="365760"/>
          </a:xfrm>
          <a:prstGeom prst="rect">
            <a:avLst/>
          </a:prstGeom>
          <a:noFill/>
          <a:ln/>
        </p:spPr>
        <p:txBody>
          <a:bodyPr wrap="square" lIns="0" tIns="0" rIns="0" bIns="0"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167 rows (4.1%) removed or corrected — every KPI in this report is calculated on the 3,933-row clean dataset.</a:t>
            </a:r>
            <a:endParaRPr lang="en-US" sz="1200" dirty="0"/>
          </a:p>
        </p:txBody>
      </p:sp>
      <p:sp>
        <p:nvSpPr>
          <p:cNvPr id="17" name="Text 15"/>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E-Commerce Sales Analysis — Business Case Study</a:t>
            </a:r>
            <a:endParaRPr lang="en-US" sz="900" dirty="0"/>
          </a:p>
        </p:txBody>
      </p:sp>
      <p:sp>
        <p:nvSpPr>
          <p:cNvPr id="18" name="Text 16"/>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KPI OVERVIEW</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Business at a Glance</a:t>
            </a:r>
            <a:endParaRPr lang="en-US" sz="3000" dirty="0"/>
          </a:p>
        </p:txBody>
      </p:sp>
      <p:sp>
        <p:nvSpPr>
          <p:cNvPr id="4" name="Shape 2"/>
          <p:cNvSpPr/>
          <p:nvPr/>
        </p:nvSpPr>
        <p:spPr>
          <a:xfrm>
            <a:off x="548640" y="1554480"/>
            <a:ext cx="2514600" cy="2331720"/>
          </a:xfrm>
          <a:prstGeom prst="roundRect">
            <a:avLst>
              <a:gd name="adj" fmla="val 3529"/>
            </a:avLst>
          </a:prstGeom>
          <a:solidFill>
            <a:srgbClr val="FFFFFF"/>
          </a:solidFill>
          <a:ln/>
          <a:effectLst>
            <a:outerShdw sx="100000" sy="100000" kx="0" ky="0" algn="bl" rotWithShape="0" blurRad="101600" dist="38100" dir="5400000">
              <a:srgbClr val="1B2A4A">
                <a:alpha val="12000"/>
              </a:srgbClr>
            </a:outerShdw>
          </a:effectLst>
        </p:spPr>
      </p:sp>
      <p:sp>
        <p:nvSpPr>
          <p:cNvPr id="5" name="Shape 3"/>
          <p:cNvSpPr/>
          <p:nvPr/>
        </p:nvSpPr>
        <p:spPr>
          <a:xfrm>
            <a:off x="548640" y="1554480"/>
            <a:ext cx="2514600" cy="82296"/>
          </a:xfrm>
          <a:prstGeom prst="rect">
            <a:avLst/>
          </a:prstGeom>
          <a:solidFill>
            <a:srgbClr val="FF6B4A"/>
          </a:solidFill>
          <a:ln/>
        </p:spPr>
      </p:sp>
      <p:sp>
        <p:nvSpPr>
          <p:cNvPr id="6" name="Text 4"/>
          <p:cNvSpPr txBox="1"/>
          <p:nvPr/>
        </p:nvSpPr>
        <p:spPr>
          <a:xfrm>
            <a:off x="713232" y="1810512"/>
            <a:ext cx="2185416" cy="59436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$306,842</a:t>
            </a:r>
            <a:endParaRPr lang="en-US" sz="2500" dirty="0"/>
          </a:p>
        </p:txBody>
      </p:sp>
      <p:sp>
        <p:nvSpPr>
          <p:cNvPr id="7" name="Text 5"/>
          <p:cNvSpPr txBox="1"/>
          <p:nvPr/>
        </p:nvSpPr>
        <p:spPr>
          <a:xfrm>
            <a:off x="713232" y="2414016"/>
            <a:ext cx="2185416" cy="274320"/>
          </a:xfrm>
          <a:prstGeom prst="rect">
            <a:avLst/>
          </a:prstGeom>
          <a:noFill/>
          <a:ln/>
        </p:spPr>
        <p:txBody>
          <a:bodyPr wrap="square" lIns="0" tIns="0" rIns="0" bIns="0" rtlCol="0" anchor="ctr"/>
          <a:lstStyle/>
          <a:p>
            <a:pPr indent="0" marL="0">
              <a:buNone/>
            </a:pPr>
            <a:r>
              <a:rPr lang="en-US" sz="1100" b="1" dirty="0">
                <a:solidFill>
                  <a:srgbClr val="5B6B85"/>
                </a:solidFill>
                <a:latin typeface="Calibri" pitchFamily="34" charset="0"/>
                <a:ea typeface="Calibri" pitchFamily="34" charset="-122"/>
                <a:cs typeface="Calibri" pitchFamily="34" charset="-120"/>
              </a:rPr>
              <a:t>Total Revenue (Gross)</a:t>
            </a:r>
            <a:endParaRPr lang="en-US" sz="1100" dirty="0"/>
          </a:p>
        </p:txBody>
      </p:sp>
      <p:sp>
        <p:nvSpPr>
          <p:cNvPr id="8" name="Shape 6"/>
          <p:cNvSpPr/>
          <p:nvPr/>
        </p:nvSpPr>
        <p:spPr>
          <a:xfrm>
            <a:off x="713232" y="2779776"/>
            <a:ext cx="2185416" cy="0"/>
          </a:xfrm>
          <a:prstGeom prst="line">
            <a:avLst/>
          </a:prstGeom>
          <a:noFill/>
          <a:ln w="12700">
            <a:solidFill>
              <a:srgbClr val="E3E9F2"/>
            </a:solidFill>
            <a:prstDash val="solid"/>
          </a:ln>
        </p:spPr>
      </p:sp>
      <p:sp>
        <p:nvSpPr>
          <p:cNvPr id="9" name="Text 7"/>
          <p:cNvSpPr txBox="1"/>
          <p:nvPr/>
        </p:nvSpPr>
        <p:spPr>
          <a:xfrm>
            <a:off x="713232" y="2889504"/>
            <a:ext cx="2185416" cy="457200"/>
          </a:xfrm>
          <a:prstGeom prst="rect">
            <a:avLst/>
          </a:prstGeom>
          <a:noFill/>
          <a:ln/>
        </p:spPr>
        <p:txBody>
          <a:bodyPr wrap="square" lIns="0" tIns="0" rIns="0" bIns="0" rtlCol="0" anchor="ctr"/>
          <a:lstStyle/>
          <a:p>
            <a:pPr indent="0" marL="0">
              <a:buNone/>
            </a:pPr>
            <a:r>
              <a:rPr lang="en-US" sz="1900" b="1" dirty="0">
                <a:solidFill>
                  <a:srgbClr val="1E7A4C"/>
                </a:solidFill>
                <a:latin typeface="Cambria" pitchFamily="34" charset="0"/>
                <a:ea typeface="Cambria" pitchFamily="34" charset="-122"/>
                <a:cs typeface="Cambria" pitchFamily="34" charset="-120"/>
              </a:rPr>
              <a:t>$252,228</a:t>
            </a:r>
            <a:endParaRPr lang="en-US" sz="1900" dirty="0"/>
          </a:p>
        </p:txBody>
      </p:sp>
      <p:sp>
        <p:nvSpPr>
          <p:cNvPr id="10" name="Text 8"/>
          <p:cNvSpPr txBox="1"/>
          <p:nvPr/>
        </p:nvSpPr>
        <p:spPr>
          <a:xfrm>
            <a:off x="713232" y="3328416"/>
            <a:ext cx="2185416" cy="4572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Completed (82.2%)</a:t>
            </a:r>
            <a:endParaRPr lang="en-US" sz="1050" dirty="0"/>
          </a:p>
        </p:txBody>
      </p:sp>
      <p:sp>
        <p:nvSpPr>
          <p:cNvPr id="11" name="Shape 9"/>
          <p:cNvSpPr/>
          <p:nvPr/>
        </p:nvSpPr>
        <p:spPr>
          <a:xfrm>
            <a:off x="3310128" y="1554480"/>
            <a:ext cx="2514600" cy="2331720"/>
          </a:xfrm>
          <a:prstGeom prst="roundRect">
            <a:avLst>
              <a:gd name="adj" fmla="val 3529"/>
            </a:avLst>
          </a:prstGeom>
          <a:solidFill>
            <a:srgbClr val="FFFFFF"/>
          </a:solidFill>
          <a:ln/>
          <a:effectLst>
            <a:outerShdw sx="100000" sy="100000" kx="0" ky="0" algn="bl" rotWithShape="0" blurRad="101600" dist="38100" dir="5400000">
              <a:srgbClr val="1B2A4A">
                <a:alpha val="12000"/>
              </a:srgbClr>
            </a:outerShdw>
          </a:effectLst>
        </p:spPr>
      </p:sp>
      <p:sp>
        <p:nvSpPr>
          <p:cNvPr id="12" name="Shape 10"/>
          <p:cNvSpPr/>
          <p:nvPr/>
        </p:nvSpPr>
        <p:spPr>
          <a:xfrm>
            <a:off x="3310128" y="1554480"/>
            <a:ext cx="2514600" cy="82296"/>
          </a:xfrm>
          <a:prstGeom prst="rect">
            <a:avLst/>
          </a:prstGeom>
          <a:solidFill>
            <a:srgbClr val="FF6B4A"/>
          </a:solidFill>
          <a:ln/>
        </p:spPr>
      </p:sp>
      <p:sp>
        <p:nvSpPr>
          <p:cNvPr id="13" name="Text 11"/>
          <p:cNvSpPr txBox="1"/>
          <p:nvPr/>
        </p:nvSpPr>
        <p:spPr>
          <a:xfrm>
            <a:off x="3474720" y="1810512"/>
            <a:ext cx="2185416" cy="59436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3,933</a:t>
            </a:r>
            <a:endParaRPr lang="en-US" sz="2500" dirty="0"/>
          </a:p>
        </p:txBody>
      </p:sp>
      <p:sp>
        <p:nvSpPr>
          <p:cNvPr id="14" name="Text 12"/>
          <p:cNvSpPr txBox="1"/>
          <p:nvPr/>
        </p:nvSpPr>
        <p:spPr>
          <a:xfrm>
            <a:off x="3474720" y="2414016"/>
            <a:ext cx="2185416" cy="274320"/>
          </a:xfrm>
          <a:prstGeom prst="rect">
            <a:avLst/>
          </a:prstGeom>
          <a:noFill/>
          <a:ln/>
        </p:spPr>
        <p:txBody>
          <a:bodyPr wrap="square" lIns="0" tIns="0" rIns="0" bIns="0" rtlCol="0" anchor="ctr"/>
          <a:lstStyle/>
          <a:p>
            <a:pPr indent="0" marL="0">
              <a:buNone/>
            </a:pPr>
            <a:r>
              <a:rPr lang="en-US" sz="1100" b="1" dirty="0">
                <a:solidFill>
                  <a:srgbClr val="5B6B85"/>
                </a:solidFill>
                <a:latin typeface="Calibri" pitchFamily="34" charset="0"/>
                <a:ea typeface="Calibri" pitchFamily="34" charset="-122"/>
                <a:cs typeface="Calibri" pitchFamily="34" charset="-120"/>
              </a:rPr>
              <a:t>Total Orders (Gross)</a:t>
            </a:r>
            <a:endParaRPr lang="en-US" sz="1100" dirty="0"/>
          </a:p>
        </p:txBody>
      </p:sp>
      <p:sp>
        <p:nvSpPr>
          <p:cNvPr id="15" name="Shape 13"/>
          <p:cNvSpPr/>
          <p:nvPr/>
        </p:nvSpPr>
        <p:spPr>
          <a:xfrm>
            <a:off x="3474720" y="2779776"/>
            <a:ext cx="2185416" cy="0"/>
          </a:xfrm>
          <a:prstGeom prst="line">
            <a:avLst/>
          </a:prstGeom>
          <a:noFill/>
          <a:ln w="12700">
            <a:solidFill>
              <a:srgbClr val="E3E9F2"/>
            </a:solidFill>
            <a:prstDash val="solid"/>
          </a:ln>
        </p:spPr>
      </p:sp>
      <p:sp>
        <p:nvSpPr>
          <p:cNvPr id="16" name="Text 14"/>
          <p:cNvSpPr txBox="1"/>
          <p:nvPr/>
        </p:nvSpPr>
        <p:spPr>
          <a:xfrm>
            <a:off x="3474720" y="2889504"/>
            <a:ext cx="2185416" cy="457200"/>
          </a:xfrm>
          <a:prstGeom prst="rect">
            <a:avLst/>
          </a:prstGeom>
          <a:noFill/>
          <a:ln/>
        </p:spPr>
        <p:txBody>
          <a:bodyPr wrap="square" lIns="0" tIns="0" rIns="0" bIns="0" rtlCol="0" anchor="ctr"/>
          <a:lstStyle/>
          <a:p>
            <a:pPr indent="0" marL="0">
              <a:buNone/>
            </a:pPr>
            <a:r>
              <a:rPr lang="en-US" sz="1900" b="1" dirty="0">
                <a:solidFill>
                  <a:srgbClr val="1E7A4C"/>
                </a:solidFill>
                <a:latin typeface="Cambria" pitchFamily="34" charset="0"/>
                <a:ea typeface="Cambria" pitchFamily="34" charset="-122"/>
                <a:cs typeface="Cambria" pitchFamily="34" charset="-120"/>
              </a:rPr>
              <a:t>3,220</a:t>
            </a:r>
            <a:endParaRPr lang="en-US" sz="1900" dirty="0"/>
          </a:p>
        </p:txBody>
      </p:sp>
      <p:sp>
        <p:nvSpPr>
          <p:cNvPr id="17" name="Text 15"/>
          <p:cNvSpPr txBox="1"/>
          <p:nvPr/>
        </p:nvSpPr>
        <p:spPr>
          <a:xfrm>
            <a:off x="3474720" y="3328416"/>
            <a:ext cx="2185416" cy="4572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Completed (81.9%)</a:t>
            </a:r>
            <a:endParaRPr lang="en-US" sz="1050" dirty="0"/>
          </a:p>
        </p:txBody>
      </p:sp>
      <p:sp>
        <p:nvSpPr>
          <p:cNvPr id="18" name="Shape 16"/>
          <p:cNvSpPr/>
          <p:nvPr/>
        </p:nvSpPr>
        <p:spPr>
          <a:xfrm>
            <a:off x="6071616" y="1554480"/>
            <a:ext cx="2514600" cy="2331720"/>
          </a:xfrm>
          <a:prstGeom prst="roundRect">
            <a:avLst>
              <a:gd name="adj" fmla="val 3529"/>
            </a:avLst>
          </a:prstGeom>
          <a:solidFill>
            <a:srgbClr val="FFFFFF"/>
          </a:solidFill>
          <a:ln/>
          <a:effectLst>
            <a:outerShdw sx="100000" sy="100000" kx="0" ky="0" algn="bl" rotWithShape="0" blurRad="101600" dist="38100" dir="5400000">
              <a:srgbClr val="1B2A4A">
                <a:alpha val="12000"/>
              </a:srgbClr>
            </a:outerShdw>
          </a:effectLst>
        </p:spPr>
      </p:sp>
      <p:sp>
        <p:nvSpPr>
          <p:cNvPr id="19" name="Shape 17"/>
          <p:cNvSpPr/>
          <p:nvPr/>
        </p:nvSpPr>
        <p:spPr>
          <a:xfrm>
            <a:off x="6071616" y="1554480"/>
            <a:ext cx="2514600" cy="82296"/>
          </a:xfrm>
          <a:prstGeom prst="rect">
            <a:avLst/>
          </a:prstGeom>
          <a:solidFill>
            <a:srgbClr val="FF6B4A"/>
          </a:solidFill>
          <a:ln/>
        </p:spPr>
      </p:sp>
      <p:sp>
        <p:nvSpPr>
          <p:cNvPr id="20" name="Text 18"/>
          <p:cNvSpPr txBox="1"/>
          <p:nvPr/>
        </p:nvSpPr>
        <p:spPr>
          <a:xfrm>
            <a:off x="6236208" y="1810512"/>
            <a:ext cx="2185416" cy="59436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889</a:t>
            </a:r>
            <a:endParaRPr lang="en-US" sz="2500" dirty="0"/>
          </a:p>
        </p:txBody>
      </p:sp>
      <p:sp>
        <p:nvSpPr>
          <p:cNvPr id="21" name="Text 19"/>
          <p:cNvSpPr txBox="1"/>
          <p:nvPr/>
        </p:nvSpPr>
        <p:spPr>
          <a:xfrm>
            <a:off x="6236208" y="2414016"/>
            <a:ext cx="2185416" cy="274320"/>
          </a:xfrm>
          <a:prstGeom prst="rect">
            <a:avLst/>
          </a:prstGeom>
          <a:noFill/>
          <a:ln/>
        </p:spPr>
        <p:txBody>
          <a:bodyPr wrap="square" lIns="0" tIns="0" rIns="0" bIns="0" rtlCol="0" anchor="ctr"/>
          <a:lstStyle/>
          <a:p>
            <a:pPr indent="0" marL="0">
              <a:buNone/>
            </a:pPr>
            <a:r>
              <a:rPr lang="en-US" sz="1100" b="1" dirty="0">
                <a:solidFill>
                  <a:srgbClr val="5B6B85"/>
                </a:solidFill>
                <a:latin typeface="Calibri" pitchFamily="34" charset="0"/>
                <a:ea typeface="Calibri" pitchFamily="34" charset="-122"/>
                <a:cs typeface="Calibri" pitchFamily="34" charset="-120"/>
              </a:rPr>
              <a:t>Total Customers</a:t>
            </a:r>
            <a:endParaRPr lang="en-US" sz="1100" dirty="0"/>
          </a:p>
        </p:txBody>
      </p:sp>
      <p:sp>
        <p:nvSpPr>
          <p:cNvPr id="22" name="Text 20"/>
          <p:cNvSpPr txBox="1"/>
          <p:nvPr/>
        </p:nvSpPr>
        <p:spPr>
          <a:xfrm>
            <a:off x="6236208" y="2889504"/>
            <a:ext cx="2185416" cy="822960"/>
          </a:xfrm>
          <a:prstGeom prst="rect">
            <a:avLst/>
          </a:prstGeom>
          <a:noFill/>
          <a:ln/>
        </p:spPr>
        <p:txBody>
          <a:bodyPr wrap="square" lIns="0" tIns="0" rIns="0" bIns="0" rtlCol="0" anchor="ctr"/>
          <a:lstStyle/>
          <a:p>
            <a:pPr indent="0" marL="0">
              <a:lnSpc>
                <a:spcPct val="120000"/>
              </a:lnSpc>
              <a:buNone/>
            </a:pPr>
            <a:r>
              <a:rPr lang="en-US" sz="1100" dirty="0">
                <a:solidFill>
                  <a:srgbClr val="5B6B85"/>
                </a:solidFill>
                <a:latin typeface="Calibri" pitchFamily="34" charset="0"/>
                <a:ea typeface="Calibri" pitchFamily="34" charset="-122"/>
                <a:cs typeface="Calibri" pitchFamily="34" charset="-120"/>
              </a:rPr>
              <a:t>98.8% of orders are repeat</a:t>
            </a:r>
            <a:endParaRPr lang="en-US" sz="1100" dirty="0"/>
          </a:p>
        </p:txBody>
      </p:sp>
      <p:sp>
        <p:nvSpPr>
          <p:cNvPr id="23" name="Shape 21"/>
          <p:cNvSpPr/>
          <p:nvPr/>
        </p:nvSpPr>
        <p:spPr>
          <a:xfrm>
            <a:off x="8833104" y="1554480"/>
            <a:ext cx="2514600" cy="2331720"/>
          </a:xfrm>
          <a:prstGeom prst="roundRect">
            <a:avLst>
              <a:gd name="adj" fmla="val 3529"/>
            </a:avLst>
          </a:prstGeom>
          <a:solidFill>
            <a:srgbClr val="FFFFFF"/>
          </a:solidFill>
          <a:ln/>
          <a:effectLst>
            <a:outerShdw sx="100000" sy="100000" kx="0" ky="0" algn="bl" rotWithShape="0" blurRad="101600" dist="38100" dir="5400000">
              <a:srgbClr val="1B2A4A">
                <a:alpha val="12000"/>
              </a:srgbClr>
            </a:outerShdw>
          </a:effectLst>
        </p:spPr>
      </p:sp>
      <p:sp>
        <p:nvSpPr>
          <p:cNvPr id="24" name="Shape 22"/>
          <p:cNvSpPr/>
          <p:nvPr/>
        </p:nvSpPr>
        <p:spPr>
          <a:xfrm>
            <a:off x="8833104" y="1554480"/>
            <a:ext cx="2514600" cy="82296"/>
          </a:xfrm>
          <a:prstGeom prst="rect">
            <a:avLst/>
          </a:prstGeom>
          <a:solidFill>
            <a:srgbClr val="FF6B4A"/>
          </a:solidFill>
          <a:ln/>
        </p:spPr>
      </p:sp>
      <p:sp>
        <p:nvSpPr>
          <p:cNvPr id="25" name="Text 23"/>
          <p:cNvSpPr txBox="1"/>
          <p:nvPr/>
        </p:nvSpPr>
        <p:spPr>
          <a:xfrm>
            <a:off x="8997696" y="1810512"/>
            <a:ext cx="2185416" cy="59436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$78.02</a:t>
            </a:r>
            <a:endParaRPr lang="en-US" sz="2500" dirty="0"/>
          </a:p>
        </p:txBody>
      </p:sp>
      <p:sp>
        <p:nvSpPr>
          <p:cNvPr id="26" name="Text 24"/>
          <p:cNvSpPr txBox="1"/>
          <p:nvPr/>
        </p:nvSpPr>
        <p:spPr>
          <a:xfrm>
            <a:off x="8997696" y="2414016"/>
            <a:ext cx="2185416" cy="274320"/>
          </a:xfrm>
          <a:prstGeom prst="rect">
            <a:avLst/>
          </a:prstGeom>
          <a:noFill/>
          <a:ln/>
        </p:spPr>
        <p:txBody>
          <a:bodyPr wrap="square" lIns="0" tIns="0" rIns="0" bIns="0" rtlCol="0" anchor="ctr"/>
          <a:lstStyle/>
          <a:p>
            <a:pPr indent="0" marL="0">
              <a:buNone/>
            </a:pPr>
            <a:r>
              <a:rPr lang="en-US" sz="1100" b="1" dirty="0">
                <a:solidFill>
                  <a:srgbClr val="5B6B85"/>
                </a:solidFill>
                <a:latin typeface="Calibri" pitchFamily="34" charset="0"/>
                <a:ea typeface="Calibri" pitchFamily="34" charset="-122"/>
                <a:cs typeface="Calibri" pitchFamily="34" charset="-120"/>
              </a:rPr>
              <a:t>Avg. Order Value (Gross)</a:t>
            </a:r>
            <a:endParaRPr lang="en-US" sz="1100" dirty="0"/>
          </a:p>
        </p:txBody>
      </p:sp>
      <p:sp>
        <p:nvSpPr>
          <p:cNvPr id="27" name="Shape 25"/>
          <p:cNvSpPr/>
          <p:nvPr/>
        </p:nvSpPr>
        <p:spPr>
          <a:xfrm>
            <a:off x="8997696" y="2779776"/>
            <a:ext cx="2185416" cy="0"/>
          </a:xfrm>
          <a:prstGeom prst="line">
            <a:avLst/>
          </a:prstGeom>
          <a:noFill/>
          <a:ln w="12700">
            <a:solidFill>
              <a:srgbClr val="E3E9F2"/>
            </a:solidFill>
            <a:prstDash val="solid"/>
          </a:ln>
        </p:spPr>
      </p:sp>
      <p:sp>
        <p:nvSpPr>
          <p:cNvPr id="28" name="Text 26"/>
          <p:cNvSpPr txBox="1"/>
          <p:nvPr/>
        </p:nvSpPr>
        <p:spPr>
          <a:xfrm>
            <a:off x="8997696" y="2889504"/>
            <a:ext cx="2185416" cy="457200"/>
          </a:xfrm>
          <a:prstGeom prst="rect">
            <a:avLst/>
          </a:prstGeom>
          <a:noFill/>
          <a:ln/>
        </p:spPr>
        <p:txBody>
          <a:bodyPr wrap="square" lIns="0" tIns="0" rIns="0" bIns="0" rtlCol="0" anchor="ctr"/>
          <a:lstStyle/>
          <a:p>
            <a:pPr indent="0" marL="0">
              <a:buNone/>
            </a:pPr>
            <a:r>
              <a:rPr lang="en-US" sz="1900" b="1" dirty="0">
                <a:solidFill>
                  <a:srgbClr val="1E7A4C"/>
                </a:solidFill>
                <a:latin typeface="Cambria" pitchFamily="34" charset="0"/>
                <a:ea typeface="Cambria" pitchFamily="34" charset="-122"/>
                <a:cs typeface="Cambria" pitchFamily="34" charset="-120"/>
              </a:rPr>
              <a:t>$78.33</a:t>
            </a:r>
            <a:endParaRPr lang="en-US" sz="1900" dirty="0"/>
          </a:p>
        </p:txBody>
      </p:sp>
      <p:sp>
        <p:nvSpPr>
          <p:cNvPr id="29" name="Text 27"/>
          <p:cNvSpPr txBox="1"/>
          <p:nvPr/>
        </p:nvSpPr>
        <p:spPr>
          <a:xfrm>
            <a:off x="8997696" y="3328416"/>
            <a:ext cx="2185416" cy="4572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Completed</a:t>
            </a:r>
            <a:endParaRPr lang="en-US" sz="1050" dirty="0"/>
          </a:p>
        </p:txBody>
      </p:sp>
      <p:sp>
        <p:nvSpPr>
          <p:cNvPr id="30" name="Shape 28"/>
          <p:cNvSpPr/>
          <p:nvPr/>
        </p:nvSpPr>
        <p:spPr>
          <a:xfrm>
            <a:off x="548640" y="4142232"/>
            <a:ext cx="10881360" cy="1234440"/>
          </a:xfrm>
          <a:prstGeom prst="roundRect">
            <a:avLst>
              <a:gd name="adj" fmla="val 6667"/>
            </a:avLst>
          </a:prstGeom>
          <a:solidFill>
            <a:srgbClr val="1B2A4A"/>
          </a:solidFill>
          <a:ln/>
        </p:spPr>
      </p:sp>
      <p:sp>
        <p:nvSpPr>
          <p:cNvPr id="31" name="Shape 29"/>
          <p:cNvSpPr/>
          <p:nvPr/>
        </p:nvSpPr>
        <p:spPr>
          <a:xfrm>
            <a:off x="822960" y="4416552"/>
            <a:ext cx="640080" cy="640080"/>
          </a:xfrm>
          <a:prstGeom prst="ellipse">
            <a:avLst/>
          </a:prstGeom>
          <a:solidFill>
            <a:srgbClr val="FF6B4A"/>
          </a:solidFill>
          <a:ln/>
        </p:spPr>
      </p:sp>
      <p:sp>
        <p:nvSpPr>
          <p:cNvPr id="32" name="Text 30"/>
          <p:cNvSpPr txBox="1"/>
          <p:nvPr/>
        </p:nvSpPr>
        <p:spPr>
          <a:xfrm>
            <a:off x="822960" y="441655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33" name="Text 31"/>
          <p:cNvSpPr txBox="1"/>
          <p:nvPr/>
        </p:nvSpPr>
        <p:spPr>
          <a:xfrm>
            <a:off x="1737360" y="4343400"/>
            <a:ext cx="896112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Gross vs. Completed — why the gap matters</a:t>
            </a:r>
            <a:endParaRPr lang="en-US" sz="1450" dirty="0"/>
          </a:p>
        </p:txBody>
      </p:sp>
      <p:sp>
        <p:nvSpPr>
          <p:cNvPr id="34" name="Text 32"/>
          <p:cNvSpPr txBox="1"/>
          <p:nvPr/>
        </p:nvSpPr>
        <p:spPr>
          <a:xfrm>
            <a:off x="1737360" y="4709160"/>
            <a:ext cx="8869680" cy="594360"/>
          </a:xfrm>
          <a:prstGeom prst="rect">
            <a:avLst/>
          </a:prstGeom>
          <a:noFill/>
          <a:ln/>
        </p:spPr>
        <p:txBody>
          <a:bodyPr wrap="square" lIns="0" tIns="0" rIns="0" bIns="0" rtlCol="0" anchor="ctr"/>
          <a:lstStyle/>
          <a:p>
            <a:pPr indent="0" marL="0">
              <a:lnSpc>
                <a:spcPct val="120000"/>
              </a:lnSpc>
              <a:buNone/>
            </a:pPr>
            <a:r>
              <a:rPr lang="en-US" sz="1150" dirty="0">
                <a:solidFill>
                  <a:srgbClr val="C9D6EC"/>
                </a:solidFill>
                <a:latin typeface="Calibri" pitchFamily="34" charset="0"/>
                <a:ea typeface="Calibri" pitchFamily="34" charset="-122"/>
                <a:cs typeface="Calibri" pitchFamily="34" charset="-120"/>
              </a:rPr>
              <a:t>17.8% of gross revenue ($54,614) sits in Cancelled, Returned, or Pending orders. Every chart later in this deck uses Completed-only figures unless labeled otherwise.</a:t>
            </a:r>
            <a:endParaRPr lang="en-US" sz="1150" dirty="0"/>
          </a:p>
        </p:txBody>
      </p:sp>
      <p:sp>
        <p:nvSpPr>
          <p:cNvPr id="35" name="Text 33"/>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E-Commerce Sales Analysis — Business Case Study</a:t>
            </a:r>
            <a:endParaRPr lang="en-US" sz="900" dirty="0"/>
          </a:p>
        </p:txBody>
      </p:sp>
      <p:sp>
        <p:nvSpPr>
          <p:cNvPr id="36" name="Text 34"/>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SALES PERFORMANCE</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Revenue Grows Overall, but Swings Sharply Month to Month</a:t>
            </a:r>
            <a:endParaRPr lang="en-US" sz="3000" dirty="0"/>
          </a:p>
        </p:txBody>
      </p:sp>
      <p:graphicFrame>
        <p:nvGraphicFramePr>
          <p:cNvPr id="4" name="Chart 0" descr=""/>
          <p:cNvGraphicFramePr/>
          <p:nvPr/>
        </p:nvGraphicFramePr>
        <p:xfrm>
          <a:off x="548640" y="150876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508760"/>
            <a:ext cx="3840480" cy="1234440"/>
          </a:xfrm>
          <a:prstGeom prst="roundRect">
            <a:avLst>
              <a:gd name="adj" fmla="val 5926"/>
            </a:avLst>
          </a:prstGeom>
          <a:solidFill>
            <a:srgbClr val="FFFFFF"/>
          </a:solidFill>
          <a:ln/>
          <a:effectLst>
            <a:outerShdw sx="100000" sy="100000" kx="0" ky="0" algn="bl" rotWithShape="0" blurRad="76200" dist="25400" dir="5400000">
              <a:srgbClr val="1B2A4A">
                <a:alpha val="10000"/>
              </a:srgbClr>
            </a:outerShdw>
          </a:effectLst>
        </p:spPr>
      </p:sp>
      <p:sp>
        <p:nvSpPr>
          <p:cNvPr id="6" name="Text 3"/>
          <p:cNvSpPr txBox="1"/>
          <p:nvPr/>
        </p:nvSpPr>
        <p:spPr>
          <a:xfrm>
            <a:off x="8019288" y="1645920"/>
            <a:ext cx="3438144" cy="457200"/>
          </a:xfrm>
          <a:prstGeom prst="rect">
            <a:avLst/>
          </a:prstGeom>
          <a:noFill/>
          <a:ln/>
        </p:spPr>
        <p:txBody>
          <a:bodyPr wrap="square" lIns="0" tIns="0" rIns="0" bIns="0" rtlCol="0" anchor="ctr"/>
          <a:lstStyle/>
          <a:p>
            <a:pPr indent="0" marL="0">
              <a:buNone/>
            </a:pPr>
            <a:r>
              <a:rPr lang="en-US" sz="2200" b="1" dirty="0">
                <a:solidFill>
                  <a:srgbClr val="1E7A4C"/>
                </a:solidFill>
                <a:latin typeface="Cambria" pitchFamily="34" charset="0"/>
                <a:ea typeface="Cambria" pitchFamily="34" charset="-122"/>
                <a:cs typeface="Cambria" pitchFamily="34" charset="-120"/>
              </a:rPr>
              <a:t>+54.1%</a:t>
            </a:r>
            <a:endParaRPr lang="en-US" sz="2200" dirty="0"/>
          </a:p>
        </p:txBody>
      </p:sp>
      <p:sp>
        <p:nvSpPr>
          <p:cNvPr id="7" name="Text 4"/>
          <p:cNvSpPr txBox="1"/>
          <p:nvPr/>
        </p:nvSpPr>
        <p:spPr>
          <a:xfrm>
            <a:off x="8019288" y="2103120"/>
            <a:ext cx="3438144" cy="548640"/>
          </a:xfrm>
          <a:prstGeom prst="rect">
            <a:avLst/>
          </a:prstGeom>
          <a:noFill/>
          <a:ln/>
        </p:spPr>
        <p:txBody>
          <a:bodyPr wrap="square" lIns="0" tIns="0" rIns="0" bIns="0" rtlCol="0" anchor="ctr"/>
          <a:lstStyle/>
          <a:p>
            <a:pPr indent="0" marL="0">
              <a:lnSpc>
                <a:spcPct val="115000"/>
              </a:lnSpc>
              <a:buNone/>
            </a:pPr>
            <a:r>
              <a:rPr lang="en-US" sz="1150" dirty="0">
                <a:solidFill>
                  <a:srgbClr val="5B6B85"/>
                </a:solidFill>
                <a:latin typeface="Calibri" pitchFamily="34" charset="0"/>
                <a:ea typeface="Calibri" pitchFamily="34" charset="-122"/>
                <a:cs typeface="Calibri" pitchFamily="34" charset="-120"/>
              </a:rPr>
              <a:t>Best month-over-month growth (Jul 2023)</a:t>
            </a:r>
            <a:endParaRPr lang="en-US" sz="1150" dirty="0"/>
          </a:p>
        </p:txBody>
      </p:sp>
      <p:sp>
        <p:nvSpPr>
          <p:cNvPr id="8" name="Shape 5"/>
          <p:cNvSpPr/>
          <p:nvPr/>
        </p:nvSpPr>
        <p:spPr>
          <a:xfrm>
            <a:off x="7818120" y="2926080"/>
            <a:ext cx="3840480" cy="1234440"/>
          </a:xfrm>
          <a:prstGeom prst="roundRect">
            <a:avLst>
              <a:gd name="adj" fmla="val 5926"/>
            </a:avLst>
          </a:prstGeom>
          <a:solidFill>
            <a:srgbClr val="FFFFFF"/>
          </a:solidFill>
          <a:ln/>
          <a:effectLst>
            <a:outerShdw sx="100000" sy="100000" kx="0" ky="0" algn="bl" rotWithShape="0" blurRad="76200" dist="25400" dir="5400000">
              <a:srgbClr val="1B2A4A">
                <a:alpha val="10000"/>
              </a:srgbClr>
            </a:outerShdw>
          </a:effectLst>
        </p:spPr>
      </p:sp>
      <p:sp>
        <p:nvSpPr>
          <p:cNvPr id="9" name="Text 6"/>
          <p:cNvSpPr txBox="1"/>
          <p:nvPr/>
        </p:nvSpPr>
        <p:spPr>
          <a:xfrm>
            <a:off x="8019288" y="3063240"/>
            <a:ext cx="3438144" cy="457200"/>
          </a:xfrm>
          <a:prstGeom prst="rect">
            <a:avLst/>
          </a:prstGeom>
          <a:noFill/>
          <a:ln/>
        </p:spPr>
        <p:txBody>
          <a:bodyPr wrap="square" lIns="0" tIns="0" rIns="0" bIns="0" rtlCol="0" anchor="ctr"/>
          <a:lstStyle/>
          <a:p>
            <a:pPr indent="0" marL="0">
              <a:buNone/>
            </a:pPr>
            <a:r>
              <a:rPr lang="en-US" sz="2200" b="1" dirty="0">
                <a:solidFill>
                  <a:srgbClr val="C2452B"/>
                </a:solidFill>
                <a:latin typeface="Cambria" pitchFamily="34" charset="0"/>
                <a:ea typeface="Cambria" pitchFamily="34" charset="-122"/>
                <a:cs typeface="Cambria" pitchFamily="34" charset="-120"/>
              </a:rPr>
              <a:t>-42.9%</a:t>
            </a:r>
            <a:endParaRPr lang="en-US" sz="2200" dirty="0"/>
          </a:p>
        </p:txBody>
      </p:sp>
      <p:sp>
        <p:nvSpPr>
          <p:cNvPr id="10" name="Text 7"/>
          <p:cNvSpPr txBox="1"/>
          <p:nvPr/>
        </p:nvSpPr>
        <p:spPr>
          <a:xfrm>
            <a:off x="8019288" y="3520440"/>
            <a:ext cx="3438144" cy="548640"/>
          </a:xfrm>
          <a:prstGeom prst="rect">
            <a:avLst/>
          </a:prstGeom>
          <a:noFill/>
          <a:ln/>
        </p:spPr>
        <p:txBody>
          <a:bodyPr wrap="square" lIns="0" tIns="0" rIns="0" bIns="0" rtlCol="0" anchor="ctr"/>
          <a:lstStyle/>
          <a:p>
            <a:pPr indent="0" marL="0">
              <a:lnSpc>
                <a:spcPct val="115000"/>
              </a:lnSpc>
              <a:buNone/>
            </a:pPr>
            <a:r>
              <a:rPr lang="en-US" sz="1150" dirty="0">
                <a:solidFill>
                  <a:srgbClr val="5B6B85"/>
                </a:solidFill>
                <a:latin typeface="Calibri" pitchFamily="34" charset="0"/>
                <a:ea typeface="Calibri" pitchFamily="34" charset="-122"/>
                <a:cs typeface="Calibri" pitchFamily="34" charset="-120"/>
              </a:rPr>
              <a:t>Worst month-over-month drop (Jun 2023)</a:t>
            </a:r>
            <a:endParaRPr lang="en-US" sz="1150" dirty="0"/>
          </a:p>
        </p:txBody>
      </p:sp>
      <p:sp>
        <p:nvSpPr>
          <p:cNvPr id="11" name="Shape 8"/>
          <p:cNvSpPr/>
          <p:nvPr/>
        </p:nvSpPr>
        <p:spPr>
          <a:xfrm>
            <a:off x="7818120" y="4343400"/>
            <a:ext cx="3840480" cy="1600200"/>
          </a:xfrm>
          <a:prstGeom prst="roundRect">
            <a:avLst>
              <a:gd name="adj" fmla="val 4571"/>
            </a:avLst>
          </a:prstGeom>
          <a:solidFill>
            <a:srgbClr val="FFFFFF"/>
          </a:solidFill>
          <a:ln/>
          <a:effectLst>
            <a:outerShdw sx="100000" sy="100000" kx="0" ky="0" algn="bl" rotWithShape="0" blurRad="76200" dist="25400" dir="5400000">
              <a:srgbClr val="1B2A4A">
                <a:alpha val="10000"/>
              </a:srgbClr>
            </a:outerShdw>
          </a:effectLst>
        </p:spPr>
      </p:sp>
      <p:sp>
        <p:nvSpPr>
          <p:cNvPr id="12" name="Text 9"/>
          <p:cNvSpPr txBox="1"/>
          <p:nvPr/>
        </p:nvSpPr>
        <p:spPr>
          <a:xfrm>
            <a:off x="8019288" y="4480560"/>
            <a:ext cx="3438144"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No clear seasonality</a:t>
            </a:r>
            <a:endParaRPr lang="en-US" sz="2200" dirty="0"/>
          </a:p>
        </p:txBody>
      </p:sp>
      <p:sp>
        <p:nvSpPr>
          <p:cNvPr id="13" name="Text 10"/>
          <p:cNvSpPr txBox="1"/>
          <p:nvPr/>
        </p:nvSpPr>
        <p:spPr>
          <a:xfrm>
            <a:off x="8019288" y="4937760"/>
            <a:ext cx="3438144" cy="914400"/>
          </a:xfrm>
          <a:prstGeom prst="rect">
            <a:avLst/>
          </a:prstGeom>
          <a:noFill/>
          <a:ln/>
        </p:spPr>
        <p:txBody>
          <a:bodyPr wrap="square" lIns="0" tIns="0" rIns="0" bIns="0" rtlCol="0" anchor="ctr"/>
          <a:lstStyle/>
          <a:p>
            <a:pPr indent="0" marL="0">
              <a:lnSpc>
                <a:spcPct val="115000"/>
              </a:lnSpc>
              <a:buNone/>
            </a:pPr>
            <a:r>
              <a:rPr lang="en-US" sz="1150" dirty="0">
                <a:solidFill>
                  <a:srgbClr val="5B6B85"/>
                </a:solidFill>
                <a:latin typeface="Calibri" pitchFamily="34" charset="0"/>
                <a:ea typeface="Calibri" pitchFamily="34" charset="-122"/>
                <a:cs typeface="Calibri" pitchFamily="34" charset="-120"/>
              </a:rPr>
              <a:t>Swings recur across both years with no predictable calendar pattern</a:t>
            </a:r>
            <a:endParaRPr lang="en-US" sz="1150" dirty="0"/>
          </a:p>
        </p:txBody>
      </p:sp>
      <p:sp>
        <p:nvSpPr>
          <p:cNvPr id="14" name="Text 1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E-Commerce Sales Analysis — Business Case Study</a:t>
            </a:r>
            <a:endParaRPr lang="en-US" sz="900" dirty="0"/>
          </a:p>
        </p:txBody>
      </p:sp>
      <p:sp>
        <p:nvSpPr>
          <p:cNvPr id="15" name="Text 12"/>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PRODUCT &amp; CATEGORY</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Electronics Leads — Books Lags Consistently</a:t>
            </a:r>
            <a:endParaRPr lang="en-US" sz="3000" dirty="0"/>
          </a:p>
        </p:txBody>
      </p:sp>
      <p:graphicFrame>
        <p:nvGraphicFramePr>
          <p:cNvPr id="4" name="Chart 0" descr=""/>
          <p:cNvGraphicFramePr/>
          <p:nvPr/>
        </p:nvGraphicFramePr>
        <p:xfrm>
          <a:off x="548640" y="1463040"/>
          <a:ext cx="612648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95160" y="1463040"/>
            <a:ext cx="4663440" cy="1965960"/>
          </a:xfrm>
          <a:prstGeom prst="roundRect">
            <a:avLst>
              <a:gd name="adj" fmla="val 3721"/>
            </a:avLst>
          </a:prstGeom>
          <a:solidFill>
            <a:srgbClr val="FFFFFF"/>
          </a:solidFill>
          <a:ln/>
          <a:effectLst>
            <a:outerShdw sx="100000" sy="100000" kx="0" ky="0" algn="bl" rotWithShape="0" blurRad="76200" dist="25400" dir="5400000">
              <a:srgbClr val="1B2A4A">
                <a:alpha val="10000"/>
              </a:srgbClr>
            </a:outerShdw>
          </a:effectLst>
        </p:spPr>
      </p:sp>
      <p:sp>
        <p:nvSpPr>
          <p:cNvPr id="6" name="Text 3"/>
          <p:cNvSpPr txBox="1"/>
          <p:nvPr/>
        </p:nvSpPr>
        <p:spPr>
          <a:xfrm>
            <a:off x="7269480" y="1645920"/>
            <a:ext cx="41148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Top 3 Products by Revenue</a:t>
            </a:r>
            <a:endParaRPr lang="en-US" sz="1300" dirty="0"/>
          </a:p>
        </p:txBody>
      </p:sp>
      <p:sp>
        <p:nvSpPr>
          <p:cNvPr id="7" name="Text 4"/>
          <p:cNvSpPr txBox="1"/>
          <p:nvPr/>
        </p:nvSpPr>
        <p:spPr>
          <a:xfrm>
            <a:off x="7269480" y="2011680"/>
            <a:ext cx="4114800" cy="1280160"/>
          </a:xfrm>
          <a:prstGeom prst="rect">
            <a:avLst/>
          </a:prstGeom>
          <a:noFill/>
          <a:ln/>
        </p:spPr>
        <p:txBody>
          <a:bodyPr wrap="square" lIns="0" tIns="0" rIns="0" bIns="0" rtlCol="0" anchor="ctr"/>
          <a:lstStyle/>
          <a:p>
            <a:pPr indent="0" marL="0">
              <a:lnSpc>
                <a:spcPct val="150000"/>
              </a:lnSpc>
              <a:buNone/>
            </a:pPr>
            <a:r>
              <a:rPr lang="en-US" sz="1300" dirty="0">
                <a:solidFill>
                  <a:srgbClr val="1B2A4A"/>
                </a:solidFill>
                <a:latin typeface="Calibri" pitchFamily="34" charset="0"/>
                <a:ea typeface="Calibri" pitchFamily="34" charset="-122"/>
                <a:cs typeface="Calibri" pitchFamily="34" charset="-120"/>
              </a:rPr>
              <a:t>1.  Smartphone Case — $9,437</a:t>
            </a:r>
            <a:endParaRPr lang="en-US" sz="1300" dirty="0"/>
          </a:p>
          <a:p>
            <a:pPr indent="0" marL="0">
              <a:lnSpc>
                <a:spcPct val="150000"/>
              </a:lnSpc>
              <a:buNone/>
            </a:pPr>
            <a:r>
              <a:rPr lang="en-US" sz="1300" dirty="0">
                <a:solidFill>
                  <a:srgbClr val="1B2A4A"/>
                </a:solidFill>
                <a:latin typeface="Calibri" pitchFamily="34" charset="0"/>
                <a:ea typeface="Calibri" pitchFamily="34" charset="-122"/>
                <a:cs typeface="Calibri" pitchFamily="34" charset="-120"/>
              </a:rPr>
              <a:t>2.  Webcam — $9,267</a:t>
            </a:r>
            <a:endParaRPr lang="en-US" sz="1300" dirty="0"/>
          </a:p>
          <a:p>
            <a:pPr indent="0" marL="0">
              <a:lnSpc>
                <a:spcPct val="150000"/>
              </a:lnSpc>
              <a:buNone/>
            </a:pPr>
            <a:r>
              <a:rPr lang="en-US" sz="1300" dirty="0">
                <a:solidFill>
                  <a:srgbClr val="1B2A4A"/>
                </a:solidFill>
                <a:latin typeface="Calibri" pitchFamily="34" charset="0"/>
                <a:ea typeface="Calibri" pitchFamily="34" charset="-122"/>
                <a:cs typeface="Calibri" pitchFamily="34" charset="-120"/>
              </a:rPr>
              <a:t>3.  Power Bank — $8,509</a:t>
            </a:r>
            <a:endParaRPr lang="en-US" sz="1300" dirty="0"/>
          </a:p>
        </p:txBody>
      </p:sp>
      <p:sp>
        <p:nvSpPr>
          <p:cNvPr id="8" name="Shape 5"/>
          <p:cNvSpPr/>
          <p:nvPr/>
        </p:nvSpPr>
        <p:spPr>
          <a:xfrm>
            <a:off x="6995160" y="3611880"/>
            <a:ext cx="4663440" cy="2057400"/>
          </a:xfrm>
          <a:prstGeom prst="roundRect">
            <a:avLst>
              <a:gd name="adj" fmla="val 3556"/>
            </a:avLst>
          </a:prstGeom>
          <a:solidFill>
            <a:srgbClr val="1B2A4A"/>
          </a:solidFill>
          <a:ln/>
        </p:spPr>
      </p:sp>
      <p:sp>
        <p:nvSpPr>
          <p:cNvPr id="9" name="Text 6"/>
          <p:cNvSpPr txBox="1"/>
          <p:nvPr/>
        </p:nvSpPr>
        <p:spPr>
          <a:xfrm>
            <a:off x="7269480" y="3794760"/>
            <a:ext cx="4114800" cy="548640"/>
          </a:xfrm>
          <a:prstGeom prst="rect">
            <a:avLst/>
          </a:prstGeom>
          <a:noFill/>
          <a:ln/>
        </p:spPr>
        <p:txBody>
          <a:bodyPr wrap="square" lIns="0" tIns="0" rIns="0" bIns="0" rtlCol="0" anchor="ctr"/>
          <a:lstStyle/>
          <a:p>
            <a:pPr indent="0" marL="0">
              <a:buNone/>
            </a:pPr>
            <a:r>
              <a:rPr lang="en-US" sz="2600" b="1" dirty="0">
                <a:solidFill>
                  <a:srgbClr val="FF6B4A"/>
                </a:solidFill>
                <a:latin typeface="Cambria" pitchFamily="34" charset="0"/>
                <a:ea typeface="Cambria" pitchFamily="34" charset="-122"/>
                <a:cs typeface="Cambria" pitchFamily="34" charset="-120"/>
              </a:rPr>
              <a:t>25.3%</a:t>
            </a:r>
            <a:endParaRPr lang="en-US" sz="2600" dirty="0"/>
          </a:p>
        </p:txBody>
      </p:sp>
      <p:sp>
        <p:nvSpPr>
          <p:cNvPr id="10" name="Text 7"/>
          <p:cNvSpPr txBox="1"/>
          <p:nvPr/>
        </p:nvSpPr>
        <p:spPr>
          <a:xfrm>
            <a:off x="7269480" y="4343400"/>
            <a:ext cx="4114800" cy="1188720"/>
          </a:xfrm>
          <a:prstGeom prst="rect">
            <a:avLst/>
          </a:prstGeom>
          <a:noFill/>
          <a:ln/>
        </p:spPr>
        <p:txBody>
          <a:bodyPr wrap="square" lIns="0" tIns="0" rIns="0" bIns="0" rtlCol="0" anchor="ctr"/>
          <a:lstStyle/>
          <a:p>
            <a:pPr indent="0" marL="0">
              <a:lnSpc>
                <a:spcPct val="125000"/>
              </a:lnSpc>
              <a:buNone/>
            </a:pPr>
            <a:r>
              <a:rPr lang="en-US" sz="1250" dirty="0">
                <a:solidFill>
                  <a:srgbClr val="E7ECF6"/>
                </a:solidFill>
                <a:latin typeface="Calibri" pitchFamily="34" charset="0"/>
                <a:ea typeface="Calibri" pitchFamily="34" charset="-122"/>
                <a:cs typeface="Calibri" pitchFamily="34" charset="-120"/>
              </a:rPr>
              <a:t>of total revenue comes from Electronics alone — more than double the next-closest category's contribution.</a:t>
            </a:r>
            <a:endParaRPr lang="en-US" sz="1250" dirty="0"/>
          </a:p>
        </p:txBody>
      </p:sp>
      <p:sp>
        <p:nvSpPr>
          <p:cNvPr id="11" name="Text 8"/>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E-Commerce Sales Analysis — Business Case Study</a:t>
            </a:r>
            <a:endParaRPr lang="en-US" sz="900" dirty="0"/>
          </a:p>
        </p:txBody>
      </p:sp>
      <p:sp>
        <p:nvSpPr>
          <p:cNvPr id="12" name="Text 9"/>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CUSTOMER &amp; REGIONAL ANALYSIS</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Loyal Customers, One Region, and a Value Gap</a:t>
            </a:r>
            <a:endParaRPr lang="en-US" sz="3000" dirty="0"/>
          </a:p>
        </p:txBody>
      </p:sp>
      <p:graphicFrame>
        <p:nvGraphicFramePr>
          <p:cNvPr id="4" name="Chart 0" descr=""/>
          <p:cNvGraphicFramePr/>
          <p:nvPr/>
        </p:nvGraphicFramePr>
        <p:xfrm>
          <a:off x="548640" y="146304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343400"/>
            <a:ext cx="5120640" cy="548640"/>
          </a:xfrm>
          <a:prstGeom prst="rect">
            <a:avLst/>
          </a:prstGeom>
          <a:noFill/>
          <a:ln/>
        </p:spPr>
        <p:txBody>
          <a:bodyPr wrap="square" lIns="0" tIns="0" rIns="0" bIns="0" rtlCol="0" anchor="ctr"/>
          <a:lstStyle/>
          <a:p>
            <a:pPr indent="0" marL="0">
              <a:lnSpc>
                <a:spcPct val="120000"/>
              </a:lnSpc>
              <a:buNone/>
            </a:pPr>
            <a:r>
              <a:rPr lang="en-US" sz="1250" i="1" dirty="0">
                <a:solidFill>
                  <a:srgbClr val="5B6B85"/>
                </a:solidFill>
                <a:latin typeface="Calibri" pitchFamily="34" charset="0"/>
                <a:ea typeface="Calibri" pitchFamily="34" charset="-122"/>
                <a:cs typeface="Calibri" pitchFamily="34" charset="-120"/>
              </a:rPr>
              <a:t>East region alone drives 74.4% of Completed revenue</a:t>
            </a:r>
            <a:endParaRPr lang="en-US" sz="1250" dirty="0"/>
          </a:p>
        </p:txBody>
      </p:sp>
      <p:sp>
        <p:nvSpPr>
          <p:cNvPr id="6" name="Shape 3"/>
          <p:cNvSpPr/>
          <p:nvPr/>
        </p:nvSpPr>
        <p:spPr>
          <a:xfrm>
            <a:off x="6172200" y="1463040"/>
            <a:ext cx="5486400" cy="1463040"/>
          </a:xfrm>
          <a:prstGeom prst="roundRect">
            <a:avLst>
              <a:gd name="adj" fmla="val 5000"/>
            </a:avLst>
          </a:prstGeom>
          <a:solidFill>
            <a:srgbClr val="FFFFFF"/>
          </a:solidFill>
          <a:ln/>
          <a:effectLst>
            <a:outerShdw sx="100000" sy="100000" kx="0" ky="0" algn="bl" rotWithShape="0" blurRad="76200" dist="25400" dir="5400000">
              <a:srgbClr val="1B2A4A">
                <a:alpha val="10000"/>
              </a:srgbClr>
            </a:outerShdw>
          </a:effectLst>
        </p:spPr>
      </p:sp>
      <p:sp>
        <p:nvSpPr>
          <p:cNvPr id="7" name="Text 4"/>
          <p:cNvSpPr txBox="1"/>
          <p:nvPr/>
        </p:nvSpPr>
        <p:spPr>
          <a:xfrm>
            <a:off x="6446520" y="1600200"/>
            <a:ext cx="2011680" cy="685800"/>
          </a:xfrm>
          <a:prstGeom prst="rect">
            <a:avLst/>
          </a:prstGeom>
          <a:noFill/>
          <a:ln/>
        </p:spPr>
        <p:txBody>
          <a:bodyPr wrap="square" lIns="0" tIns="0" rIns="0" bIns="0" rtlCol="0" anchor="ctr"/>
          <a:lstStyle/>
          <a:p>
            <a:pPr indent="0" marL="0">
              <a:buNone/>
            </a:pPr>
            <a:r>
              <a:rPr lang="en-US" sz="3000" b="1" dirty="0">
                <a:solidFill>
                  <a:srgbClr val="1E7A4C"/>
                </a:solidFill>
                <a:latin typeface="Cambria" pitchFamily="34" charset="0"/>
                <a:ea typeface="Cambria" pitchFamily="34" charset="-122"/>
                <a:cs typeface="Cambria" pitchFamily="34" charset="-120"/>
              </a:rPr>
              <a:t>98.8%</a:t>
            </a:r>
            <a:endParaRPr lang="en-US" sz="3000" dirty="0"/>
          </a:p>
        </p:txBody>
      </p:sp>
      <p:sp>
        <p:nvSpPr>
          <p:cNvPr id="8" name="Text 5"/>
          <p:cNvSpPr txBox="1"/>
          <p:nvPr/>
        </p:nvSpPr>
        <p:spPr>
          <a:xfrm>
            <a:off x="8549640" y="1627632"/>
            <a:ext cx="2834640" cy="1188720"/>
          </a:xfrm>
          <a:prstGeom prst="rect">
            <a:avLst/>
          </a:prstGeom>
          <a:noFill/>
          <a:ln/>
        </p:spPr>
        <p:txBody>
          <a:bodyPr wrap="square" lIns="0" tIns="0" rIns="0" bIns="0" rtlCol="0" anchor="ctr"/>
          <a:lstStyle/>
          <a:p>
            <a:pPr indent="0" marL="0">
              <a:lnSpc>
                <a:spcPct val="120000"/>
              </a:lnSpc>
              <a:buNone/>
            </a:pPr>
            <a:r>
              <a:rPr lang="en-US" sz="1200" dirty="0">
                <a:solidFill>
                  <a:srgbClr val="1B2A4A"/>
                </a:solidFill>
                <a:latin typeface="Calibri" pitchFamily="34" charset="0"/>
                <a:ea typeface="Calibri" pitchFamily="34" charset="-122"/>
                <a:cs typeface="Calibri" pitchFamily="34" charset="-120"/>
              </a:rPr>
              <a:t>of orders come from repeat customers — retention is a genuine strength, but new-customer acquisition is nearly flat.</a:t>
            </a:r>
            <a:endParaRPr lang="en-US" sz="1200" dirty="0"/>
          </a:p>
        </p:txBody>
      </p:sp>
      <p:sp>
        <p:nvSpPr>
          <p:cNvPr id="9" name="Shape 6"/>
          <p:cNvSpPr/>
          <p:nvPr/>
        </p:nvSpPr>
        <p:spPr>
          <a:xfrm>
            <a:off x="6172200" y="3108960"/>
            <a:ext cx="5486400" cy="1463040"/>
          </a:xfrm>
          <a:prstGeom prst="roundRect">
            <a:avLst>
              <a:gd name="adj" fmla="val 5000"/>
            </a:avLst>
          </a:prstGeom>
          <a:solidFill>
            <a:srgbClr val="FFFFFF"/>
          </a:solidFill>
          <a:ln/>
          <a:effectLst>
            <a:outerShdw sx="100000" sy="100000" kx="0" ky="0" algn="bl" rotWithShape="0" blurRad="76200" dist="25400" dir="5400000">
              <a:srgbClr val="1B2A4A">
                <a:alpha val="10000"/>
              </a:srgbClr>
            </a:outerShdw>
          </a:effectLst>
        </p:spPr>
      </p:sp>
      <p:sp>
        <p:nvSpPr>
          <p:cNvPr id="10" name="Text 7"/>
          <p:cNvSpPr txBox="1"/>
          <p:nvPr/>
        </p:nvSpPr>
        <p:spPr>
          <a:xfrm>
            <a:off x="6446520" y="3246120"/>
            <a:ext cx="2377440" cy="685800"/>
          </a:xfrm>
          <a:prstGeom prst="rect">
            <a:avLst/>
          </a:prstGeom>
          <a:noFill/>
          <a:ln/>
        </p:spPr>
        <p:txBody>
          <a:bodyPr wrap="square" lIns="0" tIns="0" rIns="0" bIns="0" rtlCol="0" anchor="ctr"/>
          <a:lstStyle/>
          <a:p>
            <a:pPr indent="0" marL="0">
              <a:buNone/>
            </a:pPr>
            <a:r>
              <a:rPr lang="en-US" sz="2400" b="1" dirty="0">
                <a:solidFill>
                  <a:srgbClr val="C2452B"/>
                </a:solidFill>
                <a:latin typeface="Cambria" pitchFamily="34" charset="0"/>
                <a:ea typeface="Cambria" pitchFamily="34" charset="-122"/>
                <a:cs typeface="Cambria" pitchFamily="34" charset="-120"/>
              </a:rPr>
              <a:t>$78 vs $289</a:t>
            </a:r>
            <a:endParaRPr lang="en-US" sz="2400" dirty="0"/>
          </a:p>
        </p:txBody>
      </p:sp>
      <p:sp>
        <p:nvSpPr>
          <p:cNvPr id="11" name="Text 8"/>
          <p:cNvSpPr txBox="1"/>
          <p:nvPr/>
        </p:nvSpPr>
        <p:spPr>
          <a:xfrm>
            <a:off x="8823960" y="3273552"/>
            <a:ext cx="2560320" cy="1188720"/>
          </a:xfrm>
          <a:prstGeom prst="rect">
            <a:avLst/>
          </a:prstGeom>
          <a:noFill/>
          <a:ln/>
        </p:spPr>
        <p:txBody>
          <a:bodyPr wrap="square" lIns="0" tIns="0" rIns="0" bIns="0" rtlCol="0" anchor="ctr"/>
          <a:lstStyle/>
          <a:p>
            <a:pPr indent="0" marL="0">
              <a:lnSpc>
                <a:spcPct val="120000"/>
              </a:lnSpc>
              <a:buNone/>
            </a:pPr>
            <a:r>
              <a:rPr lang="en-US" sz="1200" dirty="0">
                <a:solidFill>
                  <a:srgbClr val="1B2A4A"/>
                </a:solidFill>
                <a:latin typeface="Calibri" pitchFamily="34" charset="0"/>
                <a:ea typeface="Calibri" pitchFamily="34" charset="-122"/>
                <a:cs typeface="Calibri" pitchFamily="34" charset="-120"/>
              </a:rPr>
              <a:t>Average Order Value ($78.33) sits far below average revenue per customer ($288.59) — customers return often, but spend little each visit.</a:t>
            </a:r>
            <a:endParaRPr lang="en-US" sz="1200" dirty="0"/>
          </a:p>
        </p:txBody>
      </p:sp>
      <p:sp>
        <p:nvSpPr>
          <p:cNvPr id="12" name="Shape 9"/>
          <p:cNvSpPr/>
          <p:nvPr/>
        </p:nvSpPr>
        <p:spPr>
          <a:xfrm>
            <a:off x="6172200" y="4754880"/>
            <a:ext cx="5486400" cy="1051560"/>
          </a:xfrm>
          <a:prstGeom prst="roundRect">
            <a:avLst>
              <a:gd name="adj" fmla="val 6957"/>
            </a:avLst>
          </a:prstGeom>
          <a:solidFill>
            <a:srgbClr val="1B2A4A"/>
          </a:solidFill>
          <a:ln/>
        </p:spPr>
      </p:sp>
      <p:sp>
        <p:nvSpPr>
          <p:cNvPr id="13" name="Text 10"/>
          <p:cNvSpPr txBox="1"/>
          <p:nvPr/>
        </p:nvSpPr>
        <p:spPr>
          <a:xfrm>
            <a:off x="6446520" y="4892040"/>
            <a:ext cx="4937760" cy="822960"/>
          </a:xfrm>
          <a:prstGeom prst="rect">
            <a:avLst/>
          </a:prstGeom>
          <a:noFill/>
          <a:ln/>
        </p:spPr>
        <p:txBody>
          <a:bodyPr wrap="square" lIns="0" tIns="0" rIns="0" bIns="0" rtlCol="0" anchor="ctr"/>
          <a:lstStyle/>
          <a:p>
            <a:pPr indent="0" marL="0">
              <a:lnSpc>
                <a:spcPct val="120000"/>
              </a:lnSpc>
              <a:buNone/>
            </a:pPr>
            <a:r>
              <a:rPr lang="en-US" sz="1200" i="1" dirty="0">
                <a:solidFill>
                  <a:srgbClr val="E7ECF6"/>
                </a:solidFill>
                <a:latin typeface="Calibri" pitchFamily="34" charset="0"/>
                <a:ea typeface="Calibri" pitchFamily="34" charset="-122"/>
                <a:cs typeface="Calibri" pitchFamily="34" charset="-120"/>
              </a:rPr>
              <a:t>Price and quantity purchased are nearly uncorrelated (r = 0.02) — customers don't buy more units just because a product is cheaper.</a:t>
            </a:r>
            <a:endParaRPr lang="en-US" sz="1200" dirty="0"/>
          </a:p>
        </p:txBody>
      </p:sp>
      <p:sp>
        <p:nvSpPr>
          <p:cNvPr id="14" name="Text 1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E-Commerce Sales Analysis — Business Case Study</a:t>
            </a:r>
            <a:endParaRPr lang="en-US" sz="900" dirty="0"/>
          </a:p>
        </p:txBody>
      </p:sp>
      <p:sp>
        <p:nvSpPr>
          <p:cNvPr id="15" name="Text 12"/>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KEY INSIGHTS</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Five Findings That Matter Most</a:t>
            </a:r>
            <a:endParaRPr lang="en-US" sz="3000" dirty="0"/>
          </a:p>
        </p:txBody>
      </p:sp>
      <p:sp>
        <p:nvSpPr>
          <p:cNvPr id="4" name="Shape 2"/>
          <p:cNvSpPr/>
          <p:nvPr/>
        </p:nvSpPr>
        <p:spPr>
          <a:xfrm>
            <a:off x="548640" y="1705356"/>
            <a:ext cx="502920" cy="502920"/>
          </a:xfrm>
          <a:prstGeom prst="ellipse">
            <a:avLst/>
          </a:prstGeom>
          <a:solidFill>
            <a:srgbClr val="FF6B4A"/>
          </a:solidFill>
          <a:ln/>
        </p:spPr>
      </p:sp>
      <p:sp>
        <p:nvSpPr>
          <p:cNvPr id="5" name="Text 3"/>
          <p:cNvSpPr txBox="1"/>
          <p:nvPr/>
        </p:nvSpPr>
        <p:spPr>
          <a:xfrm>
            <a:off x="548640" y="17053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280160" y="1508760"/>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Revenue is dangerously concentrated</a:t>
            </a:r>
            <a:endParaRPr lang="en-US" sz="1500" dirty="0"/>
          </a:p>
        </p:txBody>
      </p:sp>
      <p:sp>
        <p:nvSpPr>
          <p:cNvPr id="7" name="Text 5"/>
          <p:cNvSpPr txBox="1"/>
          <p:nvPr/>
        </p:nvSpPr>
        <p:spPr>
          <a:xfrm>
            <a:off x="1280160" y="1856232"/>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74.4% of revenue depends on one region (East); West contributes just 1.1%.</a:t>
            </a:r>
            <a:endParaRPr lang="en-US" sz="1200" dirty="0"/>
          </a:p>
        </p:txBody>
      </p:sp>
      <p:sp>
        <p:nvSpPr>
          <p:cNvPr id="8" name="Shape 6"/>
          <p:cNvSpPr/>
          <p:nvPr/>
        </p:nvSpPr>
        <p:spPr>
          <a:xfrm>
            <a:off x="548640" y="2331720"/>
            <a:ext cx="10698480" cy="0"/>
          </a:xfrm>
          <a:prstGeom prst="line">
            <a:avLst/>
          </a:prstGeom>
          <a:noFill/>
          <a:ln w="12700">
            <a:solidFill>
              <a:srgbClr val="D7E0EE"/>
            </a:solidFill>
            <a:prstDash val="solid"/>
          </a:ln>
        </p:spPr>
      </p:sp>
      <p:sp>
        <p:nvSpPr>
          <p:cNvPr id="9" name="Shape 7"/>
          <p:cNvSpPr/>
          <p:nvPr/>
        </p:nvSpPr>
        <p:spPr>
          <a:xfrm>
            <a:off x="548640" y="2601468"/>
            <a:ext cx="502920" cy="502920"/>
          </a:xfrm>
          <a:prstGeom prst="ellipse">
            <a:avLst/>
          </a:prstGeom>
          <a:solidFill>
            <a:srgbClr val="FF6B4A"/>
          </a:solidFill>
          <a:ln/>
        </p:spPr>
      </p:sp>
      <p:sp>
        <p:nvSpPr>
          <p:cNvPr id="10" name="Text 8"/>
          <p:cNvSpPr txBox="1"/>
          <p:nvPr/>
        </p:nvSpPr>
        <p:spPr>
          <a:xfrm>
            <a:off x="548640" y="26014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80160" y="2404872"/>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AOV is low relative to customer value</a:t>
            </a:r>
            <a:endParaRPr lang="en-US" sz="1500" dirty="0"/>
          </a:p>
        </p:txBody>
      </p:sp>
      <p:sp>
        <p:nvSpPr>
          <p:cNvPr id="12" name="Text 10"/>
          <p:cNvSpPr txBox="1"/>
          <p:nvPr/>
        </p:nvSpPr>
        <p:spPr>
          <a:xfrm>
            <a:off x="1280160" y="2752344"/>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$78.33 per order vs. $288.59 per customer — the gap is a bundling opportunity, not a pricing problem.</a:t>
            </a:r>
            <a:endParaRPr lang="en-US" sz="1200" dirty="0"/>
          </a:p>
        </p:txBody>
      </p:sp>
      <p:sp>
        <p:nvSpPr>
          <p:cNvPr id="13" name="Shape 11"/>
          <p:cNvSpPr/>
          <p:nvPr/>
        </p:nvSpPr>
        <p:spPr>
          <a:xfrm>
            <a:off x="548640" y="3227832"/>
            <a:ext cx="10698480" cy="0"/>
          </a:xfrm>
          <a:prstGeom prst="line">
            <a:avLst/>
          </a:prstGeom>
          <a:noFill/>
          <a:ln w="12700">
            <a:solidFill>
              <a:srgbClr val="D7E0EE"/>
            </a:solidFill>
            <a:prstDash val="solid"/>
          </a:ln>
        </p:spPr>
      </p:sp>
      <p:sp>
        <p:nvSpPr>
          <p:cNvPr id="14" name="Shape 12"/>
          <p:cNvSpPr/>
          <p:nvPr/>
        </p:nvSpPr>
        <p:spPr>
          <a:xfrm>
            <a:off x="548640" y="3497580"/>
            <a:ext cx="502920" cy="502920"/>
          </a:xfrm>
          <a:prstGeom prst="ellipse">
            <a:avLst/>
          </a:prstGeom>
          <a:solidFill>
            <a:srgbClr val="FF6B4A"/>
          </a:solidFill>
          <a:ln/>
        </p:spPr>
      </p:sp>
      <p:sp>
        <p:nvSpPr>
          <p:cNvPr id="15" name="Text 13"/>
          <p:cNvSpPr txBox="1"/>
          <p:nvPr/>
        </p:nvSpPr>
        <p:spPr>
          <a:xfrm>
            <a:off x="548640" y="34975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280160" y="3300984"/>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Retention is strong, acquisition is weak</a:t>
            </a:r>
            <a:endParaRPr lang="en-US" sz="1500" dirty="0"/>
          </a:p>
        </p:txBody>
      </p:sp>
      <p:sp>
        <p:nvSpPr>
          <p:cNvPr id="17" name="Text 15"/>
          <p:cNvSpPr txBox="1"/>
          <p:nvPr/>
        </p:nvSpPr>
        <p:spPr>
          <a:xfrm>
            <a:off x="1280160" y="3648456"/>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98.8% of orders come from repeat customers — growth is not coming from new buyers.</a:t>
            </a:r>
            <a:endParaRPr lang="en-US" sz="1200" dirty="0"/>
          </a:p>
        </p:txBody>
      </p:sp>
      <p:sp>
        <p:nvSpPr>
          <p:cNvPr id="18" name="Shape 16"/>
          <p:cNvSpPr/>
          <p:nvPr/>
        </p:nvSpPr>
        <p:spPr>
          <a:xfrm>
            <a:off x="548640" y="4123944"/>
            <a:ext cx="10698480" cy="0"/>
          </a:xfrm>
          <a:prstGeom prst="line">
            <a:avLst/>
          </a:prstGeom>
          <a:noFill/>
          <a:ln w="12700">
            <a:solidFill>
              <a:srgbClr val="D7E0EE"/>
            </a:solidFill>
            <a:prstDash val="solid"/>
          </a:ln>
        </p:spPr>
      </p:sp>
      <p:sp>
        <p:nvSpPr>
          <p:cNvPr id="19" name="Shape 17"/>
          <p:cNvSpPr/>
          <p:nvPr/>
        </p:nvSpPr>
        <p:spPr>
          <a:xfrm>
            <a:off x="548640" y="4393692"/>
            <a:ext cx="502920" cy="502920"/>
          </a:xfrm>
          <a:prstGeom prst="ellipse">
            <a:avLst/>
          </a:prstGeom>
          <a:solidFill>
            <a:srgbClr val="FF6B4A"/>
          </a:solidFill>
          <a:ln/>
        </p:spPr>
      </p:sp>
      <p:sp>
        <p:nvSpPr>
          <p:cNvPr id="20" name="Text 18"/>
          <p:cNvSpPr txBox="1"/>
          <p:nvPr/>
        </p:nvSpPr>
        <p:spPr>
          <a:xfrm>
            <a:off x="548640" y="43936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1280160" y="4197096"/>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Electronics is the clear category leader</a:t>
            </a:r>
            <a:endParaRPr lang="en-US" sz="1500" dirty="0"/>
          </a:p>
        </p:txBody>
      </p:sp>
      <p:sp>
        <p:nvSpPr>
          <p:cNvPr id="22" name="Text 20"/>
          <p:cNvSpPr txBox="1"/>
          <p:nvPr/>
        </p:nvSpPr>
        <p:spPr>
          <a:xfrm>
            <a:off x="1280160" y="4544568"/>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25.3% of revenue from one category, more than double the next-highest.</a:t>
            </a:r>
            <a:endParaRPr lang="en-US" sz="1200" dirty="0"/>
          </a:p>
        </p:txBody>
      </p:sp>
      <p:sp>
        <p:nvSpPr>
          <p:cNvPr id="23" name="Shape 21"/>
          <p:cNvSpPr/>
          <p:nvPr/>
        </p:nvSpPr>
        <p:spPr>
          <a:xfrm>
            <a:off x="548640" y="5020056"/>
            <a:ext cx="10698480" cy="0"/>
          </a:xfrm>
          <a:prstGeom prst="line">
            <a:avLst/>
          </a:prstGeom>
          <a:noFill/>
          <a:ln w="12700">
            <a:solidFill>
              <a:srgbClr val="D7E0EE"/>
            </a:solidFill>
            <a:prstDash val="solid"/>
          </a:ln>
        </p:spPr>
      </p:sp>
      <p:sp>
        <p:nvSpPr>
          <p:cNvPr id="24" name="Shape 22"/>
          <p:cNvSpPr/>
          <p:nvPr/>
        </p:nvSpPr>
        <p:spPr>
          <a:xfrm>
            <a:off x="548640" y="5289804"/>
            <a:ext cx="502920" cy="502920"/>
          </a:xfrm>
          <a:prstGeom prst="ellipse">
            <a:avLst/>
          </a:prstGeom>
          <a:solidFill>
            <a:srgbClr val="FF6B4A"/>
          </a:solidFill>
          <a:ln/>
        </p:spPr>
      </p:sp>
      <p:sp>
        <p:nvSpPr>
          <p:cNvPr id="25" name="Text 23"/>
          <p:cNvSpPr txBox="1"/>
          <p:nvPr/>
        </p:nvSpPr>
        <p:spPr>
          <a:xfrm>
            <a:off x="548640" y="528980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6" name="Text 24"/>
          <p:cNvSpPr txBox="1"/>
          <p:nvPr/>
        </p:nvSpPr>
        <p:spPr>
          <a:xfrm>
            <a:off x="1280160" y="5093208"/>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Monthly performance is highly volatile</a:t>
            </a:r>
            <a:endParaRPr lang="en-US" sz="1500" dirty="0"/>
          </a:p>
        </p:txBody>
      </p:sp>
      <p:sp>
        <p:nvSpPr>
          <p:cNvPr id="27" name="Text 25"/>
          <p:cNvSpPr txBox="1"/>
          <p:nvPr/>
        </p:nvSpPr>
        <p:spPr>
          <a:xfrm>
            <a:off x="1280160" y="5440680"/>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Growth swings from -42.9% to +54.1% month over month, with no seasonal pattern.</a:t>
            </a:r>
            <a:endParaRPr lang="en-US" sz="1200" dirty="0"/>
          </a:p>
        </p:txBody>
      </p:sp>
      <p:sp>
        <p:nvSpPr>
          <p:cNvPr id="28" name="Text 26"/>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E-Commerce Sales Analysis — Business Case Study</a:t>
            </a:r>
            <a:endParaRPr lang="en-US" sz="900" dirty="0"/>
          </a:p>
        </p:txBody>
      </p:sp>
      <p:sp>
        <p:nvSpPr>
          <p:cNvPr id="29" name="Text 27"/>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RECOMMENDATIONS</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Four Actions to Reduce Risk and Grow Value</a:t>
            </a:r>
            <a:endParaRPr lang="en-US" sz="3000" dirty="0"/>
          </a:p>
        </p:txBody>
      </p:sp>
      <p:sp>
        <p:nvSpPr>
          <p:cNvPr id="4" name="Shape 2"/>
          <p:cNvSpPr/>
          <p:nvPr/>
        </p:nvSpPr>
        <p:spPr>
          <a:xfrm>
            <a:off x="548640" y="1508760"/>
            <a:ext cx="5166360" cy="2148840"/>
          </a:xfrm>
          <a:prstGeom prst="roundRect">
            <a:avLst>
              <a:gd name="adj" fmla="val 3830"/>
            </a:avLst>
          </a:prstGeom>
          <a:solidFill>
            <a:srgbClr val="FFFFFF"/>
          </a:solidFill>
          <a:ln/>
          <a:effectLst>
            <a:outerShdw sx="100000" sy="100000" kx="0" ky="0" algn="bl" rotWithShape="0" blurRad="76200" dist="25400" dir="5400000">
              <a:srgbClr val="1B2A4A">
                <a:alpha val="10000"/>
              </a:srgbClr>
            </a:outerShdw>
          </a:effectLst>
        </p:spPr>
      </p:sp>
      <p:sp>
        <p:nvSpPr>
          <p:cNvPr id="5" name="Shape 3"/>
          <p:cNvSpPr/>
          <p:nvPr/>
        </p:nvSpPr>
        <p:spPr>
          <a:xfrm>
            <a:off x="804672" y="1764792"/>
            <a:ext cx="502920" cy="502920"/>
          </a:xfrm>
          <a:prstGeom prst="ellipse">
            <a:avLst/>
          </a:prstGeom>
          <a:solidFill>
            <a:srgbClr val="FF6B4A"/>
          </a:solidFill>
          <a:ln/>
        </p:spPr>
      </p:sp>
      <p:sp>
        <p:nvSpPr>
          <p:cNvPr id="6" name="Text 4"/>
          <p:cNvSpPr txBox="1"/>
          <p:nvPr/>
        </p:nvSpPr>
        <p:spPr>
          <a:xfrm>
            <a:off x="804672" y="17647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463040" y="1764792"/>
            <a:ext cx="3977640" cy="5943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Diversify beyond the East region</a:t>
            </a:r>
            <a:endParaRPr lang="en-US" sz="1400" dirty="0"/>
          </a:p>
        </p:txBody>
      </p:sp>
      <p:sp>
        <p:nvSpPr>
          <p:cNvPr id="8" name="Text 6"/>
          <p:cNvSpPr txBox="1"/>
          <p:nvPr/>
        </p:nvSpPr>
        <p:spPr>
          <a:xfrm>
            <a:off x="804672" y="2423160"/>
            <a:ext cx="4654296" cy="1051560"/>
          </a:xfrm>
          <a:prstGeom prst="rect">
            <a:avLst/>
          </a:prstGeom>
          <a:noFill/>
          <a:ln/>
        </p:spPr>
        <p:txBody>
          <a:bodyPr wrap="square" lIns="0" tIns="0" rIns="0" bIns="0" rtlCol="0" anchor="ctr"/>
          <a:lstStyle/>
          <a:p>
            <a:pPr indent="0" marL="0">
              <a:lnSpc>
                <a:spcPct val="120000"/>
              </a:lnSpc>
              <a:buNone/>
            </a:pPr>
            <a:r>
              <a:rPr lang="en-US" sz="1150" dirty="0">
                <a:solidFill>
                  <a:srgbClr val="5B6B85"/>
                </a:solidFill>
                <a:latin typeface="Calibri" pitchFamily="34" charset="0"/>
                <a:ea typeface="Calibri" pitchFamily="34" charset="-122"/>
                <a:cs typeface="Calibri" pitchFamily="34" charset="-120"/>
              </a:rPr>
              <a:t>Pilot targeted marketing and fulfillment investment in Midwest and South before West, using East's playbook as the template.</a:t>
            </a:r>
            <a:endParaRPr lang="en-US" sz="1150" dirty="0"/>
          </a:p>
        </p:txBody>
      </p:sp>
      <p:sp>
        <p:nvSpPr>
          <p:cNvPr id="9" name="Shape 7"/>
          <p:cNvSpPr/>
          <p:nvPr/>
        </p:nvSpPr>
        <p:spPr>
          <a:xfrm>
            <a:off x="5989320" y="1508760"/>
            <a:ext cx="5166360" cy="2148840"/>
          </a:xfrm>
          <a:prstGeom prst="roundRect">
            <a:avLst>
              <a:gd name="adj" fmla="val 3830"/>
            </a:avLst>
          </a:prstGeom>
          <a:solidFill>
            <a:srgbClr val="FFFFFF"/>
          </a:solidFill>
          <a:ln/>
          <a:effectLst>
            <a:outerShdw sx="100000" sy="100000" kx="0" ky="0" algn="bl" rotWithShape="0" blurRad="76200" dist="25400" dir="5400000">
              <a:srgbClr val="1B2A4A">
                <a:alpha val="10000"/>
              </a:srgbClr>
            </a:outerShdw>
          </a:effectLst>
        </p:spPr>
      </p:sp>
      <p:sp>
        <p:nvSpPr>
          <p:cNvPr id="10" name="Shape 8"/>
          <p:cNvSpPr/>
          <p:nvPr/>
        </p:nvSpPr>
        <p:spPr>
          <a:xfrm>
            <a:off x="6245352" y="1764792"/>
            <a:ext cx="502920" cy="502920"/>
          </a:xfrm>
          <a:prstGeom prst="ellipse">
            <a:avLst/>
          </a:prstGeom>
          <a:solidFill>
            <a:srgbClr val="FF6B4A"/>
          </a:solidFill>
          <a:ln/>
        </p:spPr>
      </p:sp>
      <p:sp>
        <p:nvSpPr>
          <p:cNvPr id="11" name="Text 9"/>
          <p:cNvSpPr txBox="1"/>
          <p:nvPr/>
        </p:nvSpPr>
        <p:spPr>
          <a:xfrm>
            <a:off x="6245352" y="17647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6903720" y="1764792"/>
            <a:ext cx="3977640" cy="5943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Launch bundling &amp; cross-sell offers</a:t>
            </a:r>
            <a:endParaRPr lang="en-US" sz="1400" dirty="0"/>
          </a:p>
        </p:txBody>
      </p:sp>
      <p:sp>
        <p:nvSpPr>
          <p:cNvPr id="13" name="Text 11"/>
          <p:cNvSpPr txBox="1"/>
          <p:nvPr/>
        </p:nvSpPr>
        <p:spPr>
          <a:xfrm>
            <a:off x="6245352" y="2423160"/>
            <a:ext cx="4654296" cy="1051560"/>
          </a:xfrm>
          <a:prstGeom prst="rect">
            <a:avLst/>
          </a:prstGeom>
          <a:noFill/>
          <a:ln/>
        </p:spPr>
        <p:txBody>
          <a:bodyPr wrap="square" lIns="0" tIns="0" rIns="0" bIns="0" rtlCol="0" anchor="ctr"/>
          <a:lstStyle/>
          <a:p>
            <a:pPr indent="0" marL="0">
              <a:lnSpc>
                <a:spcPct val="120000"/>
              </a:lnSpc>
              <a:buNone/>
            </a:pPr>
            <a:r>
              <a:rPr lang="en-US" sz="1150" dirty="0">
                <a:solidFill>
                  <a:srgbClr val="5B6B85"/>
                </a:solidFill>
                <a:latin typeface="Calibri" pitchFamily="34" charset="0"/>
                <a:ea typeface="Calibri" pitchFamily="34" charset="-122"/>
                <a:cs typeface="Calibri" pitchFamily="34" charset="-120"/>
              </a:rPr>
              <a:t>Pair frequently-bought categories (e.g. Electronics accessories) to lift Average Order Value beyond $78.33 without discounting.</a:t>
            </a:r>
            <a:endParaRPr lang="en-US" sz="1150" dirty="0"/>
          </a:p>
        </p:txBody>
      </p:sp>
      <p:sp>
        <p:nvSpPr>
          <p:cNvPr id="14" name="Shape 12"/>
          <p:cNvSpPr/>
          <p:nvPr/>
        </p:nvSpPr>
        <p:spPr>
          <a:xfrm>
            <a:off x="548640" y="3931920"/>
            <a:ext cx="5166360" cy="2148840"/>
          </a:xfrm>
          <a:prstGeom prst="roundRect">
            <a:avLst>
              <a:gd name="adj" fmla="val 3830"/>
            </a:avLst>
          </a:prstGeom>
          <a:solidFill>
            <a:srgbClr val="FFFFFF"/>
          </a:solidFill>
          <a:ln/>
          <a:effectLst>
            <a:outerShdw sx="100000" sy="100000" kx="0" ky="0" algn="bl" rotWithShape="0" blurRad="76200" dist="25400" dir="5400000">
              <a:srgbClr val="1B2A4A">
                <a:alpha val="10000"/>
              </a:srgbClr>
            </a:outerShdw>
          </a:effectLst>
        </p:spPr>
      </p:sp>
      <p:sp>
        <p:nvSpPr>
          <p:cNvPr id="15" name="Shape 13"/>
          <p:cNvSpPr/>
          <p:nvPr/>
        </p:nvSpPr>
        <p:spPr>
          <a:xfrm>
            <a:off x="804672" y="4187952"/>
            <a:ext cx="502920" cy="502920"/>
          </a:xfrm>
          <a:prstGeom prst="ellipse">
            <a:avLst/>
          </a:prstGeom>
          <a:solidFill>
            <a:srgbClr val="FF6B4A"/>
          </a:solidFill>
          <a:ln/>
        </p:spPr>
      </p:sp>
      <p:sp>
        <p:nvSpPr>
          <p:cNvPr id="16" name="Text 14"/>
          <p:cNvSpPr txBox="1"/>
          <p:nvPr/>
        </p:nvSpPr>
        <p:spPr>
          <a:xfrm>
            <a:off x="804672" y="41879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463040" y="4187952"/>
            <a:ext cx="3977640" cy="5943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Invest in new-customer acquisition</a:t>
            </a:r>
            <a:endParaRPr lang="en-US" sz="1400" dirty="0"/>
          </a:p>
        </p:txBody>
      </p:sp>
      <p:sp>
        <p:nvSpPr>
          <p:cNvPr id="18" name="Text 16"/>
          <p:cNvSpPr txBox="1"/>
          <p:nvPr/>
        </p:nvSpPr>
        <p:spPr>
          <a:xfrm>
            <a:off x="804672" y="4846320"/>
            <a:ext cx="4654296" cy="1051560"/>
          </a:xfrm>
          <a:prstGeom prst="rect">
            <a:avLst/>
          </a:prstGeom>
          <a:noFill/>
          <a:ln/>
        </p:spPr>
        <p:txBody>
          <a:bodyPr wrap="square" lIns="0" tIns="0" rIns="0" bIns="0" rtlCol="0" anchor="ctr"/>
          <a:lstStyle/>
          <a:p>
            <a:pPr indent="0" marL="0">
              <a:lnSpc>
                <a:spcPct val="120000"/>
              </a:lnSpc>
              <a:buNone/>
            </a:pPr>
            <a:r>
              <a:rPr lang="en-US" sz="1150" dirty="0">
                <a:solidFill>
                  <a:srgbClr val="5B6B85"/>
                </a:solidFill>
                <a:latin typeface="Calibri" pitchFamily="34" charset="0"/>
                <a:ea typeface="Calibri" pitchFamily="34" charset="-122"/>
                <a:cs typeface="Calibri" pitchFamily="34" charset="-120"/>
              </a:rPr>
              <a:t>Retention is already excellent (98.8% repeat); growth now depends on paid/referral channels that bring in first-time buyers.</a:t>
            </a:r>
            <a:endParaRPr lang="en-US" sz="1150" dirty="0"/>
          </a:p>
        </p:txBody>
      </p:sp>
      <p:sp>
        <p:nvSpPr>
          <p:cNvPr id="19" name="Shape 17"/>
          <p:cNvSpPr/>
          <p:nvPr/>
        </p:nvSpPr>
        <p:spPr>
          <a:xfrm>
            <a:off x="5989320" y="3931920"/>
            <a:ext cx="5166360" cy="2148840"/>
          </a:xfrm>
          <a:prstGeom prst="roundRect">
            <a:avLst>
              <a:gd name="adj" fmla="val 3830"/>
            </a:avLst>
          </a:prstGeom>
          <a:solidFill>
            <a:srgbClr val="FFFFFF"/>
          </a:solidFill>
          <a:ln/>
          <a:effectLst>
            <a:outerShdw sx="100000" sy="100000" kx="0" ky="0" algn="bl" rotWithShape="0" blurRad="76200" dist="25400" dir="5400000">
              <a:srgbClr val="1B2A4A">
                <a:alpha val="10000"/>
              </a:srgbClr>
            </a:outerShdw>
          </a:effectLst>
        </p:spPr>
      </p:sp>
      <p:sp>
        <p:nvSpPr>
          <p:cNvPr id="20" name="Shape 18"/>
          <p:cNvSpPr/>
          <p:nvPr/>
        </p:nvSpPr>
        <p:spPr>
          <a:xfrm>
            <a:off x="6245352" y="4187952"/>
            <a:ext cx="502920" cy="502920"/>
          </a:xfrm>
          <a:prstGeom prst="ellipse">
            <a:avLst/>
          </a:prstGeom>
          <a:solidFill>
            <a:srgbClr val="FF6B4A"/>
          </a:solidFill>
          <a:ln/>
        </p:spPr>
      </p:sp>
      <p:sp>
        <p:nvSpPr>
          <p:cNvPr id="21" name="Text 19"/>
          <p:cNvSpPr txBox="1"/>
          <p:nvPr/>
        </p:nvSpPr>
        <p:spPr>
          <a:xfrm>
            <a:off x="6245352" y="41879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6903720" y="4187952"/>
            <a:ext cx="3977640" cy="5943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Build a lightweight demand forecast</a:t>
            </a:r>
            <a:endParaRPr lang="en-US" sz="1400" dirty="0"/>
          </a:p>
        </p:txBody>
      </p:sp>
      <p:sp>
        <p:nvSpPr>
          <p:cNvPr id="23" name="Text 21"/>
          <p:cNvSpPr txBox="1"/>
          <p:nvPr/>
        </p:nvSpPr>
        <p:spPr>
          <a:xfrm>
            <a:off x="6245352" y="4846320"/>
            <a:ext cx="4654296" cy="1051560"/>
          </a:xfrm>
          <a:prstGeom prst="rect">
            <a:avLst/>
          </a:prstGeom>
          <a:noFill/>
          <a:ln/>
        </p:spPr>
        <p:txBody>
          <a:bodyPr wrap="square" lIns="0" tIns="0" rIns="0" bIns="0" rtlCol="0" anchor="ctr"/>
          <a:lstStyle/>
          <a:p>
            <a:pPr indent="0" marL="0">
              <a:lnSpc>
                <a:spcPct val="120000"/>
              </a:lnSpc>
              <a:buNone/>
            </a:pPr>
            <a:r>
              <a:rPr lang="en-US" sz="1150" dirty="0">
                <a:solidFill>
                  <a:srgbClr val="5B6B85"/>
                </a:solidFill>
                <a:latin typeface="Calibri" pitchFamily="34" charset="0"/>
                <a:ea typeface="Calibri" pitchFamily="34" charset="-122"/>
                <a:cs typeface="Calibri" pitchFamily="34" charset="-120"/>
              </a:rPr>
              <a:t>Use the -42.9% to +54.1% MoM swing pattern to plan inventory and staffing instead of reacting to each spike or drop.</a:t>
            </a:r>
            <a:endParaRPr lang="en-US" sz="1150" dirty="0"/>
          </a:p>
        </p:txBody>
      </p:sp>
      <p:sp>
        <p:nvSpPr>
          <p:cNvPr id="24" name="Text 22"/>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E-Commerce Sales Analysis — Business Case Study</a:t>
            </a:r>
            <a:endParaRPr lang="en-US" sz="900" dirty="0"/>
          </a:p>
        </p:txBody>
      </p:sp>
      <p:sp>
        <p:nvSpPr>
          <p:cNvPr id="25" name="Text 23"/>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463040" y="4206240"/>
            <a:ext cx="4206240" cy="4206240"/>
          </a:xfrm>
          <a:prstGeom prst="ellipse">
            <a:avLst/>
          </a:prstGeom>
          <a:solidFill>
            <a:srgbClr val="24365E"/>
          </a:solidFill>
          <a:ln/>
        </p:spPr>
      </p:sp>
      <p:sp>
        <p:nvSpPr>
          <p:cNvPr id="3" name="Shape 1"/>
          <p:cNvSpPr/>
          <p:nvPr/>
        </p:nvSpPr>
        <p:spPr>
          <a:xfrm>
            <a:off x="10607040" y="-1280160"/>
            <a:ext cx="3108960" cy="3108960"/>
          </a:xfrm>
          <a:prstGeom prst="ellipse">
            <a:avLst/>
          </a:prstGeom>
          <a:solidFill>
            <a:srgbClr val="24365E"/>
          </a:solidFill>
          <a:ln/>
        </p:spPr>
      </p:sp>
      <p:sp>
        <p:nvSpPr>
          <p:cNvPr id="4" name="Text 2"/>
          <p:cNvSpPr txBox="1"/>
          <p:nvPr/>
        </p:nvSpPr>
        <p:spPr>
          <a:xfrm>
            <a:off x="822960" y="822960"/>
            <a:ext cx="7315200" cy="36576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CONCLUSION</a:t>
            </a:r>
            <a:endParaRPr lang="en-US" sz="1300" dirty="0"/>
          </a:p>
        </p:txBody>
      </p:sp>
      <p:sp>
        <p:nvSpPr>
          <p:cNvPr id="5" name="Text 3"/>
          <p:cNvSpPr txBox="1"/>
          <p:nvPr/>
        </p:nvSpPr>
        <p:spPr>
          <a:xfrm>
            <a:off x="777240" y="1234440"/>
            <a:ext cx="100584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Healthy Business With Two Fixable Risks</a:t>
            </a:r>
            <a:endParaRPr lang="en-US" sz="3400" dirty="0"/>
          </a:p>
        </p:txBody>
      </p:sp>
      <p:sp>
        <p:nvSpPr>
          <p:cNvPr id="6" name="Text 4"/>
          <p:cNvSpPr txBox="1"/>
          <p:nvPr/>
        </p:nvSpPr>
        <p:spPr>
          <a:xfrm>
            <a:off x="822960" y="2331720"/>
            <a:ext cx="9692640" cy="1463040"/>
          </a:xfrm>
          <a:prstGeom prst="rect">
            <a:avLst/>
          </a:prstGeom>
          <a:noFill/>
          <a:ln/>
        </p:spPr>
        <p:txBody>
          <a:bodyPr wrap="square" lIns="0" tIns="0" rIns="0" bIns="0" rtlCol="0" anchor="ctr"/>
          <a:lstStyle/>
          <a:p>
            <a:pPr indent="0" marL="0">
              <a:lnSpc>
                <a:spcPct val="130000"/>
              </a:lnSpc>
              <a:buNone/>
            </a:pPr>
            <a:r>
              <a:rPr lang="en-US" sz="1450" dirty="0">
                <a:solidFill>
                  <a:srgbClr val="D7E0EE"/>
                </a:solidFill>
                <a:latin typeface="Calibri" pitchFamily="34" charset="0"/>
                <a:ea typeface="Calibri" pitchFamily="34" charset="-122"/>
                <a:cs typeface="Calibri" pitchFamily="34" charset="-120"/>
              </a:rPr>
              <a:t>Two years of clean transaction data tell a consistent story across Excel, SQL, Python, and Tableau: this business retains customers exceptionally well and has a clear category leader in Electronics — but revenue depends too heavily on one region, and order value stays low even as customers keep coming back. Both risks are addressable with the four recommendations on the prior slide, not structural problems requiring a business model change.</a:t>
            </a:r>
            <a:endParaRPr lang="en-US" sz="1450" dirty="0"/>
          </a:p>
        </p:txBody>
      </p:sp>
      <p:sp>
        <p:nvSpPr>
          <p:cNvPr id="7" name="Text 5"/>
          <p:cNvSpPr txBox="1"/>
          <p:nvPr/>
        </p:nvSpPr>
        <p:spPr>
          <a:xfrm>
            <a:off x="822960" y="4114800"/>
            <a:ext cx="3108960" cy="502920"/>
          </a:xfrm>
          <a:prstGeom prst="rect">
            <a:avLst/>
          </a:prstGeom>
          <a:noFill/>
          <a:ln/>
        </p:spPr>
        <p:txBody>
          <a:bodyPr wrap="square" lIns="0" tIns="0" rIns="0" bIns="0" rtlCol="0" anchor="ctr"/>
          <a:lstStyle/>
          <a:p>
            <a:pPr indent="0" marL="0">
              <a:buNone/>
            </a:pPr>
            <a:r>
              <a:rPr lang="en-US" sz="2200" b="1" dirty="0">
                <a:solidFill>
                  <a:srgbClr val="FF6B4A"/>
                </a:solidFill>
                <a:latin typeface="Cambria" pitchFamily="34" charset="0"/>
                <a:ea typeface="Cambria" pitchFamily="34" charset="-122"/>
                <a:cs typeface="Cambria" pitchFamily="34" charset="-120"/>
              </a:rPr>
              <a:t>74.4%</a:t>
            </a:r>
            <a:endParaRPr lang="en-US" sz="2200" dirty="0"/>
          </a:p>
        </p:txBody>
      </p:sp>
      <p:sp>
        <p:nvSpPr>
          <p:cNvPr id="8" name="Text 6"/>
          <p:cNvSpPr txBox="1"/>
          <p:nvPr/>
        </p:nvSpPr>
        <p:spPr>
          <a:xfrm>
            <a:off x="822960" y="4617720"/>
            <a:ext cx="3108960" cy="457200"/>
          </a:xfrm>
          <a:prstGeom prst="rect">
            <a:avLst/>
          </a:prstGeom>
          <a:noFill/>
          <a:ln/>
        </p:spPr>
        <p:txBody>
          <a:bodyPr wrap="square" lIns="0" tIns="0" rIns="0" bIns="0" rtlCol="0" anchor="ctr"/>
          <a:lstStyle/>
          <a:p>
            <a:pPr indent="0" marL="0">
              <a:buNone/>
            </a:pPr>
            <a:r>
              <a:rPr lang="en-US" sz="1100" dirty="0">
                <a:solidFill>
                  <a:srgbClr val="94A6C4"/>
                </a:solidFill>
                <a:latin typeface="Calibri" pitchFamily="34" charset="0"/>
                <a:ea typeface="Calibri" pitchFamily="34" charset="-122"/>
                <a:cs typeface="Calibri" pitchFamily="34" charset="-120"/>
              </a:rPr>
              <a:t>revenue from one region</a:t>
            </a:r>
            <a:endParaRPr lang="en-US" sz="1100" dirty="0"/>
          </a:p>
        </p:txBody>
      </p:sp>
      <p:sp>
        <p:nvSpPr>
          <p:cNvPr id="9" name="Text 7"/>
          <p:cNvSpPr txBox="1"/>
          <p:nvPr/>
        </p:nvSpPr>
        <p:spPr>
          <a:xfrm>
            <a:off x="4069080" y="4114800"/>
            <a:ext cx="3108960" cy="502920"/>
          </a:xfrm>
          <a:prstGeom prst="rect">
            <a:avLst/>
          </a:prstGeom>
          <a:noFill/>
          <a:ln/>
        </p:spPr>
        <p:txBody>
          <a:bodyPr wrap="square" lIns="0" tIns="0" rIns="0" bIns="0" rtlCol="0" anchor="ctr"/>
          <a:lstStyle/>
          <a:p>
            <a:pPr indent="0" marL="0">
              <a:buNone/>
            </a:pPr>
            <a:r>
              <a:rPr lang="en-US" sz="2200" b="1" dirty="0">
                <a:solidFill>
                  <a:srgbClr val="FF6B4A"/>
                </a:solidFill>
                <a:latin typeface="Cambria" pitchFamily="34" charset="0"/>
                <a:ea typeface="Cambria" pitchFamily="34" charset="-122"/>
                <a:cs typeface="Cambria" pitchFamily="34" charset="-120"/>
              </a:rPr>
              <a:t>$78 vs $289</a:t>
            </a:r>
            <a:endParaRPr lang="en-US" sz="2200" dirty="0"/>
          </a:p>
        </p:txBody>
      </p:sp>
      <p:sp>
        <p:nvSpPr>
          <p:cNvPr id="10" name="Text 8"/>
          <p:cNvSpPr txBox="1"/>
          <p:nvPr/>
        </p:nvSpPr>
        <p:spPr>
          <a:xfrm>
            <a:off x="4069080" y="4617720"/>
            <a:ext cx="3108960" cy="457200"/>
          </a:xfrm>
          <a:prstGeom prst="rect">
            <a:avLst/>
          </a:prstGeom>
          <a:noFill/>
          <a:ln/>
        </p:spPr>
        <p:txBody>
          <a:bodyPr wrap="square" lIns="0" tIns="0" rIns="0" bIns="0" rtlCol="0" anchor="ctr"/>
          <a:lstStyle/>
          <a:p>
            <a:pPr indent="0" marL="0">
              <a:buNone/>
            </a:pPr>
            <a:r>
              <a:rPr lang="en-US" sz="1100" dirty="0">
                <a:solidFill>
                  <a:srgbClr val="94A6C4"/>
                </a:solidFill>
                <a:latin typeface="Calibri" pitchFamily="34" charset="0"/>
                <a:ea typeface="Calibri" pitchFamily="34" charset="-122"/>
                <a:cs typeface="Calibri" pitchFamily="34" charset="-120"/>
              </a:rPr>
              <a:t>AOV vs. revenue per customer</a:t>
            </a:r>
            <a:endParaRPr lang="en-US" sz="1100" dirty="0"/>
          </a:p>
        </p:txBody>
      </p:sp>
      <p:sp>
        <p:nvSpPr>
          <p:cNvPr id="11" name="Text 9"/>
          <p:cNvSpPr txBox="1"/>
          <p:nvPr/>
        </p:nvSpPr>
        <p:spPr>
          <a:xfrm>
            <a:off x="7315200" y="4114800"/>
            <a:ext cx="3108960" cy="502920"/>
          </a:xfrm>
          <a:prstGeom prst="rect">
            <a:avLst/>
          </a:prstGeom>
          <a:noFill/>
          <a:ln/>
        </p:spPr>
        <p:txBody>
          <a:bodyPr wrap="square" lIns="0" tIns="0" rIns="0" bIns="0" rtlCol="0" anchor="ctr"/>
          <a:lstStyle/>
          <a:p>
            <a:pPr indent="0" marL="0">
              <a:buNone/>
            </a:pPr>
            <a:r>
              <a:rPr lang="en-US" sz="2200" b="1" dirty="0">
                <a:solidFill>
                  <a:srgbClr val="FF6B4A"/>
                </a:solidFill>
                <a:latin typeface="Cambria" pitchFamily="34" charset="0"/>
                <a:ea typeface="Cambria" pitchFamily="34" charset="-122"/>
                <a:cs typeface="Cambria" pitchFamily="34" charset="-120"/>
              </a:rPr>
              <a:t>98.8%</a:t>
            </a:r>
            <a:endParaRPr lang="en-US" sz="2200" dirty="0"/>
          </a:p>
        </p:txBody>
      </p:sp>
      <p:sp>
        <p:nvSpPr>
          <p:cNvPr id="12" name="Text 10"/>
          <p:cNvSpPr txBox="1"/>
          <p:nvPr/>
        </p:nvSpPr>
        <p:spPr>
          <a:xfrm>
            <a:off x="7315200" y="4617720"/>
            <a:ext cx="3108960" cy="457200"/>
          </a:xfrm>
          <a:prstGeom prst="rect">
            <a:avLst/>
          </a:prstGeom>
          <a:noFill/>
          <a:ln/>
        </p:spPr>
        <p:txBody>
          <a:bodyPr wrap="square" lIns="0" tIns="0" rIns="0" bIns="0" rtlCol="0" anchor="ctr"/>
          <a:lstStyle/>
          <a:p>
            <a:pPr indent="0" marL="0">
              <a:buNone/>
            </a:pPr>
            <a:r>
              <a:rPr lang="en-US" sz="1100" dirty="0">
                <a:solidFill>
                  <a:srgbClr val="94A6C4"/>
                </a:solidFill>
                <a:latin typeface="Calibri" pitchFamily="34" charset="0"/>
                <a:ea typeface="Calibri" pitchFamily="34" charset="-122"/>
                <a:cs typeface="Calibri" pitchFamily="34" charset="-120"/>
              </a:rPr>
              <a:t>orders from repeat customers</a:t>
            </a:r>
            <a:endParaRPr lang="en-US" sz="1100" dirty="0"/>
          </a:p>
        </p:txBody>
      </p:sp>
      <p:sp>
        <p:nvSpPr>
          <p:cNvPr id="13" name="Shape 11"/>
          <p:cNvSpPr/>
          <p:nvPr/>
        </p:nvSpPr>
        <p:spPr>
          <a:xfrm>
            <a:off x="822960" y="5486400"/>
            <a:ext cx="10515600" cy="0"/>
          </a:xfrm>
          <a:prstGeom prst="line">
            <a:avLst/>
          </a:prstGeom>
          <a:noFill/>
          <a:ln w="12700">
            <a:solidFill>
              <a:srgbClr val="24365E"/>
            </a:solidFill>
            <a:prstDash val="solid"/>
          </a:ln>
        </p:spPr>
      </p:sp>
      <p:sp>
        <p:nvSpPr>
          <p:cNvPr id="14" name="Text 12"/>
          <p:cNvSpPr txBox="1"/>
          <p:nvPr/>
        </p:nvSpPr>
        <p:spPr>
          <a:xfrm>
            <a:off x="822960" y="571500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Next: Day 7 — Portfolio Publication</a:t>
            </a:r>
            <a:endParaRPr lang="en-US" sz="1300" dirty="0"/>
          </a:p>
        </p:txBody>
      </p:sp>
      <p:sp>
        <p:nvSpPr>
          <p:cNvPr id="15" name="Text 13"/>
          <p:cNvSpPr txBox="1"/>
          <p:nvPr/>
        </p:nvSpPr>
        <p:spPr>
          <a:xfrm>
            <a:off x="822960" y="6080760"/>
            <a:ext cx="9692640" cy="365760"/>
          </a:xfrm>
          <a:prstGeom prst="rect">
            <a:avLst/>
          </a:prstGeom>
          <a:noFill/>
          <a:ln/>
        </p:spPr>
        <p:txBody>
          <a:bodyPr wrap="square" lIns="0" tIns="0" rIns="0" bIns="0" rtlCol="0" anchor="ctr"/>
          <a:lstStyle/>
          <a:p>
            <a:pPr indent="0" marL="0">
              <a:buNone/>
            </a:pPr>
            <a:r>
              <a:rPr lang="en-US" sz="1150" dirty="0">
                <a:solidFill>
                  <a:srgbClr val="94A6C4"/>
                </a:solidFill>
                <a:latin typeface="Calibri" pitchFamily="34" charset="0"/>
                <a:ea typeface="Calibri" pitchFamily="34" charset="-122"/>
                <a:cs typeface="Calibri" pitchFamily="34" charset="-120"/>
              </a:rPr>
              <a:t>Full analysis, dashboard, and documentation: github.com/aloutvbs/ecommerce-sales-analysis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2026-08-26T11:02:29Z</dcterms:created>
  <dcterms:modified xsi:type="dcterms:W3CDTF">2026-08-26T11:02:29Z</dcterms:modified>
</cp:coreProperties>
</file>